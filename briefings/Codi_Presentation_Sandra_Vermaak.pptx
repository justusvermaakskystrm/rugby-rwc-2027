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6" d="100"/>
          <a:sy n="156" d="100"/>
        </p:scale>
        <p:origin x="45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22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0:45  ·  Seven slides, ten minutes.
Thank you. Ten minutes, five questions, one thread: a hundred-million-pound budget under pressure is a decision problem, not a reporting problem. My job is to get people arguing about the decision, not about whose number is right.
I'll cover scoping the number, the three hypotheses I'd arrive with, rebuilding the forecast with budget holders, what I'd do about it, how I'd escalate, and what I'd measure.
One caveat. This is my recommended approach, not a claim about how Codi works today. Figures are either published or clearly illustrative, and I'll say which.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1:20  ·  Running total 2:05.
Before explaining a variance I'd want to know what sits inside the number. A hundred million across roughly twenty-five thousand homes is about four thousand pounds per home, which is well above a pure responsive repairs budget. So it must span responsive and voids, cyclical and compliance, and planned or major works including WHQS and retrofit.
That matters twice. First, these behave differently: responsive is demand-led and volatile, compliance is effectively fixed, planned work is programme-driven. Averaging them hides the story. Second, they sit on different sides of the revenue and capital boundary, and only the revenue side hits operating surplus.
So my first question would be where that line is drawn and how consistently it is applied, particularly post-merger where two legacy capitalisation policies may still be in use. Reclassifying spend is not a saving, and I'd want to be sure no part of the position depends on it.
[Source] Homes figure from public reporting on the merger. The £100m is the interview scenario. Category split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PACE 2:05  ·  Running total 4:10.</a:t>
            </a:r>
          </a:p>
          <a:p/>
          <a:p>
            <a:r>
              <a:t>I wouldn't turn up with no idea what was going on. I'd come with three things I want to check, and the data I'd need to prove or rule out each one.</a:t>
            </a:r>
          </a:p>
          <a:p/>
          <a:p>
            <a:r>
              <a:t>First, who does the work. Pobl grew its in-house trades team by about half in 2024, thirty-four roles, and there's also a contractor framework across eleven lots covering repairs, voids and out-of-hours. That's a sensible set-up, but it's exactly where you can end up paying twice. So I'd check whether contractor spend has come down in line with the work we brought in-house, comparing it month by month against the jobs our own teams complete.</a:t>
            </a:r>
          </a:p>
          <a:p/>
          <a:p>
            <a:r>
              <a:t>Second, the new repair rules. Since the first of April this year, WHQS sets response times. If a hazard is urgent, it's twenty-four hours to investigate and another twenty-four to put it right. Otherwise it's ten working days, then five. Tighter deadlines mean more out-of-hours and more emergency call-outs, and they make it harder to group jobs together sensibly, so the cost per job goes up even when the number of jobs doesn't. And because response times have to be published, this isn't somewhere to look for savings.</a:t>
            </a:r>
          </a:p>
          <a:p/>
          <a:p>
            <a:r>
              <a:t>Third, costs going up. Across the sector, repairs costs are expected to rise by about twenty-three per cent this year, against nearer ten in the regulator's published figures. That's UK-wide rather than Welsh, so I'd use it as a reason to separate price from volume, not as a number to lean on.</a:t>
            </a:r>
          </a:p>
          <a:p/>
          <a:p>
            <a:r>
              <a:t>If none of the three is right, I've still narrowed it down quickly. I'd rather be put right in week one than be confident and wrong in month six.</a:t>
            </a:r>
          </a:p>
          <a:p/>
          <a:p>
            <a:r>
              <a:t>[Source] Pobl in-house trades announcement (2024); Pobl responsive repairs and voids framework notice, 11 lots (Dec 2023); Welsh Government WHQS responding-to-hazards statement (Dec 2025), in force 1 April 2026; UK repairs cost survey commentary. Context, not claims about Codi's position.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1:35  ·  Running total 5:45.
The forecast has to be built with budget holders, not sent to them. My role is structure and challenge; theirs is demand, capacity and programme. If they haven't shaped it they won't defend it, and a forecast nobody defends gets ignored.
Mechanically it is actuals, plus committed cost, plus remaining demand times an evidenced unit cost. For responsive work that means remaining jobs by type against a cost per job reflecting the current mix, allowing for seasonality and backlog. For planned work, remaining quantities at contract rates against realistic dates. I'd reconcile open commitments carefully so nothing is counted twice, which is the most common error I see.
I'd record the owner and confidence level of every material assumption, and run a base case and a downside, such as sustained contractor reliance or a harder winter. The point is to show the range and identify which two or three assumptions actually move the answer.
One discipline I'd hold firmly. The delivery forecast stays visible before mitigation. Only owned, time-phased, achievable actions come off it; anything less certain is shown separately as an opportunity. A savings target is not a forecast, and the moment those blend the number stops being useful.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1:35  ·  Running total 7:20.
I'd work the actions in a deliberate order, because the order is the argument.
First, protect. Urgent, safety-critical and compliance work is ring-fenced, and I'd put WHQS hazard response in that category. Those response times are published and reported, so slowing them is not a saving; it is a regulatory and human risk that comes back as disrepair cost.
Second, convert capacity we have already bought. If the in-house team has grown, the cheapest saving is making it productive: better diagnosis, right trade first time, materials on the van, appointments that hold. But I'd only call it a cash saving if it reduces paid hours or displaces contractor spend. Otherwise it is released capacity or avoided future cost, and I'd report it as exactly that.
Third, challenge external spend with procurement: call-off discipline, validating variations, testing rates on genuinely comparable work.
Fourth, and only then, rephasing discretionary planned work with asset and service leads.
And I'd be explicit about the second-order effect. Deferring planned work tends to increase responsive demand later, and moves spend that would have been capitalised into revenue. That lands on operating surplus, not just between years. Every action needs an owner, a date, a cost and an evidenced benefit.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1:25  ·  Running total 8:45.
I'd tell senior leaders as soon as there is a credible indication of material exposure, separating what is known from what is still being validated. I wouldn't wait for a clean month-end pack, because the value of the information falls faster than its accuracy improves.
The report is a bridge: approved budget, to delivery forecast, to owned mitigations, to the residual gap with a downside and the movement since last time. One page, with the decision required, my recommendation, the alternative, and the consequence of doing nothing.
What I wouldn't do is present it as purely a cost variance, because here it isn't. The July regulatory judgement rated financial viability Yellow while retaining the governance grade, and identified the effect of development and planned maintenance on financial metrics. Separately, the group has a hundred and thirty million pound sustainability-linked facility where the margin is tied to environmental and social targets, so retrofit and planned works delivery carries a cost-of-debt consequence too.
Put those together and a repairs overspend touches operating surplus, interest cover and potentially the cost of borrowing. That is the frame I'd use, and why I'd want treasury in the conversation early.
[Source] Codi Group regulatory judgement, published July 2026; reporting on Codi's £130m sustainability-linked facility.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1:05  ·  Running total 9:50.
Finally, measurement. A short set agreed with the teams, each with a definition, a baseline, an owner and an escalation trigger. The test of a dashboard is whether it changes what someone does on Monday.
Financially: the forecast gap and its movement, net benefit delivered against profile, the capitalised versus revenue split, and cost per job adjusted for mix. That adjustment matters, because an average cost can fall simply because the team completed easier jobs, and I wouldn't let that be reported as efficiency.
On service: WHQS hazard response compliance, first-time fix, jobs per operative to show whether insourced capacity is landing, backlog age and overdue safety work, and satisfaction or repeat contact. Those are the early warning that a saving is coming out of the resident rather than out of the cost.
A number the operation recognises, a forecast that stops moving, and a resident who does not have to ring twice. Thank you,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22D005-52EF-5A44-6380-0A6FDC5E0C3B}"/>
              </a:ext>
            </a:extLst>
          </p:cNvPr>
          <p:cNvSpPr txBox="1"/>
          <p:nvPr userDrawn="1">
            <p:extLst>
              <p:ext uri="{1162E1C5-73C7-4A58-AE30-91384D911F3F}">
                <p184:classification xmlns:p184="http://schemas.microsoft.com/office/powerpoint/2018/4/main" val="ftr"/>
              </p:ext>
            </p:extLst>
          </p:nvPr>
        </p:nvSpPr>
        <p:spPr>
          <a:xfrm>
            <a:off x="5778500" y="6642100"/>
            <a:ext cx="669925" cy="152400"/>
          </a:xfrm>
          <a:prstGeom prst="rect">
            <a:avLst/>
          </a:prstGeom>
        </p:spPr>
        <p:txBody>
          <a:bodyPr horzOverflow="overflow" lIns="0" tIns="0" rIns="0" bIns="0">
            <a:spAutoFit/>
          </a:bodyPr>
          <a:lstStyle/>
          <a:p>
            <a:pPr algn="l"/>
            <a:r>
              <a:rPr lang="en-GB" sz="1000">
                <a:solidFill>
                  <a:srgbClr val="000000">
                    <a:alpha val="50000"/>
                  </a:srgbClr>
                </a:solidFill>
                <a:latin typeface="Mylius Modern" panose="020B05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453B"/>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11094415" cy="274320"/>
          </a:xfrm>
          <a:prstGeom prst="rect">
            <a:avLst/>
          </a:prstGeom>
          <a:noFill/>
          <a:ln/>
        </p:spPr>
        <p:txBody>
          <a:bodyPr wrap="square" lIns="0" tIns="0" rIns="0" bIns="0" rtlCol="0" anchor="ctr"/>
          <a:lstStyle/>
          <a:p>
            <a:pPr marL="0" indent="0">
              <a:buNone/>
            </a:pPr>
            <a:r>
              <a:rPr lang="en-US" sz="1100" b="1" kern="0" spc="240" dirty="0">
                <a:solidFill>
                  <a:srgbClr val="8FBFAE"/>
                </a:solidFill>
                <a:latin typeface="Calibri" pitchFamily="34" charset="0"/>
                <a:ea typeface="Calibri" pitchFamily="34" charset="-122"/>
                <a:cs typeface="Calibri" pitchFamily="34" charset="-120"/>
              </a:rPr>
              <a:t>CODI GROUP  ·  INTERVIEW PRESENTATION</a:t>
            </a:r>
            <a:endParaRPr lang="en-US" sz="1100" dirty="0"/>
          </a:p>
        </p:txBody>
      </p:sp>
      <p:sp>
        <p:nvSpPr>
          <p:cNvPr id="3" name="Text 1"/>
          <p:cNvSpPr txBox="1"/>
          <p:nvPr/>
        </p:nvSpPr>
        <p:spPr>
          <a:xfrm>
            <a:off x="548640" y="1828800"/>
            <a:ext cx="10607040" cy="173736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Managing Financial Performance</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Across Repairs &amp; Maintenance</a:t>
            </a:r>
            <a:endParaRPr lang="en-US" sz="4000" dirty="0"/>
          </a:p>
        </p:txBody>
      </p:sp>
      <p:sp>
        <p:nvSpPr>
          <p:cNvPr id="5" name="Shape 3"/>
          <p:cNvSpPr/>
          <p:nvPr/>
        </p:nvSpPr>
        <p:spPr>
          <a:xfrm>
            <a:off x="548640" y="4892040"/>
            <a:ext cx="2743200" cy="0"/>
          </a:xfrm>
          <a:prstGeom prst="line">
            <a:avLst/>
          </a:prstGeom>
          <a:noFill/>
          <a:ln w="19050">
            <a:solidFill>
              <a:srgbClr val="2E7D68"/>
            </a:solidFill>
            <a:prstDash val="solid"/>
          </a:ln>
        </p:spPr>
        <p:txBody>
          <a:bodyPr/>
          <a:lstStyle/>
          <a:p>
            <a:endParaRPr lang="en-GB"/>
          </a:p>
        </p:txBody>
      </p:sp>
      <p:sp>
        <p:nvSpPr>
          <p:cNvPr id="6" name="Text 4"/>
          <p:cNvSpPr txBox="1"/>
          <p:nvPr/>
        </p:nvSpPr>
        <p:spPr>
          <a:xfrm>
            <a:off x="548640" y="5120640"/>
            <a:ext cx="548640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Sandra Vermaak</a:t>
            </a:r>
            <a:endParaRPr lang="en-US" sz="1500" dirty="0"/>
          </a:p>
        </p:txBody>
      </p:sp>
      <p:sp>
        <p:nvSpPr>
          <p:cNvPr id="7" name="Text 5"/>
          <p:cNvSpPr txBox="1"/>
          <p:nvPr/>
        </p:nvSpPr>
        <p:spPr>
          <a:xfrm>
            <a:off x="548640" y="5468112"/>
            <a:ext cx="8229600" cy="274320"/>
          </a:xfrm>
          <a:prstGeom prst="rect">
            <a:avLst/>
          </a:prstGeom>
          <a:noFill/>
          <a:ln/>
        </p:spPr>
        <p:txBody>
          <a:bodyPr wrap="square" lIns="0" tIns="0" rIns="0" bIns="0" rtlCol="0" anchor="ctr"/>
          <a:lstStyle/>
          <a:p>
            <a:pPr marL="0" indent="0">
              <a:buNone/>
            </a:pPr>
            <a:r>
              <a:rPr lang="en-US" sz="1150" dirty="0">
                <a:solidFill>
                  <a:srgbClr val="8FBFAE"/>
                </a:solidFill>
                <a:latin typeface="Calibri" pitchFamily="34" charset="0"/>
                <a:ea typeface="Calibri" pitchFamily="34" charset="-122"/>
                <a:cs typeface="Calibri" pitchFamily="34" charset="-120"/>
              </a:rPr>
              <a:t>Candidate  ·  Finance Business Partner, Repairs &amp; Maintenance  ·  September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01  ·  INVESTIGATE</a:t>
            </a:r>
            <a:endParaRPr lang="en-US" sz="1000" dirty="0"/>
          </a:p>
        </p:txBody>
      </p:sp>
      <p:sp>
        <p:nvSpPr>
          <p:cNvPr id="3" name="Text 1"/>
          <p:cNvSpPr txBox="1"/>
          <p:nvPr/>
        </p:nvSpPr>
        <p:spPr>
          <a:xfrm>
            <a:off x="548640" y="61264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Scope the number</a:t>
            </a:r>
            <a:endParaRPr lang="en-US" sz="3000" dirty="0"/>
          </a:p>
        </p:txBody>
      </p:sp>
      <p:sp>
        <p:nvSpPr>
          <p:cNvPr id="4" name="Shape 2"/>
          <p:cNvSpPr/>
          <p:nvPr/>
        </p:nvSpPr>
        <p:spPr>
          <a:xfrm>
            <a:off x="548640" y="1600200"/>
            <a:ext cx="4114800" cy="2148840"/>
          </a:xfrm>
          <a:prstGeom prst="roundRect">
            <a:avLst>
              <a:gd name="adj" fmla="val 2553"/>
            </a:avLst>
          </a:prstGeom>
          <a:solidFill>
            <a:srgbClr val="13453B"/>
          </a:solidFill>
          <a:ln w="12700">
            <a:solidFill>
              <a:srgbClr val="13453B"/>
            </a:solidFill>
            <a:prstDash val="solid"/>
          </a:ln>
        </p:spPr>
        <p:txBody>
          <a:bodyPr/>
          <a:lstStyle/>
          <a:p>
            <a:endParaRPr lang="en-GB"/>
          </a:p>
        </p:txBody>
      </p:sp>
      <p:sp>
        <p:nvSpPr>
          <p:cNvPr id="5" name="Text 3"/>
          <p:cNvSpPr txBox="1"/>
          <p:nvPr/>
        </p:nvSpPr>
        <p:spPr>
          <a:xfrm>
            <a:off x="868680" y="1828800"/>
            <a:ext cx="347472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£4,000</a:t>
            </a:r>
            <a:endParaRPr lang="en-US" sz="4600" dirty="0"/>
          </a:p>
        </p:txBody>
      </p:sp>
      <p:sp>
        <p:nvSpPr>
          <p:cNvPr id="6" name="Text 4"/>
          <p:cNvSpPr txBox="1"/>
          <p:nvPr/>
        </p:nvSpPr>
        <p:spPr>
          <a:xfrm>
            <a:off x="868680" y="2697480"/>
            <a:ext cx="3474720" cy="274320"/>
          </a:xfrm>
          <a:prstGeom prst="rect">
            <a:avLst/>
          </a:prstGeom>
          <a:noFill/>
          <a:ln/>
        </p:spPr>
        <p:txBody>
          <a:bodyPr wrap="square" lIns="0" tIns="0" rIns="0" bIns="0" rtlCol="0" anchor="ctr"/>
          <a:lstStyle/>
          <a:p>
            <a:pPr marL="0" indent="0">
              <a:buNone/>
            </a:pPr>
            <a:r>
              <a:rPr lang="en-US" sz="1300" dirty="0">
                <a:solidFill>
                  <a:srgbClr val="9CC7B8"/>
                </a:solidFill>
                <a:latin typeface="Calibri" pitchFamily="34" charset="0"/>
                <a:ea typeface="Calibri" pitchFamily="34" charset="-122"/>
                <a:cs typeface="Calibri" pitchFamily="34" charset="-120"/>
              </a:rPr>
              <a:t>per home, per year</a:t>
            </a:r>
            <a:endParaRPr lang="en-US" sz="1300" dirty="0"/>
          </a:p>
        </p:txBody>
      </p:sp>
      <p:sp>
        <p:nvSpPr>
          <p:cNvPr id="7" name="Text 5"/>
          <p:cNvSpPr txBox="1"/>
          <p:nvPr/>
        </p:nvSpPr>
        <p:spPr>
          <a:xfrm>
            <a:off x="868680" y="3127248"/>
            <a:ext cx="3474720" cy="274320"/>
          </a:xfrm>
          <a:prstGeom prst="rect">
            <a:avLst/>
          </a:prstGeom>
          <a:noFill/>
          <a:ln/>
        </p:spPr>
        <p:txBody>
          <a:bodyPr wrap="square" lIns="0" tIns="0" rIns="0" bIns="0" rtlCol="0" anchor="ctr"/>
          <a:lstStyle/>
          <a:p>
            <a:pPr marL="0" indent="0">
              <a:buNone/>
            </a:pPr>
            <a:r>
              <a:rPr lang="en-US" sz="1150" i="1" dirty="0">
                <a:solidFill>
                  <a:srgbClr val="8FBFAE"/>
                </a:solidFill>
                <a:latin typeface="Calibri" pitchFamily="34" charset="0"/>
                <a:ea typeface="Calibri" pitchFamily="34" charset="-122"/>
                <a:cs typeface="Calibri" pitchFamily="34" charset="-120"/>
              </a:rPr>
              <a:t>c.£100m across c.25,000 homes</a:t>
            </a:r>
            <a:endParaRPr lang="en-US" sz="1150" dirty="0"/>
          </a:p>
        </p:txBody>
      </p:sp>
      <p:sp>
        <p:nvSpPr>
          <p:cNvPr id="8" name="Text 6"/>
          <p:cNvSpPr txBox="1"/>
          <p:nvPr/>
        </p:nvSpPr>
        <p:spPr>
          <a:xfrm>
            <a:off x="548640" y="3931920"/>
            <a:ext cx="4114800" cy="1033272"/>
          </a:xfrm>
          <a:prstGeom prst="rect">
            <a:avLst/>
          </a:prstGeom>
          <a:noFill/>
          <a:ln/>
        </p:spPr>
        <p:txBody>
          <a:bodyPr wrap="square" lIns="0" tIns="0" rIns="0" bIns="0" rtlCol="0" anchor="t"/>
          <a:lstStyle/>
          <a:p>
            <a:pPr marL="0" indent="0">
              <a:lnSpc>
                <a:spcPts val="1900"/>
              </a:lnSpc>
              <a:buNone/>
            </a:pPr>
            <a:r>
              <a:rPr lang="en-US" sz="1300" dirty="0">
                <a:solidFill>
                  <a:srgbClr val="33423D"/>
                </a:solidFill>
                <a:latin typeface="Calibri" pitchFamily="34" charset="0"/>
                <a:ea typeface="Calibri" pitchFamily="34" charset="-122"/>
                <a:cs typeface="Calibri" pitchFamily="34" charset="-120"/>
              </a:rPr>
              <a:t>At that level this is not only a responsive repairs budget. It spans several services with different cost behaviours — and it straddles both Revenue (operational expenditure) and Capital.</a:t>
            </a:r>
            <a:endParaRPr lang="en-US" sz="1300" dirty="0"/>
          </a:p>
        </p:txBody>
      </p:sp>
      <p:sp>
        <p:nvSpPr>
          <p:cNvPr id="11" name="Shape 9"/>
          <p:cNvSpPr/>
          <p:nvPr/>
        </p:nvSpPr>
        <p:spPr>
          <a:xfrm>
            <a:off x="5029200" y="1600200"/>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12" name="Text 10"/>
          <p:cNvSpPr txBox="1"/>
          <p:nvPr/>
        </p:nvSpPr>
        <p:spPr>
          <a:xfrm>
            <a:off x="5303520" y="1746504"/>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Responsive / reactive repairs</a:t>
            </a:r>
            <a:endParaRPr lang="en-US" sz="1400" dirty="0"/>
          </a:p>
        </p:txBody>
      </p:sp>
      <p:sp>
        <p:nvSpPr>
          <p:cNvPr id="13" name="Text 11"/>
          <p:cNvSpPr txBox="1"/>
          <p:nvPr/>
        </p:nvSpPr>
        <p:spPr>
          <a:xfrm>
            <a:off x="5303520" y="2075688"/>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Demand-led, volatile, difficult to forecast</a:t>
            </a:r>
            <a:endParaRPr lang="en-US" sz="1150" dirty="0"/>
          </a:p>
        </p:txBody>
      </p:sp>
      <p:sp>
        <p:nvSpPr>
          <p:cNvPr id="14" name="Text 12"/>
          <p:cNvSpPr txBox="1"/>
          <p:nvPr/>
        </p:nvSpPr>
        <p:spPr>
          <a:xfrm>
            <a:off x="9966960" y="1746504"/>
            <a:ext cx="1463040" cy="274320"/>
          </a:xfrm>
          <a:prstGeom prst="rect">
            <a:avLst/>
          </a:prstGeom>
          <a:noFill/>
          <a:ln/>
        </p:spPr>
        <p:txBody>
          <a:bodyPr wrap="square" lIns="0" tIns="0" rIns="0" bIns="0" rtlCol="0" anchor="ctr"/>
          <a:lstStyle/>
          <a:p>
            <a:pPr marL="0" indent="0" algn="r">
              <a:buNone/>
            </a:pPr>
            <a:r>
              <a:rPr lang="en-US" sz="1050" b="1" dirty="0">
                <a:solidFill>
                  <a:srgbClr val="2E7D68"/>
                </a:solidFill>
                <a:latin typeface="Calibri" pitchFamily="34" charset="0"/>
                <a:ea typeface="Calibri" pitchFamily="34" charset="-122"/>
                <a:cs typeface="Calibri" pitchFamily="34" charset="-120"/>
              </a:rPr>
              <a:t>Revenue</a:t>
            </a:r>
            <a:endParaRPr lang="en-US" sz="1050" dirty="0"/>
          </a:p>
        </p:txBody>
      </p:sp>
      <p:sp>
        <p:nvSpPr>
          <p:cNvPr id="15" name="Shape 13"/>
          <p:cNvSpPr/>
          <p:nvPr/>
        </p:nvSpPr>
        <p:spPr>
          <a:xfrm>
            <a:off x="5029200" y="2762374"/>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16" name="Text 14"/>
          <p:cNvSpPr txBox="1"/>
          <p:nvPr/>
        </p:nvSpPr>
        <p:spPr>
          <a:xfrm>
            <a:off x="5303520" y="2916936"/>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Cyclical</a:t>
            </a:r>
            <a:endParaRPr lang="en-US" sz="1400" dirty="0"/>
          </a:p>
        </p:txBody>
      </p:sp>
      <p:sp>
        <p:nvSpPr>
          <p:cNvPr id="17" name="Text 15"/>
          <p:cNvSpPr txBox="1"/>
          <p:nvPr/>
        </p:nvSpPr>
        <p:spPr>
          <a:xfrm>
            <a:off x="5303520" y="3246120"/>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Servicing, decoration – predictable</a:t>
            </a:r>
            <a:endParaRPr lang="en-US" sz="1150" dirty="0"/>
          </a:p>
        </p:txBody>
      </p:sp>
      <p:sp>
        <p:nvSpPr>
          <p:cNvPr id="18" name="Text 16"/>
          <p:cNvSpPr txBox="1"/>
          <p:nvPr/>
        </p:nvSpPr>
        <p:spPr>
          <a:xfrm>
            <a:off x="10009918" y="2909293"/>
            <a:ext cx="1463040" cy="274320"/>
          </a:xfrm>
          <a:prstGeom prst="rect">
            <a:avLst/>
          </a:prstGeom>
          <a:noFill/>
          <a:ln/>
        </p:spPr>
        <p:txBody>
          <a:bodyPr wrap="square" lIns="0" tIns="0" rIns="0" bIns="0" rtlCol="0" anchor="ctr"/>
          <a:lstStyle/>
          <a:p>
            <a:pPr marL="0" indent="0" algn="r">
              <a:buNone/>
            </a:pPr>
            <a:r>
              <a:rPr lang="en-US" sz="1050" b="1" dirty="0">
                <a:solidFill>
                  <a:srgbClr val="2E7D68"/>
                </a:solidFill>
                <a:latin typeface="Calibri" pitchFamily="34" charset="0"/>
                <a:ea typeface="Calibri" pitchFamily="34" charset="-122"/>
                <a:cs typeface="Calibri" pitchFamily="34" charset="-120"/>
              </a:rPr>
              <a:t>Revenue</a:t>
            </a:r>
            <a:endParaRPr lang="en-US" sz="1050" dirty="0"/>
          </a:p>
        </p:txBody>
      </p:sp>
      <p:sp>
        <p:nvSpPr>
          <p:cNvPr id="19" name="Shape 17"/>
          <p:cNvSpPr/>
          <p:nvPr/>
        </p:nvSpPr>
        <p:spPr>
          <a:xfrm>
            <a:off x="5029200" y="5404104"/>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20" name="Text 18"/>
          <p:cNvSpPr txBox="1"/>
          <p:nvPr/>
        </p:nvSpPr>
        <p:spPr>
          <a:xfrm>
            <a:off x="5303520" y="5545372"/>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Planned &amp; major works</a:t>
            </a:r>
            <a:endParaRPr lang="en-US" sz="1400" dirty="0"/>
          </a:p>
        </p:txBody>
      </p:sp>
      <p:sp>
        <p:nvSpPr>
          <p:cNvPr id="21" name="Text 19"/>
          <p:cNvSpPr txBox="1"/>
          <p:nvPr/>
        </p:nvSpPr>
        <p:spPr>
          <a:xfrm>
            <a:off x="5303520" y="5954397"/>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Component replacement, WHQS, retrofit</a:t>
            </a:r>
            <a:endParaRPr lang="en-US" sz="1150" dirty="0"/>
          </a:p>
        </p:txBody>
      </p:sp>
      <p:sp>
        <p:nvSpPr>
          <p:cNvPr id="22" name="Text 20"/>
          <p:cNvSpPr txBox="1"/>
          <p:nvPr/>
        </p:nvSpPr>
        <p:spPr>
          <a:xfrm>
            <a:off x="10058400" y="5467867"/>
            <a:ext cx="1463040" cy="274320"/>
          </a:xfrm>
          <a:prstGeom prst="rect">
            <a:avLst/>
          </a:prstGeom>
          <a:noFill/>
          <a:ln/>
        </p:spPr>
        <p:txBody>
          <a:bodyPr wrap="square" lIns="0" tIns="0" rIns="0" bIns="0" rtlCol="0" anchor="ctr"/>
          <a:lstStyle/>
          <a:p>
            <a:pPr marL="0" indent="0" algn="r">
              <a:buNone/>
            </a:pPr>
            <a:r>
              <a:rPr lang="en-US" sz="1050" b="1" dirty="0">
                <a:solidFill>
                  <a:srgbClr val="C8892F"/>
                </a:solidFill>
                <a:latin typeface="Calibri" pitchFamily="34" charset="0"/>
                <a:ea typeface="Calibri" pitchFamily="34" charset="-122"/>
                <a:cs typeface="Calibri" pitchFamily="34" charset="-120"/>
              </a:rPr>
              <a:t>Largely capital</a:t>
            </a:r>
            <a:endParaRPr lang="en-US" sz="1050" dirty="0"/>
          </a:p>
        </p:txBody>
      </p:sp>
      <p:sp>
        <p:nvSpPr>
          <p:cNvPr id="26" name="Text 23"/>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7" name="Text 24"/>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2</a:t>
            </a:r>
            <a:endParaRPr lang="en-US" sz="900" dirty="0"/>
          </a:p>
        </p:txBody>
      </p:sp>
      <p:pic>
        <p:nvPicPr>
          <p:cNvPr id="28" name="Picture 27">
            <a:extLst>
              <a:ext uri="{FF2B5EF4-FFF2-40B4-BE49-F238E27FC236}">
                <a16:creationId xmlns:a16="http://schemas.microsoft.com/office/drawing/2014/main" id="{91873581-5BEA-A6D0-06D1-E24C0FDDC8D0}"/>
              </a:ext>
            </a:extLst>
          </p:cNvPr>
          <p:cNvPicPr>
            <a:picLocks noChangeAspect="1"/>
          </p:cNvPicPr>
          <p:nvPr/>
        </p:nvPicPr>
        <p:blipFill>
          <a:blip r:embed="rId3"/>
          <a:stretch>
            <a:fillRect/>
          </a:stretch>
        </p:blipFill>
        <p:spPr>
          <a:xfrm>
            <a:off x="5031674" y="4001474"/>
            <a:ext cx="6626926" cy="1036410"/>
          </a:xfrm>
          <a:prstGeom prst="rect">
            <a:avLst/>
          </a:prstGeom>
        </p:spPr>
      </p:pic>
      <p:sp>
        <p:nvSpPr>
          <p:cNvPr id="30" name="TextBox 29">
            <a:extLst>
              <a:ext uri="{FF2B5EF4-FFF2-40B4-BE49-F238E27FC236}">
                <a16:creationId xmlns:a16="http://schemas.microsoft.com/office/drawing/2014/main" id="{DC4C8514-6341-1D8D-594B-9017E794FA69}"/>
              </a:ext>
            </a:extLst>
          </p:cNvPr>
          <p:cNvSpPr txBox="1"/>
          <p:nvPr/>
        </p:nvSpPr>
        <p:spPr>
          <a:xfrm>
            <a:off x="5178020" y="4111824"/>
            <a:ext cx="6097022" cy="307777"/>
          </a:xfrm>
          <a:prstGeom prst="rect">
            <a:avLst/>
          </a:prstGeom>
          <a:noFill/>
        </p:spPr>
        <p:txBody>
          <a:bodyPr wrap="square">
            <a:spAutoFit/>
          </a:bodyPr>
          <a:lstStyle/>
          <a:p>
            <a:r>
              <a:rPr lang="en-US" sz="1400" b="1" dirty="0">
                <a:solidFill>
                  <a:srgbClr val="16211E"/>
                </a:solidFill>
                <a:latin typeface="Calibri" pitchFamily="34" charset="0"/>
                <a:ea typeface="Calibri" pitchFamily="34" charset="-122"/>
                <a:cs typeface="Calibri" pitchFamily="34" charset="-120"/>
              </a:rPr>
              <a:t>C</a:t>
            </a:r>
            <a:r>
              <a:rPr kumimoji="0" lang="en-US" sz="1400" b="1" i="0" u="none" strike="noStrike" kern="1200" cap="none" spc="0" normalizeH="0" baseline="0" noProof="0" dirty="0" err="1">
                <a:ln>
                  <a:noFill/>
                </a:ln>
                <a:solidFill>
                  <a:srgbClr val="16211E"/>
                </a:solidFill>
                <a:effectLst/>
                <a:uLnTx/>
                <a:uFillTx/>
                <a:latin typeface="Calibri" pitchFamily="34" charset="0"/>
                <a:ea typeface="Calibri" pitchFamily="34" charset="-122"/>
                <a:cs typeface="Calibri" pitchFamily="34" charset="-120"/>
              </a:rPr>
              <a:t>ompliance</a:t>
            </a:r>
            <a:endParaRPr lang="en-GB" dirty="0"/>
          </a:p>
        </p:txBody>
      </p:sp>
      <p:sp>
        <p:nvSpPr>
          <p:cNvPr id="34" name="Text 15">
            <a:extLst>
              <a:ext uri="{FF2B5EF4-FFF2-40B4-BE49-F238E27FC236}">
                <a16:creationId xmlns:a16="http://schemas.microsoft.com/office/drawing/2014/main" id="{FBC68662-6999-3504-A7BC-7667B3F8FFF3}"/>
              </a:ext>
            </a:extLst>
          </p:cNvPr>
          <p:cNvSpPr txBox="1"/>
          <p:nvPr/>
        </p:nvSpPr>
        <p:spPr>
          <a:xfrm>
            <a:off x="5303520" y="4435455"/>
            <a:ext cx="4754880" cy="365760"/>
          </a:xfrm>
          <a:prstGeom prst="rect">
            <a:avLst/>
          </a:prstGeom>
          <a:noFill/>
          <a:ln/>
        </p:spPr>
        <p:txBody>
          <a:bodyPr wrap="square" lIns="0" tIns="0" rIns="0" bIns="0" rtlCol="0" anchor="ctr"/>
          <a:lstStyle/>
          <a:p>
            <a:pPr marL="0" indent="0">
              <a:buNone/>
            </a:pPr>
            <a:r>
              <a:rPr lang="en-US" sz="1150" dirty="0"/>
              <a:t>Non-negotiable spend</a:t>
            </a:r>
          </a:p>
        </p:txBody>
      </p:sp>
      <p:sp>
        <p:nvSpPr>
          <p:cNvPr id="36" name="Text 16">
            <a:extLst>
              <a:ext uri="{FF2B5EF4-FFF2-40B4-BE49-F238E27FC236}">
                <a16:creationId xmlns:a16="http://schemas.microsoft.com/office/drawing/2014/main" id="{A0315F99-5FF9-C772-D5E8-EAB1771A3726}"/>
              </a:ext>
            </a:extLst>
          </p:cNvPr>
          <p:cNvSpPr txBox="1"/>
          <p:nvPr/>
        </p:nvSpPr>
        <p:spPr>
          <a:xfrm>
            <a:off x="10058400" y="4020576"/>
            <a:ext cx="1463040" cy="274320"/>
          </a:xfrm>
          <a:prstGeom prst="rect">
            <a:avLst/>
          </a:prstGeom>
          <a:noFill/>
          <a:ln/>
        </p:spPr>
        <p:txBody>
          <a:bodyPr wrap="square" lIns="0" tIns="0" rIns="0" bIns="0" rtlCol="0" anchor="ctr"/>
          <a:lstStyle/>
          <a:p>
            <a:pPr marL="0" indent="0" algn="r">
              <a:buNone/>
            </a:pPr>
            <a:r>
              <a:rPr lang="en-US" sz="1050" b="1" dirty="0">
                <a:solidFill>
                  <a:srgbClr val="2E7D68"/>
                </a:solidFill>
                <a:latin typeface="Calibri" pitchFamily="34" charset="0"/>
                <a:ea typeface="Calibri" pitchFamily="34" charset="-122"/>
                <a:cs typeface="Calibri" pitchFamily="34" charset="-120"/>
              </a:rPr>
              <a:t>Revenue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01  ·  INVESTIGATE</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Three things I'd check first</a:t>
            </a:r>
            <a:endParaRPr lang="en-US" sz="3000" dirty="0"/>
          </a:p>
        </p:txBody>
      </p:sp>
      <p:sp>
        <p:nvSpPr>
          <p:cNvPr id="4" name="Text 2"/>
          <p:cNvSpPr txBox="1"/>
          <p:nvPr/>
        </p:nvSpPr>
        <p:spPr>
          <a:xfrm>
            <a:off x="548640" y="1298448"/>
            <a:ext cx="11094415" cy="292608"/>
          </a:xfrm>
          <a:prstGeom prst="rect">
            <a:avLst/>
          </a:prstGeom>
          <a:noFill/>
          <a:ln/>
        </p:spPr>
        <p:txBody>
          <a:bodyPr wrap="square" lIns="0" tIns="0" rIns="0" bIns="0" rtlCol="0" anchor="ctr"/>
          <a:lstStyle/>
          <a:p>
            <a:pPr marL="0" indent="0">
              <a:buNone/>
            </a:pPr>
            <a:r>
              <a:rPr lang="en-US" sz="1350" i="1" dirty="0">
                <a:solidFill>
                  <a:srgbClr val="2E7D68"/>
                </a:solidFill>
                <a:latin typeface="Calibri" pitchFamily="34" charset="0"/>
                <a:ea typeface="Calibri" pitchFamily="34" charset="-122"/>
                <a:cs typeface="Calibri" pitchFamily="34" charset="-120"/>
              </a:rPr>
              <a:t>These are questions, not answers. Each one has something I can go and check.</a:t>
            </a:r>
            <a:endParaRPr lang="en-US" sz="1350" dirty="0"/>
          </a:p>
        </p:txBody>
      </p:sp>
      <p:sp>
        <p:nvSpPr>
          <p:cNvPr id="5" name="Shape 3"/>
          <p:cNvSpPr/>
          <p:nvPr/>
        </p:nvSpPr>
        <p:spPr>
          <a:xfrm>
            <a:off x="548640" y="1828800"/>
            <a:ext cx="3484778" cy="3794760"/>
          </a:xfrm>
          <a:prstGeom prst="roundRect">
            <a:avLst>
              <a:gd name="adj" fmla="val 1574"/>
            </a:avLst>
          </a:prstGeom>
          <a:solidFill>
            <a:srgbClr val="F1F5F3"/>
          </a:solidFill>
          <a:ln w="12700">
            <a:solidFill>
              <a:srgbClr val="F1F5F3"/>
            </a:solidFill>
            <a:prstDash val="solid"/>
          </a:ln>
        </p:spPr>
        <p:txBody>
          <a:bodyPr/>
          <a:lstStyle/>
          <a:p>
            <a:endParaRPr lang="en-GB"/>
          </a:p>
        </p:txBody>
      </p:sp>
      <p:sp>
        <p:nvSpPr>
          <p:cNvPr id="6" name="Shape 4"/>
          <p:cNvSpPr/>
          <p:nvPr/>
        </p:nvSpPr>
        <p:spPr>
          <a:xfrm>
            <a:off x="822960" y="2084832"/>
            <a:ext cx="420624" cy="420624"/>
          </a:xfrm>
          <a:prstGeom prst="ellipse">
            <a:avLst/>
          </a:prstGeom>
          <a:solidFill>
            <a:srgbClr val="13453B"/>
          </a:solidFill>
          <a:ln/>
        </p:spPr>
        <p:txBody>
          <a:bodyPr/>
          <a:lstStyle/>
          <a:p>
            <a:endParaRPr lang="en-GB"/>
          </a:p>
        </p:txBody>
      </p:sp>
      <p:sp>
        <p:nvSpPr>
          <p:cNvPr id="7" name="Text 5"/>
          <p:cNvSpPr txBox="1"/>
          <p:nvPr/>
        </p:nvSpPr>
        <p:spPr>
          <a:xfrm>
            <a:off x="822960" y="2084832"/>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822960" y="2633472"/>
            <a:ext cx="2936138" cy="329184"/>
          </a:xfrm>
          <a:prstGeom prst="rect">
            <a:avLst/>
          </a:prstGeom>
          <a:noFill/>
          <a:ln/>
        </p:spPr>
        <p:txBody>
          <a:bodyPr wrap="square" lIns="0" tIns="0" rIns="0" bIns="0" rtlCol="0" anchor="ctr"/>
          <a:lstStyle/>
          <a:p>
            <a:pPr marL="0" indent="0">
              <a:buNone/>
            </a:pPr>
            <a:r>
              <a:rPr lang="en-US" sz="1900" b="1" dirty="0">
                <a:solidFill>
                  <a:srgbClr val="13453B"/>
                </a:solidFill>
                <a:latin typeface="Cambria" pitchFamily="34" charset="0"/>
                <a:ea typeface="Cambria" pitchFamily="34" charset="-122"/>
                <a:cs typeface="Cambria" pitchFamily="34" charset="-120"/>
              </a:rPr>
              <a:t>Who does the work</a:t>
            </a:r>
            <a:endParaRPr lang="en-US" sz="1900" dirty="0"/>
          </a:p>
        </p:txBody>
      </p:sp>
      <p:sp>
        <p:nvSpPr>
          <p:cNvPr id="9" name="Text 7"/>
          <p:cNvSpPr txBox="1"/>
          <p:nvPr/>
        </p:nvSpPr>
        <p:spPr>
          <a:xfrm>
            <a:off x="822960" y="3035808"/>
            <a:ext cx="2936138" cy="1417320"/>
          </a:xfrm>
          <a:prstGeom prst="rect">
            <a:avLst/>
          </a:prstGeom>
          <a:noFill/>
          <a:ln/>
        </p:spPr>
        <p:txBody>
          <a:bodyPr wrap="square" lIns="0" tIns="0" rIns="0" bIns="0" rtlCol="0" anchor="t"/>
          <a:lstStyle/>
          <a:p>
            <a:pPr marL="0" indent="0">
              <a:lnSpc>
                <a:spcPts val="1700"/>
              </a:lnSpc>
              <a:buNone/>
            </a:pPr>
            <a:r>
              <a:rPr lang="en-US" sz="1200" dirty="0">
                <a:solidFill>
                  <a:srgbClr val="33423D"/>
                </a:solidFill>
                <a:latin typeface="Calibri" pitchFamily="34" charset="0"/>
                <a:ea typeface="Calibri" pitchFamily="34" charset="-122"/>
                <a:cs typeface="Calibri" pitchFamily="34" charset="-120"/>
              </a:rPr>
              <a:t>Pobl grew its in-house trades team by about half (34 roles) in 2024. There is also a contractor framework of 11 lots covering repairs, voids and out-of-hours.</a:t>
            </a:r>
            <a:endParaRPr lang="en-US" sz="1200" dirty="0"/>
          </a:p>
        </p:txBody>
      </p:sp>
      <p:sp>
        <p:nvSpPr>
          <p:cNvPr id="10" name="Text 8"/>
          <p:cNvSpPr txBox="1"/>
          <p:nvPr/>
        </p:nvSpPr>
        <p:spPr>
          <a:xfrm>
            <a:off x="822960" y="4498848"/>
            <a:ext cx="2936138" cy="219456"/>
          </a:xfrm>
          <a:prstGeom prst="rect">
            <a:avLst/>
          </a:prstGeom>
          <a:noFill/>
          <a:ln/>
        </p:spPr>
        <p:txBody>
          <a:bodyPr wrap="square" lIns="0" tIns="0" rIns="0" bIns="0" rtlCol="0" anchor="ctr"/>
          <a:lstStyle/>
          <a:p>
            <a:pPr marL="0" indent="0">
              <a:buNone/>
            </a:pPr>
            <a:r>
              <a:rPr lang="en-US" sz="900" b="1" kern="0" spc="180" dirty="0">
                <a:solidFill>
                  <a:srgbClr val="C8892F"/>
                </a:solidFill>
                <a:latin typeface="Calibri" pitchFamily="34" charset="0"/>
                <a:ea typeface="Calibri" pitchFamily="34" charset="-122"/>
                <a:cs typeface="Calibri" pitchFamily="34" charset="-120"/>
              </a:rPr>
              <a:t>WHAT I'D CHECK</a:t>
            </a:r>
            <a:endParaRPr lang="en-US" sz="900" dirty="0"/>
          </a:p>
        </p:txBody>
      </p:sp>
      <p:sp>
        <p:nvSpPr>
          <p:cNvPr id="11" name="Text 9"/>
          <p:cNvSpPr txBox="1"/>
          <p:nvPr/>
        </p:nvSpPr>
        <p:spPr>
          <a:xfrm>
            <a:off x="822960" y="4736592"/>
            <a:ext cx="2936138" cy="777240"/>
          </a:xfrm>
          <a:prstGeom prst="rect">
            <a:avLst/>
          </a:prstGeom>
          <a:noFill/>
          <a:ln/>
        </p:spPr>
        <p:txBody>
          <a:bodyPr wrap="square" lIns="0" tIns="0" rIns="0" bIns="0" rtlCol="0" anchor="t"/>
          <a:lstStyle/>
          <a:p>
            <a:pPr marL="0" indent="0">
              <a:lnSpc>
                <a:spcPts val="1600"/>
              </a:lnSpc>
              <a:buNone/>
            </a:pPr>
            <a:r>
              <a:rPr lang="en-US" sz="1150" i="1" dirty="0">
                <a:solidFill>
                  <a:srgbClr val="16211E"/>
                </a:solidFill>
                <a:latin typeface="Calibri" pitchFamily="34" charset="0"/>
                <a:ea typeface="Calibri" pitchFamily="34" charset="-122"/>
                <a:cs typeface="Calibri" pitchFamily="34" charset="-120"/>
              </a:rPr>
              <a:t>Has contractor spend come down now we do more in-house, or are we paying for both?</a:t>
            </a:r>
            <a:endParaRPr lang="en-US" sz="1150" dirty="0"/>
          </a:p>
        </p:txBody>
      </p:sp>
      <p:sp>
        <p:nvSpPr>
          <p:cNvPr id="12" name="Shape 10"/>
          <p:cNvSpPr/>
          <p:nvPr/>
        </p:nvSpPr>
        <p:spPr>
          <a:xfrm>
            <a:off x="4353458" y="1828800"/>
            <a:ext cx="3484778" cy="3794760"/>
          </a:xfrm>
          <a:prstGeom prst="roundRect">
            <a:avLst>
              <a:gd name="adj" fmla="val 1574"/>
            </a:avLst>
          </a:prstGeom>
          <a:solidFill>
            <a:srgbClr val="F1F5F3"/>
          </a:solidFill>
          <a:ln w="12700">
            <a:solidFill>
              <a:srgbClr val="F1F5F3"/>
            </a:solidFill>
            <a:prstDash val="solid"/>
          </a:ln>
        </p:spPr>
        <p:txBody>
          <a:bodyPr/>
          <a:lstStyle/>
          <a:p>
            <a:endParaRPr lang="en-GB"/>
          </a:p>
        </p:txBody>
      </p:sp>
      <p:sp>
        <p:nvSpPr>
          <p:cNvPr id="13" name="Shape 11"/>
          <p:cNvSpPr/>
          <p:nvPr/>
        </p:nvSpPr>
        <p:spPr>
          <a:xfrm>
            <a:off x="4627778" y="2084832"/>
            <a:ext cx="420624" cy="420624"/>
          </a:xfrm>
          <a:prstGeom prst="ellipse">
            <a:avLst/>
          </a:prstGeom>
          <a:solidFill>
            <a:srgbClr val="C8892F"/>
          </a:solidFill>
          <a:ln/>
        </p:spPr>
        <p:txBody>
          <a:bodyPr/>
          <a:lstStyle/>
          <a:p>
            <a:endParaRPr lang="en-GB"/>
          </a:p>
        </p:txBody>
      </p:sp>
      <p:sp>
        <p:nvSpPr>
          <p:cNvPr id="14" name="Text 12"/>
          <p:cNvSpPr txBox="1"/>
          <p:nvPr/>
        </p:nvSpPr>
        <p:spPr>
          <a:xfrm>
            <a:off x="4627778" y="2084832"/>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txBox="1"/>
          <p:nvPr/>
        </p:nvSpPr>
        <p:spPr>
          <a:xfrm>
            <a:off x="4627778" y="2633472"/>
            <a:ext cx="2936138" cy="329184"/>
          </a:xfrm>
          <a:prstGeom prst="rect">
            <a:avLst/>
          </a:prstGeom>
          <a:noFill/>
          <a:ln/>
        </p:spPr>
        <p:txBody>
          <a:bodyPr wrap="square" lIns="0" tIns="0" rIns="0" bIns="0" rtlCol="0" anchor="ctr"/>
          <a:lstStyle/>
          <a:p>
            <a:pPr marL="0" indent="0">
              <a:buNone/>
            </a:pPr>
            <a:r>
              <a:rPr lang="en-US" sz="1900" b="1" dirty="0">
                <a:solidFill>
                  <a:srgbClr val="13453B"/>
                </a:solidFill>
                <a:latin typeface="Cambria" pitchFamily="34" charset="0"/>
                <a:ea typeface="Cambria" pitchFamily="34" charset="-122"/>
                <a:cs typeface="Cambria" pitchFamily="34" charset="-120"/>
              </a:rPr>
              <a:t>The new repair rules</a:t>
            </a:r>
            <a:endParaRPr lang="en-US" sz="1900" dirty="0"/>
          </a:p>
        </p:txBody>
      </p:sp>
      <p:sp>
        <p:nvSpPr>
          <p:cNvPr id="16" name="Text 14"/>
          <p:cNvSpPr txBox="1"/>
          <p:nvPr/>
        </p:nvSpPr>
        <p:spPr>
          <a:xfrm>
            <a:off x="4627778" y="3035808"/>
            <a:ext cx="2936138" cy="1417320"/>
          </a:xfrm>
          <a:prstGeom prst="rect">
            <a:avLst/>
          </a:prstGeom>
          <a:noFill/>
          <a:ln/>
        </p:spPr>
        <p:txBody>
          <a:bodyPr wrap="square" lIns="0" tIns="0" rIns="0" bIns="0" rtlCol="0" anchor="t"/>
          <a:lstStyle/>
          <a:p>
            <a:pPr marL="0" indent="0">
              <a:lnSpc>
                <a:spcPts val="1700"/>
              </a:lnSpc>
              <a:buNone/>
            </a:pPr>
            <a:r>
              <a:rPr lang="en-US" sz="1200" dirty="0">
                <a:solidFill>
                  <a:srgbClr val="33423D"/>
                </a:solidFill>
                <a:latin typeface="Calibri" pitchFamily="34" charset="0"/>
                <a:ea typeface="Calibri" pitchFamily="34" charset="-122"/>
                <a:cs typeface="Calibri" pitchFamily="34" charset="-120"/>
              </a:rPr>
              <a:t>From 1 April 2026, WHQS sets response times. Urgent hazards: 24 hours to investigate, 24 to fix. Everything else: 10 working days, then 5.</a:t>
            </a:r>
            <a:endParaRPr lang="en-US" sz="1200" dirty="0"/>
          </a:p>
        </p:txBody>
      </p:sp>
      <p:sp>
        <p:nvSpPr>
          <p:cNvPr id="17" name="Text 15"/>
          <p:cNvSpPr txBox="1"/>
          <p:nvPr/>
        </p:nvSpPr>
        <p:spPr>
          <a:xfrm>
            <a:off x="4627778" y="4498848"/>
            <a:ext cx="2936138" cy="219456"/>
          </a:xfrm>
          <a:prstGeom prst="rect">
            <a:avLst/>
          </a:prstGeom>
          <a:noFill/>
          <a:ln/>
        </p:spPr>
        <p:txBody>
          <a:bodyPr wrap="square" lIns="0" tIns="0" rIns="0" bIns="0" rtlCol="0" anchor="ctr"/>
          <a:lstStyle/>
          <a:p>
            <a:pPr marL="0" indent="0">
              <a:buNone/>
            </a:pPr>
            <a:r>
              <a:rPr lang="en-US" sz="900" b="1" kern="0" spc="180" dirty="0">
                <a:solidFill>
                  <a:srgbClr val="C8892F"/>
                </a:solidFill>
                <a:latin typeface="Calibri" pitchFamily="34" charset="0"/>
                <a:ea typeface="Calibri" pitchFamily="34" charset="-122"/>
                <a:cs typeface="Calibri" pitchFamily="34" charset="-120"/>
              </a:rPr>
              <a:t>WHAT I'D CHECK</a:t>
            </a:r>
            <a:endParaRPr lang="en-US" sz="900" dirty="0"/>
          </a:p>
        </p:txBody>
      </p:sp>
      <p:sp>
        <p:nvSpPr>
          <p:cNvPr id="18" name="Text 16"/>
          <p:cNvSpPr txBox="1"/>
          <p:nvPr/>
        </p:nvSpPr>
        <p:spPr>
          <a:xfrm>
            <a:off x="4627778" y="4736592"/>
            <a:ext cx="2936138" cy="777240"/>
          </a:xfrm>
          <a:prstGeom prst="rect">
            <a:avLst/>
          </a:prstGeom>
          <a:noFill/>
          <a:ln/>
        </p:spPr>
        <p:txBody>
          <a:bodyPr wrap="square" lIns="0" tIns="0" rIns="0" bIns="0" rtlCol="0" anchor="t"/>
          <a:lstStyle/>
          <a:p>
            <a:pPr marL="0" indent="0">
              <a:lnSpc>
                <a:spcPts val="1600"/>
              </a:lnSpc>
              <a:buNone/>
            </a:pPr>
            <a:r>
              <a:rPr lang="en-US" sz="1150" i="1" dirty="0">
                <a:solidFill>
                  <a:srgbClr val="16211E"/>
                </a:solidFill>
                <a:latin typeface="Calibri" pitchFamily="34" charset="0"/>
                <a:ea typeface="Calibri" pitchFamily="34" charset="-122"/>
                <a:cs typeface="Calibri" pitchFamily="34" charset="-120"/>
              </a:rPr>
              <a:t>How much extra out-of-hours and emergency work has this created, and is it harder to plan jobs?</a:t>
            </a:r>
            <a:endParaRPr lang="en-US" sz="1150" dirty="0"/>
          </a:p>
        </p:txBody>
      </p:sp>
      <p:sp>
        <p:nvSpPr>
          <p:cNvPr id="19" name="Shape 17"/>
          <p:cNvSpPr/>
          <p:nvPr/>
        </p:nvSpPr>
        <p:spPr>
          <a:xfrm>
            <a:off x="8158277" y="1828800"/>
            <a:ext cx="3484778" cy="3794760"/>
          </a:xfrm>
          <a:prstGeom prst="roundRect">
            <a:avLst>
              <a:gd name="adj" fmla="val 1574"/>
            </a:avLst>
          </a:prstGeom>
          <a:solidFill>
            <a:srgbClr val="F1F5F3"/>
          </a:solidFill>
          <a:ln w="12700">
            <a:solidFill>
              <a:srgbClr val="F1F5F3"/>
            </a:solidFill>
            <a:prstDash val="solid"/>
          </a:ln>
        </p:spPr>
        <p:txBody>
          <a:bodyPr/>
          <a:lstStyle/>
          <a:p>
            <a:endParaRPr lang="en-GB"/>
          </a:p>
        </p:txBody>
      </p:sp>
      <p:sp>
        <p:nvSpPr>
          <p:cNvPr id="20" name="Shape 18"/>
          <p:cNvSpPr/>
          <p:nvPr/>
        </p:nvSpPr>
        <p:spPr>
          <a:xfrm>
            <a:off x="8432597" y="2084832"/>
            <a:ext cx="420624" cy="420624"/>
          </a:xfrm>
          <a:prstGeom prst="ellipse">
            <a:avLst/>
          </a:prstGeom>
          <a:solidFill>
            <a:srgbClr val="13453B"/>
          </a:solidFill>
          <a:ln/>
        </p:spPr>
        <p:txBody>
          <a:bodyPr/>
          <a:lstStyle/>
          <a:p>
            <a:endParaRPr lang="en-GB"/>
          </a:p>
        </p:txBody>
      </p:sp>
      <p:sp>
        <p:nvSpPr>
          <p:cNvPr id="21" name="Text 19"/>
          <p:cNvSpPr txBox="1"/>
          <p:nvPr/>
        </p:nvSpPr>
        <p:spPr>
          <a:xfrm>
            <a:off x="8432597" y="2084832"/>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2" name="Text 20"/>
          <p:cNvSpPr txBox="1"/>
          <p:nvPr/>
        </p:nvSpPr>
        <p:spPr>
          <a:xfrm>
            <a:off x="8432597" y="2633472"/>
            <a:ext cx="2936138" cy="329184"/>
          </a:xfrm>
          <a:prstGeom prst="rect">
            <a:avLst/>
          </a:prstGeom>
          <a:noFill/>
          <a:ln/>
        </p:spPr>
        <p:txBody>
          <a:bodyPr wrap="square" lIns="0" tIns="0" rIns="0" bIns="0" rtlCol="0" anchor="ctr"/>
          <a:lstStyle/>
          <a:p>
            <a:pPr marL="0" indent="0">
              <a:buNone/>
            </a:pPr>
            <a:r>
              <a:rPr lang="en-US" sz="1900" b="1" dirty="0">
                <a:solidFill>
                  <a:srgbClr val="13453B"/>
                </a:solidFill>
                <a:latin typeface="Cambria" pitchFamily="34" charset="0"/>
                <a:ea typeface="Cambria" pitchFamily="34" charset="-122"/>
                <a:cs typeface="Cambria" pitchFamily="34" charset="-120"/>
              </a:rPr>
              <a:t>Costs going up</a:t>
            </a:r>
            <a:endParaRPr lang="en-US" sz="1900" dirty="0"/>
          </a:p>
        </p:txBody>
      </p:sp>
      <p:sp>
        <p:nvSpPr>
          <p:cNvPr id="23" name="Text 21"/>
          <p:cNvSpPr txBox="1"/>
          <p:nvPr/>
        </p:nvSpPr>
        <p:spPr>
          <a:xfrm>
            <a:off x="8432597" y="3035808"/>
            <a:ext cx="2936138" cy="1417320"/>
          </a:xfrm>
          <a:prstGeom prst="rect">
            <a:avLst/>
          </a:prstGeom>
          <a:noFill/>
          <a:ln/>
        </p:spPr>
        <p:txBody>
          <a:bodyPr wrap="square" lIns="0" tIns="0" rIns="0" bIns="0" rtlCol="0" anchor="t"/>
          <a:lstStyle/>
          <a:p>
            <a:pPr marL="0" indent="0">
              <a:lnSpc>
                <a:spcPts val="1700"/>
              </a:lnSpc>
              <a:buNone/>
            </a:pPr>
            <a:r>
              <a:rPr lang="en-US" sz="1200" dirty="0">
                <a:solidFill>
                  <a:srgbClr val="33423D"/>
                </a:solidFill>
                <a:latin typeface="Calibri" pitchFamily="34" charset="0"/>
                <a:ea typeface="Calibri" pitchFamily="34" charset="-122"/>
                <a:cs typeface="Calibri" pitchFamily="34" charset="-120"/>
              </a:rPr>
              <a:t>Repairs costs across the sector are expected to rise by about 23% this year. The regulator's published figures suggested nearer 10%.</a:t>
            </a:r>
            <a:endParaRPr lang="en-US" sz="1200" dirty="0"/>
          </a:p>
        </p:txBody>
      </p:sp>
      <p:sp>
        <p:nvSpPr>
          <p:cNvPr id="24" name="Text 22"/>
          <p:cNvSpPr txBox="1"/>
          <p:nvPr/>
        </p:nvSpPr>
        <p:spPr>
          <a:xfrm>
            <a:off x="8432597" y="4498848"/>
            <a:ext cx="2936138" cy="219456"/>
          </a:xfrm>
          <a:prstGeom prst="rect">
            <a:avLst/>
          </a:prstGeom>
          <a:noFill/>
          <a:ln/>
        </p:spPr>
        <p:txBody>
          <a:bodyPr wrap="square" lIns="0" tIns="0" rIns="0" bIns="0" rtlCol="0" anchor="ctr"/>
          <a:lstStyle/>
          <a:p>
            <a:pPr marL="0" indent="0">
              <a:buNone/>
            </a:pPr>
            <a:r>
              <a:rPr lang="en-US" sz="900" b="1" kern="0" spc="180" dirty="0">
                <a:solidFill>
                  <a:srgbClr val="C8892F"/>
                </a:solidFill>
                <a:latin typeface="Calibri" pitchFamily="34" charset="0"/>
                <a:ea typeface="Calibri" pitchFamily="34" charset="-122"/>
                <a:cs typeface="Calibri" pitchFamily="34" charset="-120"/>
              </a:rPr>
              <a:t>WHAT I'D CHECK</a:t>
            </a:r>
            <a:endParaRPr lang="en-US" sz="900" dirty="0"/>
          </a:p>
        </p:txBody>
      </p:sp>
      <p:sp>
        <p:nvSpPr>
          <p:cNvPr id="25" name="Text 23"/>
          <p:cNvSpPr txBox="1"/>
          <p:nvPr/>
        </p:nvSpPr>
        <p:spPr>
          <a:xfrm>
            <a:off x="8432597" y="4736592"/>
            <a:ext cx="2936138" cy="777240"/>
          </a:xfrm>
          <a:prstGeom prst="rect">
            <a:avLst/>
          </a:prstGeom>
          <a:noFill/>
          <a:ln/>
        </p:spPr>
        <p:txBody>
          <a:bodyPr wrap="square" lIns="0" tIns="0" rIns="0" bIns="0" rtlCol="0" anchor="t"/>
          <a:lstStyle/>
          <a:p>
            <a:pPr marL="0" indent="0">
              <a:lnSpc>
                <a:spcPts val="1600"/>
              </a:lnSpc>
              <a:buNone/>
            </a:pPr>
            <a:r>
              <a:rPr lang="en-US" sz="1150" i="1" dirty="0">
                <a:solidFill>
                  <a:srgbClr val="16211E"/>
                </a:solidFill>
                <a:latin typeface="Calibri" pitchFamily="34" charset="0"/>
                <a:ea typeface="Calibri" pitchFamily="34" charset="-122"/>
                <a:cs typeface="Calibri" pitchFamily="34" charset="-120"/>
              </a:rPr>
              <a:t>For the same type of job, how much of our increase is price rather than more jobs?</a:t>
            </a:r>
            <a:endParaRPr lang="en-US" sz="1150" dirty="0"/>
          </a:p>
        </p:txBody>
      </p:sp>
      <p:sp>
        <p:nvSpPr>
          <p:cNvPr id="26" name="Text 24"/>
          <p:cNvSpPr txBox="1"/>
          <p:nvPr/>
        </p:nvSpPr>
        <p:spPr>
          <a:xfrm>
            <a:off x="548640" y="5779008"/>
            <a:ext cx="11094415" cy="274320"/>
          </a:xfrm>
          <a:prstGeom prst="rect">
            <a:avLst/>
          </a:prstGeom>
          <a:noFill/>
          <a:ln/>
        </p:spPr>
        <p:txBody>
          <a:bodyPr wrap="square" lIns="0" tIns="0" rIns="0" bIns="0" rtlCol="0" anchor="ctr"/>
          <a:lstStyle/>
          <a:p>
            <a:pPr marL="0" indent="0">
              <a:buNone/>
            </a:pPr>
            <a:r>
              <a:rPr lang="en-US" sz="950" i="1" dirty="0">
                <a:solidFill>
                  <a:srgbClr val="6E7D78"/>
                </a:solidFill>
                <a:latin typeface="Calibri" pitchFamily="34" charset="0"/>
                <a:ea typeface="Calibri" pitchFamily="34" charset="-122"/>
                <a:cs typeface="Calibri" pitchFamily="34" charset="-120"/>
              </a:rPr>
              <a:t>Sources: Pobl announcements and tender notices; Welsh Government WHQS statement; UK-wide sector cost surveys.</a:t>
            </a:r>
            <a:endParaRPr lang="en-US" sz="950" dirty="0"/>
          </a:p>
        </p:txBody>
      </p:sp>
      <p:sp>
        <p:nvSpPr>
          <p:cNvPr id="28" name="Text 25"/>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9" name="Text 26"/>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02  ·  FORECAST</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Rebuild the forecast with the people who own it</a:t>
            </a:r>
            <a:endParaRPr lang="en-US" sz="3000" dirty="0"/>
          </a:p>
        </p:txBody>
      </p:sp>
      <p:sp>
        <p:nvSpPr>
          <p:cNvPr id="4" name="Shape 2"/>
          <p:cNvSpPr/>
          <p:nvPr/>
        </p:nvSpPr>
        <p:spPr>
          <a:xfrm>
            <a:off x="548640" y="1572768"/>
            <a:ext cx="11094415" cy="713232"/>
          </a:xfrm>
          <a:prstGeom prst="roundRect">
            <a:avLst>
              <a:gd name="adj" fmla="val 7692"/>
            </a:avLst>
          </a:prstGeom>
          <a:solidFill>
            <a:srgbClr val="13453B"/>
          </a:solidFill>
          <a:ln w="12700">
            <a:solidFill>
              <a:srgbClr val="13453B"/>
            </a:solidFill>
            <a:prstDash val="solid"/>
          </a:ln>
        </p:spPr>
        <p:txBody>
          <a:bodyPr/>
          <a:lstStyle/>
          <a:p>
            <a:endParaRPr lang="en-GB"/>
          </a:p>
        </p:txBody>
      </p:sp>
      <p:sp>
        <p:nvSpPr>
          <p:cNvPr id="5" name="Text 3"/>
          <p:cNvSpPr txBox="1"/>
          <p:nvPr/>
        </p:nvSpPr>
        <p:spPr>
          <a:xfrm>
            <a:off x="548640" y="1572768"/>
            <a:ext cx="11094415"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Actuals  +  committed cost  +  ( remaining demand  ×  evidenced unit cost )  =  FYF</a:t>
            </a:r>
            <a:endParaRPr lang="en-US" sz="1600" dirty="0"/>
          </a:p>
        </p:txBody>
      </p:sp>
      <p:sp>
        <p:nvSpPr>
          <p:cNvPr id="6" name="Shape 4"/>
          <p:cNvSpPr/>
          <p:nvPr/>
        </p:nvSpPr>
        <p:spPr>
          <a:xfrm>
            <a:off x="548640" y="2578608"/>
            <a:ext cx="420624" cy="420624"/>
          </a:xfrm>
          <a:prstGeom prst="ellipse">
            <a:avLst/>
          </a:prstGeom>
          <a:solidFill>
            <a:srgbClr val="13453B"/>
          </a:solidFill>
          <a:ln/>
        </p:spPr>
        <p:txBody>
          <a:bodyPr/>
          <a:lstStyle/>
          <a:p>
            <a:endParaRPr lang="en-GB"/>
          </a:p>
        </p:txBody>
      </p:sp>
      <p:sp>
        <p:nvSpPr>
          <p:cNvPr id="7" name="Text 5"/>
          <p:cNvSpPr txBox="1"/>
          <p:nvPr/>
        </p:nvSpPr>
        <p:spPr>
          <a:xfrm>
            <a:off x="548640" y="25786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115568" y="2615184"/>
            <a:ext cx="2917850" cy="365760"/>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Agree the assumptions</a:t>
            </a:r>
            <a:endParaRPr lang="en-US" sz="1700" dirty="0"/>
          </a:p>
        </p:txBody>
      </p:sp>
      <p:sp>
        <p:nvSpPr>
          <p:cNvPr id="9" name="Text 7"/>
          <p:cNvSpPr txBox="1"/>
          <p:nvPr/>
        </p:nvSpPr>
        <p:spPr>
          <a:xfrm>
            <a:off x="585216" y="3154680"/>
            <a:ext cx="3393338" cy="1691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Demand, backlog and seasonality</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Capacity and productivity</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Work mix and complexity</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Contract rates and variations</a:t>
            </a:r>
            <a:endParaRPr lang="en-US" sz="1200" dirty="0"/>
          </a:p>
        </p:txBody>
      </p:sp>
      <p:sp>
        <p:nvSpPr>
          <p:cNvPr id="10" name="Shape 8"/>
          <p:cNvSpPr/>
          <p:nvPr/>
        </p:nvSpPr>
        <p:spPr>
          <a:xfrm>
            <a:off x="4353458" y="2578608"/>
            <a:ext cx="420624" cy="420624"/>
          </a:xfrm>
          <a:prstGeom prst="ellipse">
            <a:avLst/>
          </a:prstGeom>
          <a:solidFill>
            <a:srgbClr val="13453B"/>
          </a:solidFill>
          <a:ln/>
        </p:spPr>
        <p:txBody>
          <a:bodyPr/>
          <a:lstStyle/>
          <a:p>
            <a:endParaRPr lang="en-GB"/>
          </a:p>
        </p:txBody>
      </p:sp>
      <p:sp>
        <p:nvSpPr>
          <p:cNvPr id="11" name="Text 9"/>
          <p:cNvSpPr txBox="1"/>
          <p:nvPr/>
        </p:nvSpPr>
        <p:spPr>
          <a:xfrm>
            <a:off x="4353458" y="25786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4920386" y="2615184"/>
            <a:ext cx="2917850" cy="365760"/>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Cost the work honestly</a:t>
            </a:r>
            <a:endParaRPr lang="en-US" sz="1700" dirty="0"/>
          </a:p>
        </p:txBody>
      </p:sp>
      <p:sp>
        <p:nvSpPr>
          <p:cNvPr id="13" name="Text 11"/>
          <p:cNvSpPr txBox="1"/>
          <p:nvPr/>
        </p:nvSpPr>
        <p:spPr>
          <a:xfrm>
            <a:off x="4390034" y="3154680"/>
            <a:ext cx="3393338" cy="1691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Open jobs and commitments once, not twice</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Evidenced cost per job by type</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Realistic delivery dates for planned work</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Base case and a downside</a:t>
            </a:r>
            <a:endParaRPr lang="en-US" sz="1200" dirty="0"/>
          </a:p>
        </p:txBody>
      </p:sp>
      <p:sp>
        <p:nvSpPr>
          <p:cNvPr id="14" name="Shape 12"/>
          <p:cNvSpPr/>
          <p:nvPr/>
        </p:nvSpPr>
        <p:spPr>
          <a:xfrm>
            <a:off x="8158277" y="2578608"/>
            <a:ext cx="420624" cy="420624"/>
          </a:xfrm>
          <a:prstGeom prst="ellipse">
            <a:avLst/>
          </a:prstGeom>
          <a:solidFill>
            <a:srgbClr val="13453B"/>
          </a:solidFill>
          <a:ln/>
        </p:spPr>
        <p:txBody>
          <a:bodyPr/>
          <a:lstStyle/>
          <a:p>
            <a:endParaRPr lang="en-GB"/>
          </a:p>
        </p:txBody>
      </p:sp>
      <p:sp>
        <p:nvSpPr>
          <p:cNvPr id="15" name="Text 13"/>
          <p:cNvSpPr txBox="1"/>
          <p:nvPr/>
        </p:nvSpPr>
        <p:spPr>
          <a:xfrm>
            <a:off x="8158277" y="25786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8725205" y="2615184"/>
            <a:ext cx="2917850" cy="365760"/>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Make it theirs</a:t>
            </a:r>
            <a:endParaRPr lang="en-US" sz="1700" dirty="0"/>
          </a:p>
        </p:txBody>
      </p:sp>
      <p:sp>
        <p:nvSpPr>
          <p:cNvPr id="17" name="Text 15"/>
          <p:cNvSpPr txBox="1"/>
          <p:nvPr/>
        </p:nvSpPr>
        <p:spPr>
          <a:xfrm>
            <a:off x="8194853" y="3154680"/>
            <a:ext cx="3393338" cy="1691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A named owner for every material assumption</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Confidence level recorded, not implied</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Monthly sign-off with the service lead</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Quantify disagreement rather than settle it</a:t>
            </a:r>
            <a:endParaRPr lang="en-US" sz="1200" dirty="0"/>
          </a:p>
        </p:txBody>
      </p:sp>
      <p:sp>
        <p:nvSpPr>
          <p:cNvPr id="18" name="Shape 16"/>
          <p:cNvSpPr/>
          <p:nvPr/>
        </p:nvSpPr>
        <p:spPr>
          <a:xfrm>
            <a:off x="548640" y="5074920"/>
            <a:ext cx="11094415" cy="868680"/>
          </a:xfrm>
          <a:prstGeom prst="roundRect">
            <a:avLst>
              <a:gd name="adj" fmla="val 6316"/>
            </a:avLst>
          </a:prstGeom>
          <a:solidFill>
            <a:srgbClr val="F1F5F3"/>
          </a:solidFill>
          <a:ln w="12700">
            <a:solidFill>
              <a:srgbClr val="F1F5F3"/>
            </a:solidFill>
            <a:prstDash val="solid"/>
          </a:ln>
        </p:spPr>
        <p:txBody>
          <a:bodyPr/>
          <a:lstStyle/>
          <a:p>
            <a:endParaRPr lang="en-GB"/>
          </a:p>
        </p:txBody>
      </p:sp>
      <p:sp>
        <p:nvSpPr>
          <p:cNvPr id="19" name="Text 17"/>
          <p:cNvSpPr txBox="1"/>
          <p:nvPr/>
        </p:nvSpPr>
        <p:spPr>
          <a:xfrm>
            <a:off x="868680" y="5074920"/>
            <a:ext cx="10454335" cy="868680"/>
          </a:xfrm>
          <a:prstGeom prst="rect">
            <a:avLst/>
          </a:prstGeom>
          <a:noFill/>
          <a:ln/>
        </p:spPr>
        <p:txBody>
          <a:bodyPr wrap="square" lIns="0" tIns="0" rIns="0" bIns="0" rtlCol="0" anchor="ctr"/>
          <a:lstStyle/>
          <a:p>
            <a:pPr marL="0" indent="0">
              <a:lnSpc>
                <a:spcPts val="1900"/>
              </a:lnSpc>
              <a:buNone/>
            </a:pPr>
            <a:r>
              <a:rPr lang="en-US" sz="1350" b="1" dirty="0">
                <a:solidFill>
                  <a:srgbClr val="13453B"/>
                </a:solidFill>
                <a:latin typeface="Calibri" pitchFamily="34" charset="0"/>
                <a:ea typeface="Calibri" pitchFamily="34" charset="-122"/>
                <a:cs typeface="Calibri" pitchFamily="34" charset="-120"/>
              </a:rPr>
              <a:t>Show the delivery forecast before mitigation. </a:t>
            </a:r>
            <a:r>
              <a:rPr lang="en-US" sz="1350" dirty="0">
                <a:solidFill>
                  <a:srgbClr val="33423D"/>
                </a:solidFill>
                <a:latin typeface="Calibri" pitchFamily="34" charset="0"/>
                <a:ea typeface="Calibri" pitchFamily="34" charset="-122"/>
                <a:cs typeface="Calibri" pitchFamily="34" charset="-120"/>
              </a:rPr>
              <a:t>Only owned, time-phased, achievable actions come off it — everything else is listed as an opportunity. A savings target is not a forecast.</a:t>
            </a:r>
            <a:endParaRPr lang="en-US" sz="1350" dirty="0"/>
          </a:p>
        </p:txBody>
      </p:sp>
      <p:sp>
        <p:nvSpPr>
          <p:cNvPr id="21" name="Text 18"/>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2" name="Text 19"/>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03  ·  MANAGE THE RISK</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Act in order: protect first, then choose</a:t>
            </a:r>
            <a:endParaRPr lang="en-US" sz="3000" dirty="0"/>
          </a:p>
        </p:txBody>
      </p:sp>
      <p:sp>
        <p:nvSpPr>
          <p:cNvPr id="4" name="Shape 2"/>
          <p:cNvSpPr/>
          <p:nvPr/>
        </p:nvSpPr>
        <p:spPr>
          <a:xfrm>
            <a:off x="548640" y="1773936"/>
            <a:ext cx="420624" cy="420624"/>
          </a:xfrm>
          <a:prstGeom prst="ellipse">
            <a:avLst/>
          </a:prstGeom>
          <a:solidFill>
            <a:srgbClr val="13453B"/>
          </a:solidFill>
          <a:ln/>
        </p:spPr>
        <p:txBody>
          <a:bodyPr/>
          <a:lstStyle/>
          <a:p>
            <a:endParaRPr lang="en-GB"/>
          </a:p>
        </p:txBody>
      </p:sp>
      <p:sp>
        <p:nvSpPr>
          <p:cNvPr id="5" name="Text 3"/>
          <p:cNvSpPr txBox="1"/>
          <p:nvPr/>
        </p:nvSpPr>
        <p:spPr>
          <a:xfrm>
            <a:off x="548640" y="177393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115568" y="1645920"/>
            <a:ext cx="320040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Protect</a:t>
            </a:r>
            <a:endParaRPr lang="en-US" sz="1700" dirty="0"/>
          </a:p>
        </p:txBody>
      </p:sp>
      <p:sp>
        <p:nvSpPr>
          <p:cNvPr id="7" name="Text 5"/>
          <p:cNvSpPr txBox="1"/>
          <p:nvPr/>
        </p:nvSpPr>
        <p:spPr>
          <a:xfrm>
            <a:off x="1115568" y="1993392"/>
            <a:ext cx="5029200" cy="384048"/>
          </a:xfrm>
          <a:prstGeom prst="rect">
            <a:avLst/>
          </a:prstGeom>
          <a:noFill/>
          <a:ln/>
        </p:spPr>
        <p:txBody>
          <a:bodyPr wrap="square" lIns="0" tIns="0" rIns="0" bIns="0" rtlCol="0" anchor="ctr"/>
          <a:lstStyle/>
          <a:p>
            <a:pPr marL="0" indent="0">
              <a:buNone/>
            </a:pPr>
            <a:r>
              <a:rPr lang="en-US" sz="1200" dirty="0">
                <a:solidFill>
                  <a:srgbClr val="33423D"/>
                </a:solidFill>
                <a:latin typeface="Calibri" pitchFamily="34" charset="0"/>
                <a:ea typeface="Calibri" pitchFamily="34" charset="-122"/>
                <a:cs typeface="Calibri" pitchFamily="34" charset="-120"/>
              </a:rPr>
              <a:t>Safety, compliance and WHQS hazard response times.</a:t>
            </a:r>
            <a:endParaRPr lang="en-US" sz="1200" dirty="0"/>
          </a:p>
        </p:txBody>
      </p:sp>
      <p:sp>
        <p:nvSpPr>
          <p:cNvPr id="8" name="Text 6"/>
          <p:cNvSpPr txBox="1"/>
          <p:nvPr/>
        </p:nvSpPr>
        <p:spPr>
          <a:xfrm>
            <a:off x="6858000" y="1773936"/>
            <a:ext cx="4782312" cy="365760"/>
          </a:xfrm>
          <a:prstGeom prst="rect">
            <a:avLst/>
          </a:prstGeom>
          <a:noFill/>
          <a:ln/>
        </p:spPr>
        <p:txBody>
          <a:bodyPr wrap="square" lIns="0" tIns="0" rIns="0" bIns="0" rtlCol="0" anchor="ctr"/>
          <a:lstStyle/>
          <a:p>
            <a:pPr marL="0" indent="0">
              <a:buNone/>
            </a:pPr>
            <a:r>
              <a:rPr lang="en-US" sz="1200" i="1" dirty="0">
                <a:solidFill>
                  <a:srgbClr val="2E7D68"/>
                </a:solidFill>
                <a:latin typeface="Calibri" pitchFamily="34" charset="0"/>
                <a:ea typeface="Calibri" pitchFamily="34" charset="-122"/>
                <a:cs typeface="Calibri" pitchFamily="34" charset="-120"/>
              </a:rPr>
              <a:t>Now published and reported. Not a place to save.</a:t>
            </a:r>
            <a:endParaRPr lang="en-US" sz="1200" dirty="0"/>
          </a:p>
        </p:txBody>
      </p:sp>
      <p:sp>
        <p:nvSpPr>
          <p:cNvPr id="9" name="Shape 7"/>
          <p:cNvSpPr/>
          <p:nvPr/>
        </p:nvSpPr>
        <p:spPr>
          <a:xfrm>
            <a:off x="548640" y="2706624"/>
            <a:ext cx="420624" cy="420624"/>
          </a:xfrm>
          <a:prstGeom prst="ellipse">
            <a:avLst/>
          </a:prstGeom>
          <a:solidFill>
            <a:srgbClr val="2E7D68"/>
          </a:solidFill>
          <a:ln/>
        </p:spPr>
        <p:txBody>
          <a:bodyPr/>
          <a:lstStyle/>
          <a:p>
            <a:endParaRPr lang="en-GB"/>
          </a:p>
        </p:txBody>
      </p:sp>
      <p:sp>
        <p:nvSpPr>
          <p:cNvPr id="10" name="Text 8"/>
          <p:cNvSpPr txBox="1"/>
          <p:nvPr/>
        </p:nvSpPr>
        <p:spPr>
          <a:xfrm>
            <a:off x="548640" y="27066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115568" y="2578608"/>
            <a:ext cx="320040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Convert existing capacity</a:t>
            </a:r>
            <a:endParaRPr lang="en-US" sz="1700" dirty="0"/>
          </a:p>
        </p:txBody>
      </p:sp>
      <p:sp>
        <p:nvSpPr>
          <p:cNvPr id="12" name="Text 10"/>
          <p:cNvSpPr txBox="1"/>
          <p:nvPr/>
        </p:nvSpPr>
        <p:spPr>
          <a:xfrm>
            <a:off x="1115568" y="2926080"/>
            <a:ext cx="5029200" cy="384048"/>
          </a:xfrm>
          <a:prstGeom prst="rect">
            <a:avLst/>
          </a:prstGeom>
          <a:noFill/>
          <a:ln/>
        </p:spPr>
        <p:txBody>
          <a:bodyPr wrap="square" lIns="0" tIns="0" rIns="0" bIns="0" rtlCol="0" anchor="ctr"/>
          <a:lstStyle/>
          <a:p>
            <a:pPr marL="0" indent="0">
              <a:buNone/>
            </a:pPr>
            <a:r>
              <a:rPr lang="en-US" sz="1200" dirty="0">
                <a:solidFill>
                  <a:srgbClr val="33423D"/>
                </a:solidFill>
                <a:latin typeface="Calibri" pitchFamily="34" charset="0"/>
                <a:ea typeface="Calibri" pitchFamily="34" charset="-122"/>
                <a:cs typeface="Calibri" pitchFamily="34" charset="-120"/>
              </a:rPr>
              <a:t>Productivity, first-time fix and scheduling density across the in-house team.</a:t>
            </a:r>
            <a:endParaRPr lang="en-US" sz="1200" dirty="0"/>
          </a:p>
        </p:txBody>
      </p:sp>
      <p:sp>
        <p:nvSpPr>
          <p:cNvPr id="13" name="Text 11"/>
          <p:cNvSpPr txBox="1"/>
          <p:nvPr/>
        </p:nvSpPr>
        <p:spPr>
          <a:xfrm>
            <a:off x="6858000" y="2706624"/>
            <a:ext cx="4782312" cy="365760"/>
          </a:xfrm>
          <a:prstGeom prst="rect">
            <a:avLst/>
          </a:prstGeom>
          <a:noFill/>
          <a:ln/>
        </p:spPr>
        <p:txBody>
          <a:bodyPr wrap="square" lIns="0" tIns="0" rIns="0" bIns="0" rtlCol="0" anchor="ctr"/>
          <a:lstStyle/>
          <a:p>
            <a:pPr marL="0" indent="0">
              <a:buNone/>
            </a:pPr>
            <a:r>
              <a:rPr lang="en-US" sz="1200" i="1" dirty="0">
                <a:solidFill>
                  <a:srgbClr val="2E7D68"/>
                </a:solidFill>
                <a:latin typeface="Calibri" pitchFamily="34" charset="0"/>
                <a:ea typeface="Calibri" pitchFamily="34" charset="-122"/>
                <a:cs typeface="Calibri" pitchFamily="34" charset="-120"/>
              </a:rPr>
              <a:t>The cheapest saving is the one you have already paid for.</a:t>
            </a:r>
            <a:endParaRPr lang="en-US" sz="1200" dirty="0"/>
          </a:p>
        </p:txBody>
      </p:sp>
      <p:sp>
        <p:nvSpPr>
          <p:cNvPr id="14" name="Shape 12"/>
          <p:cNvSpPr/>
          <p:nvPr/>
        </p:nvSpPr>
        <p:spPr>
          <a:xfrm>
            <a:off x="548640" y="3639312"/>
            <a:ext cx="420624" cy="420624"/>
          </a:xfrm>
          <a:prstGeom prst="ellipse">
            <a:avLst/>
          </a:prstGeom>
          <a:solidFill>
            <a:srgbClr val="2E7D68"/>
          </a:solidFill>
          <a:ln/>
        </p:spPr>
        <p:txBody>
          <a:bodyPr/>
          <a:lstStyle/>
          <a:p>
            <a:endParaRPr lang="en-GB"/>
          </a:p>
        </p:txBody>
      </p:sp>
      <p:sp>
        <p:nvSpPr>
          <p:cNvPr id="15" name="Text 13"/>
          <p:cNvSpPr txBox="1"/>
          <p:nvPr/>
        </p:nvSpPr>
        <p:spPr>
          <a:xfrm>
            <a:off x="548640" y="3639312"/>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1115568" y="3511296"/>
            <a:ext cx="320040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Challenge external spend</a:t>
            </a:r>
            <a:endParaRPr lang="en-US" sz="1700" dirty="0"/>
          </a:p>
        </p:txBody>
      </p:sp>
      <p:sp>
        <p:nvSpPr>
          <p:cNvPr id="17" name="Text 15"/>
          <p:cNvSpPr txBox="1"/>
          <p:nvPr/>
        </p:nvSpPr>
        <p:spPr>
          <a:xfrm>
            <a:off x="1115568" y="3858768"/>
            <a:ext cx="5029200" cy="384048"/>
          </a:xfrm>
          <a:prstGeom prst="rect">
            <a:avLst/>
          </a:prstGeom>
          <a:noFill/>
          <a:ln/>
        </p:spPr>
        <p:txBody>
          <a:bodyPr wrap="square" lIns="0" tIns="0" rIns="0" bIns="0" rtlCol="0" anchor="ctr"/>
          <a:lstStyle/>
          <a:p>
            <a:pPr marL="0" indent="0">
              <a:buNone/>
            </a:pPr>
            <a:r>
              <a:rPr lang="en-US" sz="1200" dirty="0">
                <a:solidFill>
                  <a:srgbClr val="33423D"/>
                </a:solidFill>
                <a:latin typeface="Calibri" pitchFamily="34" charset="0"/>
                <a:ea typeface="Calibri" pitchFamily="34" charset="-122"/>
                <a:cs typeface="Calibri" pitchFamily="34" charset="-120"/>
              </a:rPr>
              <a:t>Call-off discipline, variation validation, rates tested on like-for-like work.</a:t>
            </a:r>
            <a:endParaRPr lang="en-US" sz="1200" dirty="0"/>
          </a:p>
        </p:txBody>
      </p:sp>
      <p:sp>
        <p:nvSpPr>
          <p:cNvPr id="18" name="Text 16"/>
          <p:cNvSpPr txBox="1"/>
          <p:nvPr/>
        </p:nvSpPr>
        <p:spPr>
          <a:xfrm>
            <a:off x="6858000" y="3639312"/>
            <a:ext cx="4782312" cy="365760"/>
          </a:xfrm>
          <a:prstGeom prst="rect">
            <a:avLst/>
          </a:prstGeom>
          <a:noFill/>
          <a:ln/>
        </p:spPr>
        <p:txBody>
          <a:bodyPr wrap="square" lIns="0" tIns="0" rIns="0" bIns="0" rtlCol="0" anchor="ctr"/>
          <a:lstStyle/>
          <a:p>
            <a:pPr marL="0" indent="0">
              <a:buNone/>
            </a:pPr>
            <a:r>
              <a:rPr lang="en-US" sz="1200" i="1" dirty="0">
                <a:solidFill>
                  <a:srgbClr val="2E7D68"/>
                </a:solidFill>
                <a:latin typeface="Calibri" pitchFamily="34" charset="0"/>
                <a:ea typeface="Calibri" pitchFamily="34" charset="-122"/>
                <a:cs typeface="Calibri" pitchFamily="34" charset="-120"/>
              </a:rPr>
              <a:t>Only counts if it reduces paid hours or contractor spend.</a:t>
            </a:r>
            <a:endParaRPr lang="en-US" sz="1200" dirty="0"/>
          </a:p>
        </p:txBody>
      </p:sp>
      <p:sp>
        <p:nvSpPr>
          <p:cNvPr id="19" name="Shape 17"/>
          <p:cNvSpPr/>
          <p:nvPr/>
        </p:nvSpPr>
        <p:spPr>
          <a:xfrm>
            <a:off x="548640" y="4572000"/>
            <a:ext cx="420624" cy="420624"/>
          </a:xfrm>
          <a:prstGeom prst="ellipse">
            <a:avLst/>
          </a:prstGeom>
          <a:solidFill>
            <a:srgbClr val="C8892F"/>
          </a:solidFill>
          <a:ln/>
        </p:spPr>
        <p:txBody>
          <a:bodyPr/>
          <a:lstStyle/>
          <a:p>
            <a:endParaRPr lang="en-GB"/>
          </a:p>
        </p:txBody>
      </p:sp>
      <p:sp>
        <p:nvSpPr>
          <p:cNvPr id="20" name="Text 18"/>
          <p:cNvSpPr txBox="1"/>
          <p:nvPr/>
        </p:nvSpPr>
        <p:spPr>
          <a:xfrm>
            <a:off x="548640" y="457200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1" name="Text 19"/>
          <p:cNvSpPr txBox="1"/>
          <p:nvPr/>
        </p:nvSpPr>
        <p:spPr>
          <a:xfrm>
            <a:off x="1115568" y="4443984"/>
            <a:ext cx="320040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Rephase selectively</a:t>
            </a:r>
            <a:endParaRPr lang="en-US" sz="1700" dirty="0"/>
          </a:p>
        </p:txBody>
      </p:sp>
      <p:sp>
        <p:nvSpPr>
          <p:cNvPr id="22" name="Text 20"/>
          <p:cNvSpPr txBox="1"/>
          <p:nvPr/>
        </p:nvSpPr>
        <p:spPr>
          <a:xfrm>
            <a:off x="1115568" y="4791456"/>
            <a:ext cx="5029200" cy="384048"/>
          </a:xfrm>
          <a:prstGeom prst="rect">
            <a:avLst/>
          </a:prstGeom>
          <a:noFill/>
          <a:ln/>
        </p:spPr>
        <p:txBody>
          <a:bodyPr wrap="square" lIns="0" tIns="0" rIns="0" bIns="0" rtlCol="0" anchor="ctr"/>
          <a:lstStyle/>
          <a:p>
            <a:pPr marL="0" indent="0">
              <a:buNone/>
            </a:pPr>
            <a:r>
              <a:rPr lang="en-US" sz="1200" dirty="0">
                <a:solidFill>
                  <a:srgbClr val="33423D"/>
                </a:solidFill>
                <a:latin typeface="Calibri" pitchFamily="34" charset="0"/>
                <a:ea typeface="Calibri" pitchFamily="34" charset="-122"/>
                <a:cs typeface="Calibri" pitchFamily="34" charset="-120"/>
              </a:rPr>
              <a:t>Discretionary planned work only, with asset and service leads.</a:t>
            </a:r>
            <a:endParaRPr lang="en-US" sz="1200" dirty="0"/>
          </a:p>
        </p:txBody>
      </p:sp>
      <p:sp>
        <p:nvSpPr>
          <p:cNvPr id="23" name="Text 21"/>
          <p:cNvSpPr txBox="1"/>
          <p:nvPr/>
        </p:nvSpPr>
        <p:spPr>
          <a:xfrm>
            <a:off x="6858000" y="4572000"/>
            <a:ext cx="4782312" cy="365760"/>
          </a:xfrm>
          <a:prstGeom prst="rect">
            <a:avLst/>
          </a:prstGeom>
          <a:noFill/>
          <a:ln/>
        </p:spPr>
        <p:txBody>
          <a:bodyPr wrap="square" lIns="0" tIns="0" rIns="0" bIns="0" rtlCol="0" anchor="ctr"/>
          <a:lstStyle/>
          <a:p>
            <a:pPr marL="0" indent="0">
              <a:buNone/>
            </a:pPr>
            <a:r>
              <a:rPr lang="en-US" sz="1200" i="1" dirty="0">
                <a:solidFill>
                  <a:srgbClr val="C8892F"/>
                </a:solidFill>
                <a:latin typeface="Calibri" pitchFamily="34" charset="0"/>
                <a:ea typeface="Calibri" pitchFamily="34" charset="-122"/>
                <a:cs typeface="Calibri" pitchFamily="34" charset="-120"/>
              </a:rPr>
              <a:t>Last resort — and never quietly.</a:t>
            </a:r>
            <a:endParaRPr lang="en-US" sz="1200" dirty="0"/>
          </a:p>
        </p:txBody>
      </p:sp>
      <p:sp>
        <p:nvSpPr>
          <p:cNvPr id="24" name="Shape 22"/>
          <p:cNvSpPr/>
          <p:nvPr/>
        </p:nvSpPr>
        <p:spPr>
          <a:xfrm>
            <a:off x="548640" y="5413248"/>
            <a:ext cx="11094415" cy="731520"/>
          </a:xfrm>
          <a:prstGeom prst="roundRect">
            <a:avLst>
              <a:gd name="adj" fmla="val 7500"/>
            </a:avLst>
          </a:prstGeom>
          <a:solidFill>
            <a:srgbClr val="FBF3E6"/>
          </a:solidFill>
          <a:ln w="12700">
            <a:solidFill>
              <a:srgbClr val="FBF3E6"/>
            </a:solidFill>
            <a:prstDash val="solid"/>
          </a:ln>
        </p:spPr>
        <p:txBody>
          <a:bodyPr/>
          <a:lstStyle/>
          <a:p>
            <a:endParaRPr lang="en-GB"/>
          </a:p>
        </p:txBody>
      </p:sp>
      <p:sp>
        <p:nvSpPr>
          <p:cNvPr id="25" name="Text 23"/>
          <p:cNvSpPr txBox="1"/>
          <p:nvPr/>
        </p:nvSpPr>
        <p:spPr>
          <a:xfrm>
            <a:off x="868680" y="5413248"/>
            <a:ext cx="10454335" cy="731520"/>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Watch the second-order effect.  </a:t>
            </a:r>
            <a:r>
              <a:rPr lang="en-US" sz="1300" dirty="0">
                <a:solidFill>
                  <a:srgbClr val="6B4A18"/>
                </a:solidFill>
                <a:latin typeface="Calibri" pitchFamily="34" charset="0"/>
                <a:ea typeface="Calibri" pitchFamily="34" charset="-122"/>
                <a:cs typeface="Calibri" pitchFamily="34" charset="-120"/>
              </a:rPr>
              <a:t>Deferring planned work usually raises responsive cost later and shifts capitalised spend into revenue — that hits operating surplus, not just timing.</a:t>
            </a:r>
            <a:endParaRPr lang="en-US" sz="1300" dirty="0"/>
          </a:p>
        </p:txBody>
      </p:sp>
      <p:sp>
        <p:nvSpPr>
          <p:cNvPr id="27" name="Text 24"/>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8" name="Text 25"/>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04  ·  COMMUNICATE</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Escalate early, in balance-sheet terms</a:t>
            </a:r>
            <a:endParaRPr lang="en-US" sz="3000" dirty="0"/>
          </a:p>
        </p:txBody>
      </p:sp>
      <p:sp>
        <p:nvSpPr>
          <p:cNvPr id="4" name="Shape 2"/>
          <p:cNvSpPr/>
          <p:nvPr/>
        </p:nvSpPr>
        <p:spPr>
          <a:xfrm>
            <a:off x="548640" y="1572768"/>
            <a:ext cx="2514600" cy="1051560"/>
          </a:xfrm>
          <a:prstGeom prst="roundRect">
            <a:avLst>
              <a:gd name="adj" fmla="val 5217"/>
            </a:avLst>
          </a:prstGeom>
          <a:solidFill>
            <a:srgbClr val="F1F5F3"/>
          </a:solidFill>
          <a:ln w="12700">
            <a:solidFill>
              <a:srgbClr val="F1F5F3"/>
            </a:solidFill>
            <a:prstDash val="solid"/>
          </a:ln>
        </p:spPr>
        <p:txBody>
          <a:bodyPr/>
          <a:lstStyle/>
          <a:p>
            <a:endParaRPr lang="en-GB"/>
          </a:p>
        </p:txBody>
      </p:sp>
      <p:sp>
        <p:nvSpPr>
          <p:cNvPr id="5" name="Text 3"/>
          <p:cNvSpPr txBox="1"/>
          <p:nvPr/>
        </p:nvSpPr>
        <p:spPr>
          <a:xfrm>
            <a:off x="548640"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Approved</a:t>
            </a:r>
            <a:endParaRPr lang="en-US" sz="1350" dirty="0"/>
          </a:p>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budget</a:t>
            </a:r>
            <a:endParaRPr lang="en-US" sz="1350" dirty="0"/>
          </a:p>
        </p:txBody>
      </p:sp>
      <p:sp>
        <p:nvSpPr>
          <p:cNvPr id="6" name="Text 4"/>
          <p:cNvSpPr txBox="1"/>
          <p:nvPr/>
        </p:nvSpPr>
        <p:spPr>
          <a:xfrm>
            <a:off x="3063240" y="1572768"/>
            <a:ext cx="347472" cy="1051560"/>
          </a:xfrm>
          <a:prstGeom prst="rect">
            <a:avLst/>
          </a:prstGeom>
          <a:noFill/>
          <a:ln/>
        </p:spPr>
        <p:txBody>
          <a:bodyPr wrap="square" lIns="0" tIns="0" rIns="0" bIns="0" rtlCol="0" anchor="ctr"/>
          <a:lstStyle/>
          <a:p>
            <a:pPr marL="0" indent="0" algn="ctr">
              <a:buNone/>
            </a:pPr>
            <a:r>
              <a:rPr lang="en-US" sz="1600" b="1" dirty="0">
                <a:solidFill>
                  <a:srgbClr val="2E7D68"/>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3410712" y="1572768"/>
            <a:ext cx="2514600" cy="1051560"/>
          </a:xfrm>
          <a:prstGeom prst="roundRect">
            <a:avLst>
              <a:gd name="adj" fmla="val 5217"/>
            </a:avLst>
          </a:prstGeom>
          <a:solidFill>
            <a:srgbClr val="F1F5F3"/>
          </a:solidFill>
          <a:ln w="12700">
            <a:solidFill>
              <a:srgbClr val="F1F5F3"/>
            </a:solidFill>
            <a:prstDash val="solid"/>
          </a:ln>
        </p:spPr>
        <p:txBody>
          <a:bodyPr/>
          <a:lstStyle/>
          <a:p>
            <a:endParaRPr lang="en-GB"/>
          </a:p>
        </p:txBody>
      </p:sp>
      <p:sp>
        <p:nvSpPr>
          <p:cNvPr id="8" name="Text 6"/>
          <p:cNvSpPr txBox="1"/>
          <p:nvPr/>
        </p:nvSpPr>
        <p:spPr>
          <a:xfrm>
            <a:off x="3410712"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Delivery</a:t>
            </a:r>
            <a:endParaRPr lang="en-US" sz="1350" dirty="0"/>
          </a:p>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forecast</a:t>
            </a:r>
            <a:endParaRPr lang="en-US" sz="1350" dirty="0"/>
          </a:p>
        </p:txBody>
      </p:sp>
      <p:sp>
        <p:nvSpPr>
          <p:cNvPr id="9" name="Text 7"/>
          <p:cNvSpPr txBox="1"/>
          <p:nvPr/>
        </p:nvSpPr>
        <p:spPr>
          <a:xfrm>
            <a:off x="5925312" y="1572768"/>
            <a:ext cx="347472" cy="1051560"/>
          </a:xfrm>
          <a:prstGeom prst="rect">
            <a:avLst/>
          </a:prstGeom>
          <a:noFill/>
          <a:ln/>
        </p:spPr>
        <p:txBody>
          <a:bodyPr wrap="square" lIns="0" tIns="0" rIns="0" bIns="0" rtlCol="0" anchor="ctr"/>
          <a:lstStyle/>
          <a:p>
            <a:pPr marL="0" indent="0" algn="ctr">
              <a:buNone/>
            </a:pPr>
            <a:r>
              <a:rPr lang="en-US" sz="1600" b="1" dirty="0">
                <a:solidFill>
                  <a:srgbClr val="2E7D6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6272784" y="1572768"/>
            <a:ext cx="2514600" cy="1051560"/>
          </a:xfrm>
          <a:prstGeom prst="roundRect">
            <a:avLst>
              <a:gd name="adj" fmla="val 5217"/>
            </a:avLst>
          </a:prstGeom>
          <a:solidFill>
            <a:srgbClr val="F1F5F3"/>
          </a:solidFill>
          <a:ln w="12700">
            <a:solidFill>
              <a:srgbClr val="F1F5F3"/>
            </a:solidFill>
            <a:prstDash val="solid"/>
          </a:ln>
        </p:spPr>
        <p:txBody>
          <a:bodyPr/>
          <a:lstStyle/>
          <a:p>
            <a:endParaRPr lang="en-GB"/>
          </a:p>
        </p:txBody>
      </p:sp>
      <p:sp>
        <p:nvSpPr>
          <p:cNvPr id="11" name="Text 9"/>
          <p:cNvSpPr txBox="1"/>
          <p:nvPr/>
        </p:nvSpPr>
        <p:spPr>
          <a:xfrm>
            <a:off x="6272784"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Owned</a:t>
            </a:r>
            <a:endParaRPr lang="en-US" sz="1350" dirty="0"/>
          </a:p>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mitigations</a:t>
            </a:r>
            <a:endParaRPr lang="en-US" sz="1350" dirty="0"/>
          </a:p>
        </p:txBody>
      </p:sp>
      <p:sp>
        <p:nvSpPr>
          <p:cNvPr id="12" name="Text 10"/>
          <p:cNvSpPr txBox="1"/>
          <p:nvPr/>
        </p:nvSpPr>
        <p:spPr>
          <a:xfrm>
            <a:off x="8787384" y="1572768"/>
            <a:ext cx="347472" cy="1051560"/>
          </a:xfrm>
          <a:prstGeom prst="rect">
            <a:avLst/>
          </a:prstGeom>
          <a:noFill/>
          <a:ln/>
        </p:spPr>
        <p:txBody>
          <a:bodyPr wrap="square" lIns="0" tIns="0" rIns="0" bIns="0" rtlCol="0" anchor="ctr"/>
          <a:lstStyle/>
          <a:p>
            <a:pPr marL="0" indent="0" algn="ctr">
              <a:buNone/>
            </a:pPr>
            <a:r>
              <a:rPr lang="en-US" sz="1600" b="1" dirty="0">
                <a:solidFill>
                  <a:srgbClr val="2E7D68"/>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9134856" y="1572768"/>
            <a:ext cx="2514600" cy="1051560"/>
          </a:xfrm>
          <a:prstGeom prst="roundRect">
            <a:avLst>
              <a:gd name="adj" fmla="val 5217"/>
            </a:avLst>
          </a:prstGeom>
          <a:solidFill>
            <a:srgbClr val="13453B"/>
          </a:solidFill>
          <a:ln w="12700">
            <a:solidFill>
              <a:srgbClr val="13453B"/>
            </a:solidFill>
            <a:prstDash val="solid"/>
          </a:ln>
        </p:spPr>
        <p:txBody>
          <a:bodyPr/>
          <a:lstStyle/>
          <a:p>
            <a:endParaRPr lang="en-GB"/>
          </a:p>
        </p:txBody>
      </p:sp>
      <p:sp>
        <p:nvSpPr>
          <p:cNvPr id="14" name="Text 12"/>
          <p:cNvSpPr txBox="1"/>
          <p:nvPr/>
        </p:nvSpPr>
        <p:spPr>
          <a:xfrm>
            <a:off x="9134856"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FFFFFF"/>
                </a:solidFill>
                <a:latin typeface="Calibri" pitchFamily="34" charset="0"/>
                <a:ea typeface="Calibri" pitchFamily="34" charset="-122"/>
                <a:cs typeface="Calibri" pitchFamily="34" charset="-120"/>
              </a:rPr>
              <a:t>Residual gap</a:t>
            </a:r>
            <a:endParaRPr lang="en-US" sz="1350" dirty="0"/>
          </a:p>
          <a:p>
            <a:pPr marL="0" indent="0" algn="ctr">
              <a:lnSpc>
                <a:spcPts val="1700"/>
              </a:lnSpc>
              <a:buNone/>
            </a:pPr>
            <a:r>
              <a:rPr lang="en-US" sz="1350" b="1" dirty="0">
                <a:solidFill>
                  <a:srgbClr val="FFFFFF"/>
                </a:solidFill>
                <a:latin typeface="Calibri" pitchFamily="34" charset="0"/>
                <a:ea typeface="Calibri" pitchFamily="34" charset="-122"/>
                <a:cs typeface="Calibri" pitchFamily="34" charset="-120"/>
              </a:rPr>
              <a:t>+ downside</a:t>
            </a:r>
            <a:endParaRPr lang="en-US" sz="1350" dirty="0"/>
          </a:p>
        </p:txBody>
      </p:sp>
      <p:sp>
        <p:nvSpPr>
          <p:cNvPr id="15" name="Text 13"/>
          <p:cNvSpPr txBox="1"/>
          <p:nvPr/>
        </p:nvSpPr>
        <p:spPr>
          <a:xfrm>
            <a:off x="548640" y="2926080"/>
            <a:ext cx="11094415" cy="329184"/>
          </a:xfrm>
          <a:prstGeom prst="rect">
            <a:avLst/>
          </a:prstGeom>
          <a:noFill/>
          <a:ln/>
        </p:spPr>
        <p:txBody>
          <a:bodyPr wrap="square" lIns="0" tIns="0" rIns="0" bIns="0" rtlCol="0" anchor="ctr"/>
          <a:lstStyle/>
          <a:p>
            <a:pPr marL="0" indent="0">
              <a:buNone/>
            </a:pPr>
            <a:r>
              <a:rPr lang="en-US" sz="1400" b="1" dirty="0">
                <a:solidFill>
                  <a:srgbClr val="13453B"/>
                </a:solidFill>
                <a:latin typeface="Calibri" pitchFamily="34" charset="0"/>
                <a:ea typeface="Calibri" pitchFamily="34" charset="-122"/>
                <a:cs typeface="Calibri" pitchFamily="34" charset="-120"/>
              </a:rPr>
              <a:t>Why an R&amp;M variance is not just a cost variance at Codi</a:t>
            </a:r>
            <a:endParaRPr lang="en-US" sz="1400" dirty="0"/>
          </a:p>
        </p:txBody>
      </p:sp>
      <p:sp>
        <p:nvSpPr>
          <p:cNvPr id="16" name="Shape 14"/>
          <p:cNvSpPr/>
          <p:nvPr/>
        </p:nvSpPr>
        <p:spPr>
          <a:xfrm>
            <a:off x="548640" y="3337560"/>
            <a:ext cx="11094415" cy="960120"/>
          </a:xfrm>
          <a:prstGeom prst="roundRect">
            <a:avLst>
              <a:gd name="adj" fmla="val 5714"/>
            </a:avLst>
          </a:prstGeom>
          <a:solidFill>
            <a:srgbClr val="F1F5F3"/>
          </a:solidFill>
          <a:ln w="12700">
            <a:solidFill>
              <a:srgbClr val="F1F5F3"/>
            </a:solidFill>
            <a:prstDash val="solid"/>
          </a:ln>
        </p:spPr>
        <p:txBody>
          <a:bodyPr/>
          <a:lstStyle/>
          <a:p>
            <a:endParaRPr lang="en-GB"/>
          </a:p>
        </p:txBody>
      </p:sp>
      <p:sp>
        <p:nvSpPr>
          <p:cNvPr id="17" name="Text 15"/>
          <p:cNvSpPr txBox="1"/>
          <p:nvPr/>
        </p:nvSpPr>
        <p:spPr>
          <a:xfrm>
            <a:off x="868680" y="3465576"/>
            <a:ext cx="3931920" cy="292608"/>
          </a:xfrm>
          <a:prstGeom prst="rect">
            <a:avLst/>
          </a:prstGeom>
          <a:noFill/>
          <a:ln/>
        </p:spPr>
        <p:txBody>
          <a:bodyPr wrap="square" lIns="0" tIns="0" rIns="0" bIns="0" rtlCol="0" anchor="ctr"/>
          <a:lstStyle/>
          <a:p>
            <a:pPr marL="0" indent="0">
              <a:buNone/>
            </a:pPr>
            <a:r>
              <a:rPr lang="en-US" sz="1300" b="1" dirty="0">
                <a:solidFill>
                  <a:srgbClr val="C8892F"/>
                </a:solidFill>
                <a:latin typeface="Calibri" pitchFamily="34" charset="0"/>
                <a:ea typeface="Calibri" pitchFamily="34" charset="-122"/>
                <a:cs typeface="Calibri" pitchFamily="34" charset="-120"/>
              </a:rPr>
              <a:t>Viability graded Yellow</a:t>
            </a:r>
            <a:endParaRPr lang="en-US" sz="1300" dirty="0"/>
          </a:p>
        </p:txBody>
      </p:sp>
      <p:sp>
        <p:nvSpPr>
          <p:cNvPr id="18" name="Text 16"/>
          <p:cNvSpPr txBox="1"/>
          <p:nvPr/>
        </p:nvSpPr>
        <p:spPr>
          <a:xfrm>
            <a:off x="868680" y="3776472"/>
            <a:ext cx="10454335" cy="438912"/>
          </a:xfrm>
          <a:prstGeom prst="rect">
            <a:avLst/>
          </a:prstGeom>
          <a:noFill/>
          <a:ln/>
        </p:spPr>
        <p:txBody>
          <a:bodyPr wrap="square" lIns="0" tIns="0" rIns="0" bIns="0" rtlCol="0" anchor="ctr"/>
          <a:lstStyle/>
          <a:p>
            <a:pPr marL="0" indent="0">
              <a:buNone/>
            </a:pPr>
            <a:r>
              <a:rPr lang="en-US" sz="1150" dirty="0">
                <a:solidFill>
                  <a:srgbClr val="33423D"/>
                </a:solidFill>
                <a:latin typeface="Calibri" pitchFamily="34" charset="0"/>
                <a:ea typeface="Calibri" pitchFamily="34" charset="-122"/>
                <a:cs typeface="Calibri" pitchFamily="34" charset="-120"/>
              </a:rPr>
              <a:t>The July 2026 regulatory judgement retained the governance grade and identified the effect of the development and planned maintenance programme on financial metrics.</a:t>
            </a:r>
            <a:endParaRPr lang="en-US" sz="1150" dirty="0"/>
          </a:p>
        </p:txBody>
      </p:sp>
      <p:sp>
        <p:nvSpPr>
          <p:cNvPr id="19" name="Shape 17"/>
          <p:cNvSpPr/>
          <p:nvPr/>
        </p:nvSpPr>
        <p:spPr>
          <a:xfrm>
            <a:off x="548640" y="4434840"/>
            <a:ext cx="11094415" cy="960120"/>
          </a:xfrm>
          <a:prstGeom prst="roundRect">
            <a:avLst>
              <a:gd name="adj" fmla="val 5714"/>
            </a:avLst>
          </a:prstGeom>
          <a:solidFill>
            <a:srgbClr val="F1F5F3"/>
          </a:solidFill>
          <a:ln w="12700">
            <a:solidFill>
              <a:srgbClr val="F1F5F3"/>
            </a:solidFill>
            <a:prstDash val="solid"/>
          </a:ln>
        </p:spPr>
        <p:txBody>
          <a:bodyPr/>
          <a:lstStyle/>
          <a:p>
            <a:endParaRPr lang="en-GB"/>
          </a:p>
        </p:txBody>
      </p:sp>
      <p:sp>
        <p:nvSpPr>
          <p:cNvPr id="20" name="Text 18"/>
          <p:cNvSpPr txBox="1"/>
          <p:nvPr/>
        </p:nvSpPr>
        <p:spPr>
          <a:xfrm>
            <a:off x="868680" y="4562856"/>
            <a:ext cx="3931920" cy="292608"/>
          </a:xfrm>
          <a:prstGeom prst="rect">
            <a:avLst/>
          </a:prstGeom>
          <a:noFill/>
          <a:ln/>
        </p:spPr>
        <p:txBody>
          <a:bodyPr wrap="square" lIns="0" tIns="0" rIns="0" bIns="0" rtlCol="0" anchor="ctr"/>
          <a:lstStyle/>
          <a:p>
            <a:pPr marL="0" indent="0">
              <a:buNone/>
            </a:pPr>
            <a:r>
              <a:rPr lang="en-US" sz="1300" b="1" dirty="0">
                <a:solidFill>
                  <a:srgbClr val="C8892F"/>
                </a:solidFill>
                <a:latin typeface="Calibri" pitchFamily="34" charset="0"/>
                <a:ea typeface="Calibri" pitchFamily="34" charset="-122"/>
                <a:cs typeface="Calibri" pitchFamily="34" charset="-120"/>
              </a:rPr>
              <a:t>£130m sustainability-linked facility</a:t>
            </a:r>
            <a:endParaRPr lang="en-US" sz="1300" dirty="0"/>
          </a:p>
        </p:txBody>
      </p:sp>
      <p:sp>
        <p:nvSpPr>
          <p:cNvPr id="21" name="Text 19"/>
          <p:cNvSpPr txBox="1"/>
          <p:nvPr/>
        </p:nvSpPr>
        <p:spPr>
          <a:xfrm>
            <a:off x="868680" y="4873752"/>
            <a:ext cx="10454335" cy="438912"/>
          </a:xfrm>
          <a:prstGeom prst="rect">
            <a:avLst/>
          </a:prstGeom>
          <a:noFill/>
          <a:ln/>
        </p:spPr>
        <p:txBody>
          <a:bodyPr wrap="square" lIns="0" tIns="0" rIns="0" bIns="0" rtlCol="0" anchor="ctr"/>
          <a:lstStyle/>
          <a:p>
            <a:pPr marL="0" indent="0">
              <a:buNone/>
            </a:pPr>
            <a:r>
              <a:rPr lang="en-US" sz="1150" dirty="0">
                <a:solidFill>
                  <a:srgbClr val="33423D"/>
                </a:solidFill>
                <a:latin typeface="Calibri" pitchFamily="34" charset="0"/>
                <a:ea typeface="Calibri" pitchFamily="34" charset="-122"/>
                <a:cs typeface="Calibri" pitchFamily="34" charset="-120"/>
              </a:rPr>
              <a:t>Margin is tied to environmental and social targets. Retrofit and planned works delivery therefore carries a cost-of-debt consequence, not only a cost consequence.</a:t>
            </a:r>
            <a:endParaRPr lang="en-US" sz="1150" dirty="0"/>
          </a:p>
        </p:txBody>
      </p:sp>
      <p:sp>
        <p:nvSpPr>
          <p:cNvPr id="22" name="Text 20"/>
          <p:cNvSpPr txBox="1"/>
          <p:nvPr/>
        </p:nvSpPr>
        <p:spPr>
          <a:xfrm>
            <a:off x="548640" y="5623560"/>
            <a:ext cx="11094415" cy="411480"/>
          </a:xfrm>
          <a:prstGeom prst="rect">
            <a:avLst/>
          </a:prstGeom>
          <a:noFill/>
          <a:ln/>
        </p:spPr>
        <p:txBody>
          <a:bodyPr wrap="square" lIns="0" tIns="0" rIns="0" bIns="0" rtlCol="0" anchor="ctr"/>
          <a:lstStyle/>
          <a:p>
            <a:pPr marL="0" indent="0">
              <a:buNone/>
            </a:pPr>
            <a:r>
              <a:rPr lang="en-US" sz="1350" dirty="0">
                <a:solidFill>
                  <a:srgbClr val="33423D"/>
                </a:solidFill>
                <a:latin typeface="Calibri" pitchFamily="34" charset="0"/>
                <a:ea typeface="Calibri" pitchFamily="34" charset="-122"/>
                <a:cs typeface="Calibri" pitchFamily="34" charset="-120"/>
              </a:rPr>
              <a:t>So the escalation says: </a:t>
            </a:r>
            <a:r>
              <a:rPr lang="en-US" sz="1350" b="1" dirty="0">
                <a:solidFill>
                  <a:srgbClr val="16211E"/>
                </a:solidFill>
                <a:latin typeface="Calibri" pitchFamily="34" charset="0"/>
                <a:ea typeface="Calibri" pitchFamily="34" charset="-122"/>
                <a:cs typeface="Calibri" pitchFamily="34" charset="-120"/>
              </a:rPr>
              <a:t>here is the gap, here is what I recommend, here is the alternative, and here is what happens if we do nothing.</a:t>
            </a:r>
            <a:endParaRPr lang="en-US" sz="1350" dirty="0"/>
          </a:p>
        </p:txBody>
      </p:sp>
      <p:sp>
        <p:nvSpPr>
          <p:cNvPr id="24" name="Text 21"/>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5" name="Text 22"/>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453B"/>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05  ·  MEASURE</a:t>
            </a:r>
            <a:endParaRPr lang="en-US" sz="1000" dirty="0"/>
          </a:p>
        </p:txBody>
      </p:sp>
      <p:sp>
        <p:nvSpPr>
          <p:cNvPr id="3" name="Text 1"/>
          <p:cNvSpPr txBox="1"/>
          <p:nvPr/>
        </p:nvSpPr>
        <p:spPr>
          <a:xfrm>
            <a:off x="548640" y="777240"/>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Measure the money and the home</a:t>
            </a:r>
            <a:endParaRPr lang="en-US" sz="3000" dirty="0"/>
          </a:p>
        </p:txBody>
      </p:sp>
      <p:sp>
        <p:nvSpPr>
          <p:cNvPr id="4" name="Text 2"/>
          <p:cNvSpPr txBox="1"/>
          <p:nvPr/>
        </p:nvSpPr>
        <p:spPr>
          <a:xfrm>
            <a:off x="548640" y="1371600"/>
            <a:ext cx="11094415" cy="292608"/>
          </a:xfrm>
          <a:prstGeom prst="rect">
            <a:avLst/>
          </a:prstGeom>
          <a:noFill/>
          <a:ln/>
        </p:spPr>
        <p:txBody>
          <a:bodyPr wrap="square" lIns="0" tIns="0" rIns="0" bIns="0" rtlCol="0" anchor="ctr"/>
          <a:lstStyle/>
          <a:p>
            <a:pPr marL="0" indent="0">
              <a:buNone/>
            </a:pPr>
            <a:r>
              <a:rPr lang="en-US" sz="1350" i="1" dirty="0">
                <a:solidFill>
                  <a:srgbClr val="9CC7B8"/>
                </a:solidFill>
                <a:latin typeface="Calibri" pitchFamily="34" charset="0"/>
                <a:ea typeface="Calibri" pitchFamily="34" charset="-122"/>
                <a:cs typeface="Calibri" pitchFamily="34" charset="-120"/>
              </a:rPr>
              <a:t>A short set, each with a definition, a baseline, an owner and a trigger.</a:t>
            </a:r>
            <a:endParaRPr lang="en-US" sz="1350" dirty="0"/>
          </a:p>
        </p:txBody>
      </p:sp>
      <p:sp>
        <p:nvSpPr>
          <p:cNvPr id="5" name="Text 3"/>
          <p:cNvSpPr txBox="1"/>
          <p:nvPr/>
        </p:nvSpPr>
        <p:spPr>
          <a:xfrm>
            <a:off x="548640" y="1965960"/>
            <a:ext cx="5212080" cy="274320"/>
          </a:xfrm>
          <a:prstGeom prst="rect">
            <a:avLst/>
          </a:prstGeom>
          <a:noFill/>
          <a:ln/>
        </p:spPr>
        <p:txBody>
          <a:bodyPr wrap="square" lIns="0" tIns="0" rIns="0" bIns="0" rtlCol="0" anchor="ctr"/>
          <a:lstStyle/>
          <a:p>
            <a:pPr marL="0" indent="0">
              <a:buNone/>
            </a:pPr>
            <a:r>
              <a:rPr lang="en-US" sz="1100" b="1" kern="0" spc="180" dirty="0">
                <a:solidFill>
                  <a:srgbClr val="C8892F"/>
                </a:solidFill>
                <a:latin typeface="Calibri" pitchFamily="34" charset="0"/>
                <a:ea typeface="Calibri" pitchFamily="34" charset="-122"/>
                <a:cs typeface="Calibri" pitchFamily="34" charset="-120"/>
              </a:rPr>
              <a:t>FINANCIAL</a:t>
            </a:r>
            <a:endParaRPr lang="en-US" sz="1100" dirty="0"/>
          </a:p>
        </p:txBody>
      </p:sp>
      <p:sp>
        <p:nvSpPr>
          <p:cNvPr id="6" name="Text 4"/>
          <p:cNvSpPr txBox="1"/>
          <p:nvPr/>
        </p:nvSpPr>
        <p:spPr>
          <a:xfrm>
            <a:off x="585216" y="2359152"/>
            <a:ext cx="5175504" cy="23774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Forecast gap, and movement since last forecast</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Net benefit delivered against the agreed action profile</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Share of spend capitalised versus revenue</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Cost per job, adjusted for work mix</a:t>
            </a:r>
            <a:endParaRPr lang="en-US" sz="1300" dirty="0"/>
          </a:p>
        </p:txBody>
      </p:sp>
      <p:sp>
        <p:nvSpPr>
          <p:cNvPr id="7" name="Text 5"/>
          <p:cNvSpPr txBox="1"/>
          <p:nvPr/>
        </p:nvSpPr>
        <p:spPr>
          <a:xfrm>
            <a:off x="6263640" y="1965960"/>
            <a:ext cx="5212080" cy="274320"/>
          </a:xfrm>
          <a:prstGeom prst="rect">
            <a:avLst/>
          </a:prstGeom>
          <a:noFill/>
          <a:ln/>
        </p:spPr>
        <p:txBody>
          <a:bodyPr wrap="square" lIns="0" tIns="0" rIns="0" bIns="0" rtlCol="0" anchor="ctr"/>
          <a:lstStyle/>
          <a:p>
            <a:pPr marL="0" indent="0">
              <a:buNone/>
            </a:pPr>
            <a:r>
              <a:rPr lang="en-US" sz="1100" b="1" kern="0" spc="180" dirty="0">
                <a:solidFill>
                  <a:srgbClr val="C8892F"/>
                </a:solidFill>
                <a:latin typeface="Calibri" pitchFamily="34" charset="0"/>
                <a:ea typeface="Calibri" pitchFamily="34" charset="-122"/>
                <a:cs typeface="Calibri" pitchFamily="34" charset="-120"/>
              </a:rPr>
              <a:t>SERVICE AND RESIDENT</a:t>
            </a:r>
            <a:endParaRPr lang="en-US" sz="1100" dirty="0"/>
          </a:p>
        </p:txBody>
      </p:sp>
      <p:sp>
        <p:nvSpPr>
          <p:cNvPr id="8" name="Text 6"/>
          <p:cNvSpPr txBox="1"/>
          <p:nvPr/>
        </p:nvSpPr>
        <p:spPr>
          <a:xfrm>
            <a:off x="6300216" y="2359152"/>
            <a:ext cx="5175504" cy="23774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WHQS hazard response compliance</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First-time fix and repeat visits</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Jobs per operative — is insourced capacity landing?</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Backlog age and overdue safety work</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Satisfaction and repeat contact</a:t>
            </a:r>
            <a:endParaRPr lang="en-US" sz="1300" dirty="0"/>
          </a:p>
        </p:txBody>
      </p:sp>
      <p:sp>
        <p:nvSpPr>
          <p:cNvPr id="9" name="Shape 7"/>
          <p:cNvSpPr/>
          <p:nvPr/>
        </p:nvSpPr>
        <p:spPr>
          <a:xfrm>
            <a:off x="548640" y="4224528"/>
            <a:ext cx="11094415" cy="0"/>
          </a:xfrm>
          <a:prstGeom prst="line">
            <a:avLst/>
          </a:prstGeom>
          <a:noFill/>
          <a:ln w="12700">
            <a:solidFill>
              <a:srgbClr val="2E7D68"/>
            </a:solidFill>
            <a:prstDash val="solid"/>
          </a:ln>
        </p:spPr>
        <p:txBody>
          <a:bodyPr/>
          <a:lstStyle/>
          <a:p>
            <a:endParaRPr lang="en-GB"/>
          </a:p>
        </p:txBody>
      </p:sp>
      <p:sp>
        <p:nvSpPr>
          <p:cNvPr id="10" name="Text 8"/>
          <p:cNvSpPr txBox="1"/>
          <p:nvPr/>
        </p:nvSpPr>
        <p:spPr>
          <a:xfrm>
            <a:off x="548640" y="4389120"/>
            <a:ext cx="11094415" cy="292608"/>
          </a:xfrm>
          <a:prstGeom prst="rect">
            <a:avLst/>
          </a:prstGeom>
          <a:noFill/>
          <a:ln/>
        </p:spPr>
        <p:txBody>
          <a:bodyPr wrap="square" lIns="0" tIns="0" rIns="0" bIns="0" rtlCol="0" anchor="ctr"/>
          <a:lstStyle/>
          <a:p>
            <a:pPr marL="0" indent="0">
              <a:buNone/>
            </a:pPr>
            <a:r>
              <a:rPr lang="en-US" sz="1250" dirty="0">
                <a:solidFill>
                  <a:srgbClr val="9CC7B8"/>
                </a:solidFill>
                <a:latin typeface="Calibri" pitchFamily="34" charset="0"/>
                <a:ea typeface="Calibri" pitchFamily="34" charset="-122"/>
                <a:cs typeface="Calibri" pitchFamily="34" charset="-120"/>
              </a:rPr>
              <a:t>Weekly operational exception review. Monthly signed-off financial position. Safety escalates immediately.</a:t>
            </a:r>
            <a:endParaRPr lang="en-US" sz="1250" dirty="0"/>
          </a:p>
        </p:txBody>
      </p:sp>
      <p:sp>
        <p:nvSpPr>
          <p:cNvPr id="11" name="Text 9"/>
          <p:cNvSpPr txBox="1"/>
          <p:nvPr/>
        </p:nvSpPr>
        <p:spPr>
          <a:xfrm>
            <a:off x="548640" y="5029200"/>
            <a:ext cx="10881360" cy="1005840"/>
          </a:xfrm>
          <a:prstGeom prst="rect">
            <a:avLst/>
          </a:prstGeom>
          <a:noFill/>
          <a:ln/>
        </p:spPr>
        <p:txBody>
          <a:bodyPr wrap="square" lIns="0" tIns="0" rIns="0" bIns="0" rtlCol="0" anchor="t"/>
          <a:lstStyle/>
          <a:p>
            <a:pPr marL="0" indent="0">
              <a:lnSpc>
                <a:spcPts val="3000"/>
              </a:lnSpc>
              <a:buNone/>
            </a:pPr>
            <a:r>
              <a:rPr lang="en-US" sz="2100" b="1" i="1" dirty="0">
                <a:solidFill>
                  <a:srgbClr val="FFFFFF"/>
                </a:solidFill>
                <a:latin typeface="Cambria" pitchFamily="34" charset="0"/>
                <a:ea typeface="Cambria" pitchFamily="34" charset="-122"/>
                <a:cs typeface="Cambria" pitchFamily="34" charset="-120"/>
              </a:rPr>
              <a:t>What success looks like: a number the operation recognises, a forecast that stops moving, and a resident who does not have to ring twice.</a:t>
            </a:r>
            <a:endParaRPr lang="en-US" sz="2100" dirty="0"/>
          </a:p>
        </p:txBody>
      </p:sp>
      <p:sp>
        <p:nvSpPr>
          <p:cNvPr id="13" name="Text 10"/>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14" name="Text 11"/>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e8712ce-4b1c-42f0-8103-696d10633cf9}" enabled="1" method="Privileged" siteId="{ddd66cce-ffe1-4029-967c-5e15ef73127f}" contentBits="3" removed="0"/>
</clbl:labelList>
</file>

<file path=docProps/app.xml><?xml version="1.0" encoding="utf-8"?>
<Properties xmlns="http://schemas.openxmlformats.org/officeDocument/2006/extended-properties" xmlns:vt="http://schemas.openxmlformats.org/officeDocument/2006/docPropsVTypes">
  <TotalTime>115</TotalTime>
  <Words>2587</Words>
  <Application>Microsoft Office PowerPoint</Application>
  <PresentationFormat>Widescreen</PresentationFormat>
  <Paragraphs>144</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Mylius Modern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Financial Performance Across Repairs &amp; Maintenance</dc:title>
  <dc:subject>PptxGenJS Presentation</dc:subject>
  <dc:creator>Sandra Vermaak</dc:creator>
  <cp:lastModifiedBy>Sandra Vermaak</cp:lastModifiedBy>
  <cp:revision>7</cp:revision>
  <dcterms:created xsi:type="dcterms:W3CDTF">2026-09-08T16:28:24Z</dcterms:created>
  <dcterms:modified xsi:type="dcterms:W3CDTF">2026-09-09T10:04:41Z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INTERNAL</vt:lpwstr>
  </property>
</Properties>
</file>