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8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 GROUP  ·  INTERVIEW PRESENTATION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Financial Performance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Repairs &amp; Maintenance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4892040"/>
            <a:ext cx="2743200" cy="0"/>
          </a:xfrm>
          <a:prstGeom prst="line">
            <a:avLst/>
          </a:prstGeom>
          <a:noFill/>
          <a:ln w="19050">
            <a:solidFill>
              <a:srgbClr val="2E7D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68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 ·  Finance Business Partner, Repairs &amp; Maintenance  ·  September 2026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  ·  Codi Group  ·  Finance Business Partner interview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INVESTIGATE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the number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13453B"/>
          </a:solidFill>
          <a:ln w="12700">
            <a:solidFill>
              <a:srgbClr val="1345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£4,000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home, per year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c.£100m across c.25,000 homes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that level this is not only a responsive repairs budget. It spans several services with different cost behaviours – and it straddles both Revenue (operational expenditure) and Capital.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600200"/>
            <a:ext cx="6611112" cy="1024128"/>
          </a:xfrm>
          <a:prstGeom prst="roundRect">
            <a:avLst>
              <a:gd name="adj" fmla="val 535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303520" y="1746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/ reactive repairs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Demand-led, volatile, difficult to forecast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966960" y="1746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770632"/>
            <a:ext cx="6611112" cy="1024128"/>
          </a:xfrm>
          <a:prstGeom prst="roundRect">
            <a:avLst>
              <a:gd name="adj" fmla="val 535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303520" y="29169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Servicing, decoration – predictable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3941064"/>
            <a:ext cx="6611112" cy="1024128"/>
          </a:xfrm>
          <a:prstGeom prst="roundRect">
            <a:avLst>
              <a:gd name="adj" fmla="val 535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30352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416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spend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4087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5111496"/>
            <a:ext cx="6611112" cy="1024128"/>
          </a:xfrm>
          <a:prstGeom prst="roundRect">
            <a:avLst>
              <a:gd name="adj" fmla="val 535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5303520" y="5257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&amp; major works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586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replacement, WHQS, retrofit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966960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capital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  ·  Codi Group  ·  Finance Business Partner interview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INVESTIGATE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typically drives an overspend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5292"/>
            <a:ext cx="110944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en-US" sz="1350" i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 – errors, phasing, accruals and adjustments or allocations – GL deep dive.</a:t>
            </a:r>
          </a:p>
          <a:p>
            <a:pPr marL="342900" indent="-342900">
              <a:buAutoNum type="arabicPeriod"/>
            </a:pPr>
            <a:r>
              <a:rPr lang="en-US" sz="1350" i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once off or an emerging trend?</a:t>
            </a:r>
          </a:p>
          <a:p>
            <a:pPr marL="342900" indent="-342900">
              <a:buAutoNum type="arabicPeriod"/>
            </a:pPr>
            <a:r>
              <a:rPr lang="en-US" sz="1350" i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actuals to PY as well as forecast – have the forecast assumptions changed?</a:t>
            </a:r>
          </a:p>
          <a:p>
            <a:endParaRPr lang="en-US" sz="1350" i="1" dirty="0">
              <a:solidFill>
                <a:srgbClr val="2E7D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50" i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split the variance three ways.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98064"/>
            <a:ext cx="3483864" cy="2916936"/>
          </a:xfrm>
          <a:prstGeom prst="roundRect">
            <a:avLst>
              <a:gd name="adj" fmla="val 157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49808" y="2852928"/>
            <a:ext cx="420624" cy="420624"/>
          </a:xfrm>
          <a:prstGeom prst="ellipse">
            <a:avLst/>
          </a:prstGeom>
          <a:solidFill>
            <a:srgbClr val="1345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749808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2898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8328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doing more jobs than the budget assumed.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70832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numbers by type against budget and last year. Backlog, seasonality, and any change in demand.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2798064"/>
            <a:ext cx="3483864" cy="2916936"/>
          </a:xfrm>
          <a:prstGeom prst="roundRect">
            <a:avLst>
              <a:gd name="adj" fmla="val 157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53712" y="2852928"/>
            <a:ext cx="420624" cy="420624"/>
          </a:xfrm>
          <a:prstGeom prst="ellipse">
            <a:avLst/>
          </a:prstGeom>
          <a:solidFill>
            <a:srgbClr val="C889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553712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2898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72583" y="338328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is costing more than we assumed.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72583" y="4370832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job on like-for-like work. Labour and material rates, and the split between in-house and contractor.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6448" y="2798064"/>
            <a:ext cx="3483864" cy="2916936"/>
          </a:xfrm>
          <a:prstGeom prst="roundRect">
            <a:avLst>
              <a:gd name="adj" fmla="val 157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357616" y="2852928"/>
            <a:ext cx="420624" cy="420624"/>
          </a:xfrm>
          <a:prstGeom prst="ellipse">
            <a:avLst/>
          </a:prstGeom>
          <a:solidFill>
            <a:srgbClr val="1345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8357616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42832" y="2898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476488" y="338328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different, or more complicated, than planned. Productivity.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476488" y="4370832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types and complexity. Emergency against planned. Which properties or areas are driving it.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I'd walk through jobs with the operational team so the financial explanation matches what is happening on the ground.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  ·  Codi Group  ·  Finance Business Partner interview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FORECAST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the forecast with the people who own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13453B"/>
          </a:solidFill>
          <a:ln w="12700">
            <a:solidFill>
              <a:srgbClr val="1345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 +  committed cost  +  ( remaining demand  ×  evidenced unit cost )  =  FYF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420624" cy="420624"/>
          </a:xfrm>
          <a:prstGeom prst="ellipse">
            <a:avLst/>
          </a:prstGeom>
          <a:solidFill>
            <a:srgbClr val="1345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4864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615184"/>
            <a:ext cx="2917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</a:rPr>
              <a:t>Agree the plan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3441801"/>
            <a:ext cx="3392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plan for the year with detailed timing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productivity – manpower available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mix and complexity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rates and variations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3458" y="2578608"/>
            <a:ext cx="420624" cy="420624"/>
          </a:xfrm>
          <a:prstGeom prst="ellipse">
            <a:avLst/>
          </a:prstGeom>
          <a:solidFill>
            <a:srgbClr val="1345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4353458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20386" y="2615184"/>
            <a:ext cx="2917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the work honestly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90034" y="3441801"/>
            <a:ext cx="3392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run rate as a cost guide, agree an inflationary increase to be used across all finance areas.</a:t>
            </a:r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– before adjustments</a:t>
            </a:r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cs typeface="Calibri" pitchFamily="34" charset="-120"/>
              </a:rPr>
              <a:t>Overall picture – identify and embed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8277" y="2578608"/>
            <a:ext cx="420624" cy="420624"/>
          </a:xfrm>
          <a:prstGeom prst="ellipse">
            <a:avLst/>
          </a:prstGeom>
          <a:solidFill>
            <a:srgbClr val="1345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8158277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25205" y="2615184"/>
            <a:ext cx="2917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buy-in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94853" y="3441801"/>
            <a:ext cx="3392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with the operations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disagreements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  ·  Codi Group  ·  Finance Business Partner interview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MANAGE THE RISK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5897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risk and opportunities – escalate early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420624" cy="420624"/>
          </a:xfrm>
          <a:prstGeom prst="ellipse">
            <a:avLst/>
          </a:prstGeom>
          <a:solidFill>
            <a:srgbClr val="1345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48640" y="1362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81341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</a:rPr>
              <a:t>Planning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692237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200" dirty="0"/>
              <a:t>Properly understand the nature, volume and complexity of the planned work</a:t>
            </a:r>
          </a:p>
          <a:p>
            <a:r>
              <a:rPr lang="en-GB" sz="1200" dirty="0"/>
              <a:t>Predefined rates
Monetary threshold for repairs vs capex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420624" cy="420624"/>
          </a:xfrm>
          <a:prstGeom prst="ellipse">
            <a:avLst/>
          </a:prstGeom>
          <a:solidFill>
            <a:srgbClr val="2E7D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4864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4871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available capacity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834639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first-time fix and scheduling across the in-house team.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cs typeface="Calibri" pitchFamily="34" charset="-120"/>
              </a:rPr>
              <a:t>Fixed scope of work – guard against scope creep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420624" cy="420624"/>
          </a:xfrm>
          <a:prstGeom prst="ellipse">
            <a:avLst/>
          </a:prstGeom>
          <a:solidFill>
            <a:srgbClr val="2E7D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5486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4198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additional spend not in budget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76732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variations, rates on like-for-like work.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cs typeface="Calibri" pitchFamily="34" charset="-120"/>
              </a:rPr>
              <a:t>Variance to budget – causal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420624" cy="420624"/>
          </a:xfrm>
          <a:prstGeom prst="ellipse">
            <a:avLst/>
          </a:prstGeom>
          <a:solidFill>
            <a:srgbClr val="C889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52852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Rephase selectively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563270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planned work only.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  ·  Codi Group  ·  Finance Business Partner interview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Comment Bubble 1"/>
          <p:cNvSpPr/>
          <p:nvPr/>
        </p:nvSpPr>
        <p:spPr>
          <a:xfrm>
            <a:off x="6400800" y="1609344"/>
            <a:ext cx="5239512" cy="713232"/>
          </a:xfrm>
          <a:prstGeom prst="ellipse">
            <a:avLst/>
          </a:prstGeom>
          <a:solidFill>
            <a:srgbClr val="EDF5F2"/>
          </a:solidFill>
          <a:ln w="15875">
            <a:solidFill>
              <a:srgbClr val="2E7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EF32A465-1C8A-8D70-6B0F-ED64922D3838}"/>
              </a:ext>
            </a:extLst>
          </p:cNvPr>
          <p:cNvSpPr txBox="1"/>
          <p:nvPr/>
        </p:nvSpPr>
        <p:spPr>
          <a:xfrm>
            <a:off x="6647688" y="1691639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issues, compliance and statutory response times and requirements – can't be cut</a:t>
            </a:r>
            <a:endParaRPr lang="en-US" sz="1200"/>
          </a:p>
        </p:txBody>
      </p:sp>
      <p:sp>
        <p:nvSpPr>
          <p:cNvPr id="34" name="Comment Bubble 2"/>
          <p:cNvSpPr/>
          <p:nvPr/>
        </p:nvSpPr>
        <p:spPr>
          <a:xfrm>
            <a:off x="6400800" y="2542032"/>
            <a:ext cx="5239512" cy="713232"/>
          </a:xfrm>
          <a:prstGeom prst="ellipse">
            <a:avLst/>
          </a:prstGeom>
          <a:solidFill>
            <a:srgbClr val="EDF5F2"/>
          </a:solidFill>
          <a:ln w="15875">
            <a:solidFill>
              <a:srgbClr val="2E7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E8DA6E82-5F36-CBFB-72DA-9AF56D7CE702}"/>
              </a:ext>
            </a:extLst>
          </p:cNvPr>
          <p:cNvSpPr txBox="1"/>
          <p:nvPr/>
        </p:nvSpPr>
        <p:spPr>
          <a:xfrm>
            <a:off x="6647688" y="2624327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/>
              <a:t>Monitor safety stock to avoid overpaying for material shortages</a:t>
            </a:r>
            <a:endParaRPr lang="en-US" sz="1200"/>
          </a:p>
        </p:txBody>
      </p:sp>
      <p:sp>
        <p:nvSpPr>
          <p:cNvPr id="35" name="Comment Bubble 3"/>
          <p:cNvSpPr/>
          <p:nvPr/>
        </p:nvSpPr>
        <p:spPr>
          <a:xfrm>
            <a:off x="6400800" y="3474720"/>
            <a:ext cx="5239512" cy="713232"/>
          </a:xfrm>
          <a:prstGeom prst="ellipse">
            <a:avLst/>
          </a:prstGeom>
          <a:solidFill>
            <a:srgbClr val="EDF5F2"/>
          </a:solidFill>
          <a:ln w="15875">
            <a:solidFill>
              <a:srgbClr val="2E7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8D340480-10AC-3D08-EEDE-45B658C34FAA}"/>
              </a:ext>
            </a:extLst>
          </p:cNvPr>
          <p:cNvSpPr txBox="1"/>
          <p:nvPr/>
        </p:nvSpPr>
        <p:spPr>
          <a:xfrm>
            <a:off x="6647688" y="3557016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/>
              <a:t>Identify changes to assumptions</a:t>
            </a:r>
            <a:endParaRPr lang="en-US" sz="120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616BC498-AF70-DCF0-AF25-E4B4928A88BF}"/>
              </a:ext>
            </a:extLst>
          </p:cNvPr>
          <p:cNvSpPr txBox="1"/>
          <p:nvPr/>
        </p:nvSpPr>
        <p:spPr>
          <a:xfrm>
            <a:off x="1115568" y="43525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 risks</a:t>
            </a:r>
            <a:endParaRPr lang="en-US" sz="17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50A99556-2827-E62B-864B-990D343C96C0}"/>
              </a:ext>
            </a:extLst>
          </p:cNvPr>
          <p:cNvSpPr txBox="1"/>
          <p:nvPr/>
        </p:nvSpPr>
        <p:spPr>
          <a:xfrm>
            <a:off x="1115568" y="470001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any offsetting opportunities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23D"/>
                </a:solidFill>
                <a:latin typeface="Calibri" pitchFamily="34" charset="0"/>
                <a:cs typeface="Calibri" pitchFamily="34" charset="-120"/>
              </a:rPr>
              <a:t>Raise early so actions can be agreed</a:t>
            </a:r>
            <a:endParaRPr lang="en-US" sz="1200" dirty="0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067108A4-BC6A-05C2-C519-D6206B942016}"/>
              </a:ext>
            </a:extLst>
          </p:cNvPr>
          <p:cNvSpPr/>
          <p:nvPr/>
        </p:nvSpPr>
        <p:spPr>
          <a:xfrm>
            <a:off x="548640" y="4370831"/>
            <a:ext cx="420624" cy="420624"/>
          </a:xfrm>
          <a:prstGeom prst="ellipse">
            <a:avLst/>
          </a:prstGeom>
          <a:solidFill>
            <a:srgbClr val="1345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FEF99E9F-988E-60E1-75E0-0A62A2C9767B}"/>
              </a:ext>
            </a:extLst>
          </p:cNvPr>
          <p:cNvSpPr txBox="1"/>
          <p:nvPr/>
        </p:nvSpPr>
        <p:spPr>
          <a:xfrm>
            <a:off x="548640" y="437083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COMMUNICATE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Partnering through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572768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0712" y="1572768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410712" y="157276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25312" y="1572768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1572768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272784" y="157276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787384" y="1572768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34856" y="1572768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3453B"/>
          </a:solidFill>
          <a:ln w="12700">
            <a:solidFill>
              <a:srgbClr val="1345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9134856" y="157276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that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2608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repairs overspend is more than a budget variance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4670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affects the surplus – </a:t>
            </a:r>
            <a:r>
              <a:rPr lang="en-US" sz="1300" b="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is largely revenue spend, so an overspend comes off operating surplus – which feeds interest cover and covenant headroom.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5020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competes with the investment programme – </a:t>
            </a:r>
            <a:r>
              <a:rPr lang="en-US" sz="1300" b="0" dirty="0">
                <a:solidFill>
                  <a:srgbClr val="33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spent unplanned on reactive work is money not available for planned works and new homes.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177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cs typeface="Calibri" pitchFamily="34" charset="-120"/>
              </a:rPr>
              <a:t>Be timely in the communication – identifying risks late leaves little opportunity to correct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cs typeface="Calibri" pitchFamily="34" charset="-120"/>
              </a:rPr>
              <a:t>Be honest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cs typeface="Calibri" pitchFamily="34" charset="-120"/>
              </a:rPr>
              <a:t>Be factual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cs typeface="Calibri" pitchFamily="34" charset="-120"/>
              </a:rPr>
              <a:t>Be the partner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1E"/>
                </a:solidFill>
                <a:latin typeface="Calibri" pitchFamily="34" charset="0"/>
                <a:cs typeface="Calibri" pitchFamily="34" charset="-120"/>
              </a:rPr>
              <a:t>Identify the gap, provide a recommendation and the alternative. Be clear on the consequence of doing nothing.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  ·  Codi Group  ·  Finance Business Partner interview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4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MEASURE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money and the home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C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set, each with a definition, a baseline, an owner and a trigger.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359152"/>
            <a:ext cx="51755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and how it has moved since last time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expected savings have actually landed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between capital and revenue spend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job, adjusted for the mix of work</a:t>
            </a:r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cs typeface="Calibri" pitchFamily="34" charset="-120"/>
              </a:rPr>
              <a:t>Productivity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88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AND RESIDENT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0216" y="2359152"/>
            <a:ext cx="51755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safety and compliance work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fix and repeat visits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per operative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and how old it is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and repeat contact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12700">
            <a:solidFill>
              <a:srgbClr val="2E7D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48640" y="4736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look at exceptions with the operational team. Monthly signed-off position. Anything safety-related goes straight up.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Vermaak  ·  Codi Group  ·  Finance Business Partner interview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2430</Words>
  <Application>Microsoft Office PowerPoint</Application>
  <PresentationFormat>Widescreen</PresentationFormat>
  <Paragraphs>150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Financial Performance Across Repairs &amp; Maintenance</dc:title>
  <dc:subject/>
  <dc:creator>Sandra Vermaak</dc:creator>
  <cp:lastModifiedBy>Sandra Vermaak</cp:lastModifiedBy>
  <cp:revision>22</cp:revision>
  <dcterms:created xsi:type="dcterms:W3CDTF">2026-09-09T10:44:24Z</dcterms:created>
  <dcterms:modified xsi:type="dcterms:W3CDTF">2026-09-11T15:52:14Z</dcterms:modified>
</cp:coreProperties>
</file>