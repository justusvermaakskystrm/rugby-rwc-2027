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0" d="100"/>
          <a:sy n="160" d="100"/>
        </p:scale>
        <p:origin x="29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166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sec · 0:45 elapsed]</a:t>
            </a:r>
          </a:p>
          <a:p/>
          <a:p>
            <a:r>
              <a:t>Thank you for seeing me. I've got ten minutes, so I'll take your five questions in order: how I'd work out what's driving the overspend, how I'd rebuild the forecast with the budget holders, what I'd actually do about it, how I'd communicate it, and what I'd track afterwards.</a:t>
            </a:r>
          </a:p>
          <a:p/>
          <a:p>
            <a:r>
              <a:t>One thing up front. I don't know your systems or your numbers yet, so this is how I'd approach it rather than a view on how things work here. Where I've used a figure it's illustrative, and I'll say so.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15 · 2:00 elapsed]</a:t>
            </a:r>
          </a:p>
          <a:p/>
          <a:p>
            <a:r>
              <a:t>Before I can explain a variance I need to know what's actually in the number. A hundred million across roughly twenty-five thousand homes is about four thousand pounds a home. That's more than responsive repairs alone would cost, so the budget must also be carrying cyclical work, compliance, and planned and major works.</a:t>
            </a:r>
          </a:p>
          <a:p/>
          <a:p>
            <a:r>
              <a:t>That matters for two reasons. They behave differently. Responsive is demand-led and hard to forecast, cyclical is predictable, compliance is non-negotiable, and planned work is programme-driven. An average across all four hides what's going on.</a:t>
            </a:r>
          </a:p>
          <a:p/>
          <a:p>
            <a:r>
              <a:t>And they sit on different sides of the revenue and capital line. Only the revenue side hits the surplus.</a:t>
            </a:r>
          </a:p>
          <a:p/>
          <a:p>
            <a:r>
              <a:t>So the first thing I'd do is agree with the team exactly what sits in the number, and where the threshold between a repair and capex is drawn. Reclassifying spend isn't a saving, and I'd want to be sure none of the reported position depends on it.</a:t>
            </a:r>
          </a:p>
          <a:p/>
          <a:p>
            <a:r>
              <a:t>[Note] The £100m is the scenario you gave me. The per-home figure is my own arithmetic and the categories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 4:00 elapsed]</a:t>
            </a:r>
          </a:p>
          <a:p/>
          <a:p>
            <a:r>
              <a:t>Before I decide anything I want to know what's actually driving it, and I'd work through it in order.</a:t>
            </a:r>
          </a:p>
          <a:p/>
          <a:p>
            <a:r>
              <a:t>First, is it real? A lot of apparent overspends turn out to be something else. Coding errors, phasing, accruals, adjustments, or the way costs have been allocated. I'd do a GL deep dive before raising any alarm, because getting that wrong once costs you credibility for the rest of the year.</a:t>
            </a:r>
          </a:p>
          <a:p/>
          <a:p>
            <a:r>
              <a:t>Then, is it a one-off or an emerging trend? I'd compare actuals to prior year as well as to forecast, and ask whether the forecast assumptions themselves have changed. A single bad month is a different conversation from a run rate that has moved.</a:t>
            </a:r>
          </a:p>
          <a:p/>
          <a:p>
            <a:r>
              <a:t>Once I'm satisfied it's real and it's a trend, I'd split the variance three ways.</a:t>
            </a:r>
          </a:p>
          <a:p/>
          <a:p>
            <a:r>
              <a:t>Volume. Are we simply doing more jobs than the budget assumed? Job numbers by type against budget and against last year, the backlog, seasonality, and anything that's changed in demand.</a:t>
            </a:r>
          </a:p>
          <a:p/>
          <a:p>
            <a:r>
              <a:t>Price. Is each job costing more? Cost per job on like-for-like work, labour and material rates, and how much more is going to contractors rather than our own teams.</a:t>
            </a:r>
          </a:p>
          <a:p/>
          <a:p>
            <a:r>
              <a:t>Mix. Is the work different, or more complicated? Job types and complexity, emergency against planned, and which properties or areas are driving it. Productivity sits here too, because the same job taking longer is a mix and productivity problem, not a price one.</a:t>
            </a:r>
          </a:p>
          <a:p/>
          <a:p>
            <a:r>
              <a:t>Each of those leads somewhere different, which is why I wouldn't lump them together. And I wouldn't do it from a spreadsheet alone. I'd walk through real jobs with the operational team, so what I end up telling the board matches what's happening on the ground.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35 · 5:35 elapsed]</a:t>
            </a:r>
          </a:p>
          <a:p/>
          <a:p>
            <a:r>
              <a:t>The forecast has to be built with the people who own the budget, not sent to them.</a:t>
            </a:r>
          </a:p>
          <a:p/>
          <a:p>
            <a:r>
              <a:t>Mechanically it's actuals, plus what we're already committed to, plus the remaining work at a realistic cost. That gives the full year forecast.</a:t>
            </a:r>
          </a:p>
          <a:p/>
          <a:p>
            <a:r>
              <a:t>Three things make it credible. First, agree the plan. A realistic plan for the year with detailed timing, the capacity and manpower actually available, the work mix and complexity, and the contract rates and variations we already know about. A plan that assumes capacity we haven't got isn't a forecast, it's a wish.</a:t>
            </a:r>
          </a:p>
          <a:p/>
          <a:p>
            <a:r>
              <a:t>Second, cost the work honestly. I'd use run rate as a guide rather than a rule, and agree one inflationary assumption applied consistently across all finance areas. Different teams quietly using different inflation is one of the easiest ways for a group position to stop adding up. I'd build the base case before adjustments, then set out the overall picture and get the actions identified and embedded in it.</a:t>
            </a:r>
          </a:p>
          <a:p/>
          <a:p>
            <a:r>
              <a:t>Third, operational buy-in. Sign-off with the operations, and where we disagree I'd quantify the difference rather than argue it out. A number the operation hasn't signed won't survive its first challenge.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45 · 7:20 elapsed]</a:t>
            </a:r>
          </a:p>
          <a:p/>
          <a:p>
            <a:r>
              <a:t>Then the actions. I'd work through them in a deliberate order, and raise the risks early rather than at year end.</a:t>
            </a:r>
          </a:p>
          <a:p/>
          <a:p>
            <a:r>
              <a:t>Planning first. Properly understanding the nature, volume and complexity of the planned work, with predefined rates and a clear monetary threshold for what's a repair and what's capex. Most of the value is won here, before anything is spent.</a:t>
            </a:r>
          </a:p>
          <a:p/>
          <a:p>
            <a:r>
              <a:t>One boundary before anything else, though. Safety issues, compliance and statutory response times can't be cut. That is not where savings come from.</a:t>
            </a:r>
          </a:p>
          <a:p/>
          <a:p>
            <a:r>
              <a:t>Second, use the capacity we already have. Productivity, first-time fix, and scheduling across the in-house team, with a fixed scope of work to guard against scope creep. I'd also keep an eye on safety stock, because running materials too lean means paying over the odds the moment something runs out.</a:t>
            </a:r>
          </a:p>
          <a:p/>
          <a:p>
            <a:r>
              <a:t>Third, challenge additional spend that isn't in the budget. Checking variations, testing rates on like-for-like work, and understanding variance to budget on a causal basis rather than just reporting the number. I'd also be watching for changes to the assumptions we built the forecast on.</a:t>
            </a:r>
          </a:p>
          <a:p/>
          <a:p>
            <a:r>
              <a:t>Fourth, highlight risks. Identify any offsetting opportunities and raise them early, so actions can actually be agreed. A risk raised late leaves no options.</a:t>
            </a:r>
          </a:p>
          <a:p/>
          <a:p>
            <a:r>
              <a:t>And only then, fifth, rephase. Discretionary planned work only. That's a timing benefit rather than a saving, and I'd say so rather than let it be counted as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25 · 8:45 elapsed]</a:t>
            </a:r>
          </a:p>
          <a:p/>
          <a:p>
            <a:r>
              <a:t>Then communicating it, and for me that's partnering rather than reporting.</a:t>
            </a:r>
          </a:p>
          <a:p/>
          <a:p>
            <a:r>
              <a:t>The report itself is a bridge. Approved budget, to the latest forecast, to the mitigations we've agreed, to the gap that remains.</a:t>
            </a:r>
          </a:p>
          <a:p/>
          <a:p>
            <a:r>
              <a:t>But I wouldn't present it as just a budget variance, because it isn't one. Repairs is largely revenue spend, so an overspend comes off operating surplus, and that feeds interest cover and covenant headroom. And money spent unplanned on reactive work is money that isn't available for planned works and new homes. That's the trade-off leadership is really being asked to make, so that's how I'd frame it.</a:t>
            </a:r>
          </a:p>
          <a:p/>
          <a:p>
            <a:r>
              <a:t>On how I'd do it. Be timely, because identifying risks late leaves little opportunity to correct course. Be honest, including when the news is bad or the number has moved against me. Be factual, so the conversation is about the decision rather than about whose figures are right. And be the partner, not the person who turns up at year end with a number and no options.</a:t>
            </a:r>
          </a:p>
          <a:p/>
          <a:p>
            <a:r>
              <a:t>So: identify the gap, provide a recommendation and the alternative, and be clear on the consequence of doing nothing.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15 · 10:00 elapsed]</a:t>
            </a:r>
          </a:p>
          <a:p/>
          <a:p>
            <a:r>
              <a:t>Finally, measurement. A short set agreed with the teams, each with a definition, a baseline, an owner and a point where we escalate. The test of a dashboard is whether it changes what somebody does on Monday morning.</a:t>
            </a:r>
          </a:p>
          <a:p/>
          <a:p>
            <a:r>
              <a:t>On the money: the gap and how it's moved since last time, whether the savings we expected have actually landed, the split between capital and revenue, cost per job adjusted for the mix of work, and productivity. That mix adjustment matters, because an average cost can fall simply because the team did easier jobs that month, and I wouldn't let that be reported as efficiency.</a:t>
            </a:r>
          </a:p>
          <a:p/>
          <a:p>
            <a:r>
              <a:t>On service and residents: outstanding safety and compliance work, first-time fix and repeat visits, jobs per operative, how old the backlog is, and satisfaction and repeat contact. Those tell you early if a saving is being taken out of the resident rather than out of the cost.</a:t>
            </a:r>
          </a:p>
          <a:p/>
          <a:p>
            <a:r>
              <a:t>A weekly look at exceptions with the operational team, a monthly signed-off position, and anything safety-related goes straight up.</a:t>
            </a:r>
          </a:p>
          <a:p/>
          <a:p>
            <a:r>
              <a:t>Thank you. I'm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453B"/>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11094415" cy="274320"/>
          </a:xfrm>
          <a:prstGeom prst="rect">
            <a:avLst/>
          </a:prstGeom>
          <a:noFill/>
          <a:ln/>
        </p:spPr>
        <p:txBody>
          <a:bodyPr wrap="square" lIns="0" tIns="0" rIns="0" bIns="0" rtlCol="0" anchor="ctr"/>
          <a:lstStyle/>
          <a:p>
            <a:pPr marL="0" indent="0">
              <a:buNone/>
            </a:pPr>
            <a:r>
              <a:rPr lang="en-US" sz="1100" b="1" kern="0" spc="240" dirty="0">
                <a:solidFill>
                  <a:srgbClr val="8FBFAE"/>
                </a:solidFill>
                <a:latin typeface="Calibri" pitchFamily="34" charset="0"/>
                <a:ea typeface="Calibri" pitchFamily="34" charset="-122"/>
                <a:cs typeface="Calibri" pitchFamily="34" charset="-120"/>
              </a:rPr>
              <a:t>CODI GROUP  ·  INTERVIEW PRESENTATION</a:t>
            </a:r>
            <a:endParaRPr lang="en-US" sz="1100" dirty="0"/>
          </a:p>
        </p:txBody>
      </p:sp>
      <p:sp>
        <p:nvSpPr>
          <p:cNvPr id="3" name="Text 1"/>
          <p:cNvSpPr txBox="1"/>
          <p:nvPr/>
        </p:nvSpPr>
        <p:spPr>
          <a:xfrm>
            <a:off x="548640" y="2194560"/>
            <a:ext cx="10607040" cy="173736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Managing Financial Performance</a:t>
            </a:r>
            <a:endParaRPr lang="en-US" sz="4000" dirty="0"/>
          </a:p>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Across Repairs &amp; Maintenance</a:t>
            </a:r>
            <a:endParaRPr lang="en-US" sz="4000" dirty="0"/>
          </a:p>
        </p:txBody>
      </p:sp>
      <p:sp>
        <p:nvSpPr>
          <p:cNvPr id="4" name="Shape 2"/>
          <p:cNvSpPr/>
          <p:nvPr/>
        </p:nvSpPr>
        <p:spPr>
          <a:xfrm>
            <a:off x="548640" y="4892040"/>
            <a:ext cx="2743200" cy="0"/>
          </a:xfrm>
          <a:prstGeom prst="line">
            <a:avLst/>
          </a:prstGeom>
          <a:noFill/>
          <a:ln w="19050">
            <a:solidFill>
              <a:srgbClr val="2E7D68"/>
            </a:solidFill>
            <a:prstDash val="solid"/>
          </a:ln>
        </p:spPr>
        <p:txBody>
          <a:bodyPr/>
          <a:lstStyle/>
          <a:p>
            <a:endParaRPr lang="en-GB"/>
          </a:p>
        </p:txBody>
      </p:sp>
      <p:sp>
        <p:nvSpPr>
          <p:cNvPr id="5" name="Text 3"/>
          <p:cNvSpPr txBox="1"/>
          <p:nvPr/>
        </p:nvSpPr>
        <p:spPr>
          <a:xfrm>
            <a:off x="548640" y="5120640"/>
            <a:ext cx="548640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Sandra Vermaak</a:t>
            </a:r>
            <a:endParaRPr lang="en-US" sz="1500" dirty="0"/>
          </a:p>
        </p:txBody>
      </p:sp>
      <p:sp>
        <p:nvSpPr>
          <p:cNvPr id="6" name="Text 4"/>
          <p:cNvSpPr txBox="1"/>
          <p:nvPr/>
        </p:nvSpPr>
        <p:spPr>
          <a:xfrm>
            <a:off x="548640" y="5468112"/>
            <a:ext cx="8229600" cy="274320"/>
          </a:xfrm>
          <a:prstGeom prst="rect">
            <a:avLst/>
          </a:prstGeom>
          <a:noFill/>
          <a:ln/>
        </p:spPr>
        <p:txBody>
          <a:bodyPr wrap="square" lIns="0" tIns="0" rIns="0" bIns="0" rtlCol="0" anchor="ctr"/>
          <a:lstStyle/>
          <a:p>
            <a:pPr marL="0" indent="0">
              <a:buNone/>
            </a:pPr>
            <a:r>
              <a:rPr lang="en-US" sz="1150" dirty="0">
                <a:solidFill>
                  <a:srgbClr val="8FBFAE"/>
                </a:solidFill>
                <a:latin typeface="Calibri" pitchFamily="34" charset="0"/>
                <a:ea typeface="Calibri" pitchFamily="34" charset="-122"/>
                <a:cs typeface="Calibri" pitchFamily="34" charset="-120"/>
              </a:rPr>
              <a:t>Candidate  ·  Finance Business Partner, Repairs &amp; Maintenance  ·  September 2026</a:t>
            </a:r>
            <a:endParaRPr lang="en-US" sz="1150" dirty="0"/>
          </a:p>
        </p:txBody>
      </p:sp>
      <p:sp>
        <p:nvSpPr>
          <p:cNvPr id="8" name="Text 5"/>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9" name="Text 6"/>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Scope the number</a:t>
            </a:r>
            <a:endParaRPr lang="en-US" sz="3000" dirty="0"/>
          </a:p>
        </p:txBody>
      </p:sp>
      <p:sp>
        <p:nvSpPr>
          <p:cNvPr id="4" name="Shape 2"/>
          <p:cNvSpPr/>
          <p:nvPr/>
        </p:nvSpPr>
        <p:spPr>
          <a:xfrm>
            <a:off x="548640" y="1600200"/>
            <a:ext cx="4114800" cy="2148840"/>
          </a:xfrm>
          <a:prstGeom prst="roundRect">
            <a:avLst>
              <a:gd name="adj" fmla="val 2553"/>
            </a:avLst>
          </a:prstGeom>
          <a:solidFill>
            <a:srgbClr val="13453B"/>
          </a:solidFill>
          <a:ln w="12700">
            <a:solidFill>
              <a:srgbClr val="13453B"/>
            </a:solidFill>
            <a:prstDash val="solid"/>
          </a:ln>
        </p:spPr>
        <p:txBody>
          <a:bodyPr/>
          <a:lstStyle/>
          <a:p>
            <a:endParaRPr lang="en-GB"/>
          </a:p>
        </p:txBody>
      </p:sp>
      <p:sp>
        <p:nvSpPr>
          <p:cNvPr id="5" name="Text 3"/>
          <p:cNvSpPr txBox="1"/>
          <p:nvPr/>
        </p:nvSpPr>
        <p:spPr>
          <a:xfrm>
            <a:off x="868680" y="1828800"/>
            <a:ext cx="3474720" cy="86868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£4,000</a:t>
            </a:r>
            <a:endParaRPr lang="en-US" sz="4600" dirty="0"/>
          </a:p>
        </p:txBody>
      </p:sp>
      <p:sp>
        <p:nvSpPr>
          <p:cNvPr id="6" name="Text 4"/>
          <p:cNvSpPr txBox="1"/>
          <p:nvPr/>
        </p:nvSpPr>
        <p:spPr>
          <a:xfrm>
            <a:off x="868680" y="2697480"/>
            <a:ext cx="3474720" cy="274320"/>
          </a:xfrm>
          <a:prstGeom prst="rect">
            <a:avLst/>
          </a:prstGeom>
          <a:noFill/>
          <a:ln/>
        </p:spPr>
        <p:txBody>
          <a:bodyPr wrap="square" lIns="0" tIns="0" rIns="0" bIns="0" rtlCol="0" anchor="ctr"/>
          <a:lstStyle/>
          <a:p>
            <a:pPr marL="0" indent="0">
              <a:buNone/>
            </a:pPr>
            <a:r>
              <a:rPr lang="en-US" sz="1300" dirty="0">
                <a:solidFill>
                  <a:srgbClr val="9CC7B8"/>
                </a:solidFill>
                <a:latin typeface="Calibri" pitchFamily="34" charset="0"/>
                <a:ea typeface="Calibri" pitchFamily="34" charset="-122"/>
                <a:cs typeface="Calibri" pitchFamily="34" charset="-120"/>
              </a:rPr>
              <a:t>per home, per year</a:t>
            </a:r>
            <a:endParaRPr lang="en-US" sz="1300" dirty="0"/>
          </a:p>
        </p:txBody>
      </p:sp>
      <p:sp>
        <p:nvSpPr>
          <p:cNvPr id="7" name="Text 5"/>
          <p:cNvSpPr txBox="1"/>
          <p:nvPr/>
        </p:nvSpPr>
        <p:spPr>
          <a:xfrm>
            <a:off x="868680" y="3127248"/>
            <a:ext cx="3474720" cy="274320"/>
          </a:xfrm>
          <a:prstGeom prst="rect">
            <a:avLst/>
          </a:prstGeom>
          <a:noFill/>
          <a:ln/>
        </p:spPr>
        <p:txBody>
          <a:bodyPr wrap="square" lIns="0" tIns="0" rIns="0" bIns="0" rtlCol="0" anchor="ctr"/>
          <a:lstStyle/>
          <a:p>
            <a:pPr marL="0" indent="0">
              <a:buNone/>
            </a:pPr>
            <a:r>
              <a:rPr lang="en-US" sz="1150" i="1" dirty="0">
                <a:solidFill>
                  <a:srgbClr val="8FBFAE"/>
                </a:solidFill>
                <a:latin typeface="Calibri" pitchFamily="34" charset="0"/>
                <a:ea typeface="Calibri" pitchFamily="34" charset="-122"/>
                <a:cs typeface="Calibri" pitchFamily="34" charset="-120"/>
              </a:rPr>
              <a:t>c.£100m across c.25,000 homes</a:t>
            </a:r>
            <a:endParaRPr lang="en-US" sz="1150" dirty="0"/>
          </a:p>
        </p:txBody>
      </p:sp>
      <p:sp>
        <p:nvSpPr>
          <p:cNvPr id="8" name="Text 6"/>
          <p:cNvSpPr txBox="1"/>
          <p:nvPr/>
        </p:nvSpPr>
        <p:spPr>
          <a:xfrm>
            <a:off x="548640" y="3931920"/>
            <a:ext cx="4114800" cy="1188720"/>
          </a:xfrm>
          <a:prstGeom prst="rect">
            <a:avLst/>
          </a:prstGeom>
          <a:noFill/>
          <a:ln/>
        </p:spPr>
        <p:txBody>
          <a:bodyPr wrap="square" lIns="0" tIns="0" rIns="0" bIns="0" rtlCol="0" anchor="t"/>
          <a:lstStyle/>
          <a:p>
            <a:pPr marL="0" indent="0">
              <a:lnSpc>
                <a:spcPts val="1900"/>
              </a:lnSpc>
              <a:buNone/>
            </a:pPr>
            <a:r>
              <a:rPr lang="en-US" sz="1300" dirty="0">
                <a:solidFill>
                  <a:srgbClr val="33423D"/>
                </a:solidFill>
                <a:latin typeface="Calibri" pitchFamily="34" charset="0"/>
                <a:ea typeface="Calibri" pitchFamily="34" charset="-122"/>
                <a:cs typeface="Calibri" pitchFamily="34" charset="-120"/>
              </a:rPr>
              <a:t>At that level this is not only a responsive repairs budget. It spans several services with different cost behaviours – and it straddles both Revenue (operational expenditure) and Capital.</a:t>
            </a:r>
            <a:endParaRPr lang="en-US" sz="1300" dirty="0"/>
          </a:p>
        </p:txBody>
      </p:sp>
      <p:sp>
        <p:nvSpPr>
          <p:cNvPr id="9" name="Shape 7"/>
          <p:cNvSpPr/>
          <p:nvPr/>
        </p:nvSpPr>
        <p:spPr>
          <a:xfrm>
            <a:off x="5029200" y="1600200"/>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0" name="Text 8"/>
          <p:cNvSpPr txBox="1"/>
          <p:nvPr/>
        </p:nvSpPr>
        <p:spPr>
          <a:xfrm>
            <a:off x="5303520" y="1746504"/>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Responsive / reactive repairs</a:t>
            </a:r>
            <a:endParaRPr lang="en-US" sz="1400" dirty="0"/>
          </a:p>
        </p:txBody>
      </p:sp>
      <p:sp>
        <p:nvSpPr>
          <p:cNvPr id="11" name="Text 9"/>
          <p:cNvSpPr txBox="1"/>
          <p:nvPr/>
        </p:nvSpPr>
        <p:spPr>
          <a:xfrm>
            <a:off x="5303520" y="2075688"/>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Demand-led, volatile, difficult to forecast</a:t>
            </a:r>
            <a:endParaRPr lang="en-US" sz="1150" dirty="0"/>
          </a:p>
        </p:txBody>
      </p:sp>
      <p:sp>
        <p:nvSpPr>
          <p:cNvPr id="12" name="Text 10"/>
          <p:cNvSpPr txBox="1"/>
          <p:nvPr/>
        </p:nvSpPr>
        <p:spPr>
          <a:xfrm>
            <a:off x="9966960" y="1746504"/>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3" name="Shape 11"/>
          <p:cNvSpPr/>
          <p:nvPr/>
        </p:nvSpPr>
        <p:spPr>
          <a:xfrm>
            <a:off x="5029200" y="2770632"/>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4" name="Text 12"/>
          <p:cNvSpPr txBox="1"/>
          <p:nvPr/>
        </p:nvSpPr>
        <p:spPr>
          <a:xfrm>
            <a:off x="5303520" y="2916936"/>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Cyclical</a:t>
            </a:r>
            <a:endParaRPr lang="en-US" sz="1400" dirty="0"/>
          </a:p>
        </p:txBody>
      </p:sp>
      <p:sp>
        <p:nvSpPr>
          <p:cNvPr id="15" name="Text 13"/>
          <p:cNvSpPr txBox="1"/>
          <p:nvPr/>
        </p:nvSpPr>
        <p:spPr>
          <a:xfrm>
            <a:off x="5303520" y="3246120"/>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Servicing, decoration – predictable</a:t>
            </a:r>
            <a:endParaRPr lang="en-US" sz="1150" dirty="0"/>
          </a:p>
        </p:txBody>
      </p:sp>
      <p:sp>
        <p:nvSpPr>
          <p:cNvPr id="16" name="Text 14"/>
          <p:cNvSpPr txBox="1"/>
          <p:nvPr/>
        </p:nvSpPr>
        <p:spPr>
          <a:xfrm>
            <a:off x="9966960" y="2916936"/>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7" name="Shape 15"/>
          <p:cNvSpPr/>
          <p:nvPr/>
        </p:nvSpPr>
        <p:spPr>
          <a:xfrm>
            <a:off x="5029200" y="3941064"/>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8" name="Text 16"/>
          <p:cNvSpPr txBox="1"/>
          <p:nvPr/>
        </p:nvSpPr>
        <p:spPr>
          <a:xfrm>
            <a:off x="5303520" y="4087368"/>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Compliance</a:t>
            </a:r>
            <a:endParaRPr lang="en-US" sz="1400" dirty="0"/>
          </a:p>
        </p:txBody>
      </p:sp>
      <p:sp>
        <p:nvSpPr>
          <p:cNvPr id="19" name="Text 17"/>
          <p:cNvSpPr txBox="1"/>
          <p:nvPr/>
        </p:nvSpPr>
        <p:spPr>
          <a:xfrm>
            <a:off x="5303520" y="4416552"/>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Non-negotiable spend</a:t>
            </a:r>
            <a:endParaRPr lang="en-US" sz="1150" dirty="0"/>
          </a:p>
        </p:txBody>
      </p:sp>
      <p:sp>
        <p:nvSpPr>
          <p:cNvPr id="20" name="Text 18"/>
          <p:cNvSpPr txBox="1"/>
          <p:nvPr/>
        </p:nvSpPr>
        <p:spPr>
          <a:xfrm>
            <a:off x="9966960" y="4087368"/>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21" name="Shape 19"/>
          <p:cNvSpPr/>
          <p:nvPr/>
        </p:nvSpPr>
        <p:spPr>
          <a:xfrm>
            <a:off x="5029200" y="5111496"/>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22" name="Text 20"/>
          <p:cNvSpPr txBox="1"/>
          <p:nvPr/>
        </p:nvSpPr>
        <p:spPr>
          <a:xfrm>
            <a:off x="5303520" y="5257800"/>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Planned &amp; major works</a:t>
            </a:r>
            <a:endParaRPr lang="en-US" sz="1400" dirty="0"/>
          </a:p>
        </p:txBody>
      </p:sp>
      <p:sp>
        <p:nvSpPr>
          <p:cNvPr id="23" name="Text 21"/>
          <p:cNvSpPr txBox="1"/>
          <p:nvPr/>
        </p:nvSpPr>
        <p:spPr>
          <a:xfrm>
            <a:off x="5303520" y="5586984"/>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Component replacement, WHQS, retrofit</a:t>
            </a:r>
            <a:endParaRPr lang="en-US" sz="1150" dirty="0"/>
          </a:p>
        </p:txBody>
      </p:sp>
      <p:sp>
        <p:nvSpPr>
          <p:cNvPr id="24" name="Text 22"/>
          <p:cNvSpPr txBox="1"/>
          <p:nvPr/>
        </p:nvSpPr>
        <p:spPr>
          <a:xfrm>
            <a:off x="9966960" y="5257800"/>
            <a:ext cx="1463040" cy="274320"/>
          </a:xfrm>
          <a:prstGeom prst="rect">
            <a:avLst/>
          </a:prstGeom>
          <a:noFill/>
          <a:ln/>
        </p:spPr>
        <p:txBody>
          <a:bodyPr wrap="square" lIns="0" tIns="0" rIns="0" bIns="0" rtlCol="0" anchor="ctr"/>
          <a:lstStyle/>
          <a:p>
            <a:pPr marL="0" indent="0" algn="r">
              <a:buNone/>
            </a:pPr>
            <a:r>
              <a:rPr lang="en-US" sz="1050" b="1" dirty="0">
                <a:solidFill>
                  <a:srgbClr val="C8892F"/>
                </a:solidFill>
                <a:latin typeface="Calibri" pitchFamily="34" charset="0"/>
                <a:ea typeface="Calibri" pitchFamily="34" charset="-122"/>
                <a:cs typeface="Calibri" pitchFamily="34" charset="-120"/>
              </a:rPr>
              <a:t>Largely capital</a:t>
            </a:r>
            <a:endParaRPr lang="en-US" sz="1050" dirty="0"/>
          </a:p>
        </p:txBody>
      </p:sp>
      <p:sp>
        <p:nvSpPr>
          <p:cNvPr id="26" name="Text 23"/>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7" name="Text 24"/>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What typically drives an overspend</a:t>
            </a:r>
            <a:endParaRPr lang="en-US" sz="3000" dirty="0"/>
          </a:p>
        </p:txBody>
      </p:sp>
      <p:sp>
        <p:nvSpPr>
          <p:cNvPr id="4" name="Text 2"/>
          <p:cNvSpPr txBox="1"/>
          <p:nvPr/>
        </p:nvSpPr>
        <p:spPr>
          <a:xfrm>
            <a:off x="548640" y="1315292"/>
            <a:ext cx="11094415" cy="1069848"/>
          </a:xfrm>
          <a:prstGeom prst="rect">
            <a:avLst/>
          </a:prstGeom>
          <a:noFill/>
          <a:ln/>
        </p:spPr>
        <p:txBody>
          <a:bodyPr wrap="square" lIns="0" tIns="0" rIns="0" bIns="0" rtlCol="0" anchor="ctr"/>
          <a:lstStyle/>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Is it real – errors, phasing, accruals and adjustments or allocations – GL deep dive.</a:t>
            </a:r>
          </a:p>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Is it once off or an emerging trend?</a:t>
            </a:r>
          </a:p>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Compare the actuals to PY as well as forecast – have the forecast assumptions changed?</a:t>
            </a:r>
          </a:p>
          <a:p>
            <a:endParaRPr lang="en-US" sz="1350" i="1" dirty="0">
              <a:solidFill>
                <a:srgbClr val="2E7D68"/>
              </a:solidFill>
              <a:latin typeface="Calibri" pitchFamily="34" charset="0"/>
              <a:ea typeface="Calibri" pitchFamily="34" charset="-122"/>
              <a:cs typeface="Calibri" pitchFamily="34" charset="-120"/>
            </a:endParaRPr>
          </a:p>
          <a:p>
            <a:pPr marL="0" indent="0">
              <a:buNone/>
            </a:pPr>
            <a:r>
              <a:rPr lang="en-US" sz="1350" i="1" dirty="0">
                <a:solidFill>
                  <a:srgbClr val="2E7D68"/>
                </a:solidFill>
                <a:latin typeface="Calibri" pitchFamily="34" charset="0"/>
                <a:ea typeface="Calibri" pitchFamily="34" charset="-122"/>
                <a:cs typeface="Calibri" pitchFamily="34" charset="-120"/>
              </a:rPr>
              <a:t>Then split the variance three ways.</a:t>
            </a:r>
            <a:endParaRPr lang="en-US" sz="1350" dirty="0"/>
          </a:p>
        </p:txBody>
      </p:sp>
      <p:sp>
        <p:nvSpPr>
          <p:cNvPr id="5" name="Shape 3"/>
          <p:cNvSpPr/>
          <p:nvPr/>
        </p:nvSpPr>
        <p:spPr>
          <a:xfrm>
            <a:off x="548640" y="2798064"/>
            <a:ext cx="3483864" cy="2916936"/>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6" name="Shape 4"/>
          <p:cNvSpPr/>
          <p:nvPr/>
        </p:nvSpPr>
        <p:spPr>
          <a:xfrm>
            <a:off x="749808" y="2852928"/>
            <a:ext cx="420624" cy="420624"/>
          </a:xfrm>
          <a:prstGeom prst="ellipse">
            <a:avLst/>
          </a:prstGeom>
          <a:solidFill>
            <a:srgbClr val="13453B"/>
          </a:solidFill>
          <a:ln/>
        </p:spPr>
        <p:txBody>
          <a:bodyPr/>
          <a:lstStyle/>
          <a:p>
            <a:endParaRPr lang="en-GB"/>
          </a:p>
        </p:txBody>
      </p:sp>
      <p:sp>
        <p:nvSpPr>
          <p:cNvPr id="7" name="Text 5"/>
          <p:cNvSpPr txBox="1"/>
          <p:nvPr/>
        </p:nvSpPr>
        <p:spPr>
          <a:xfrm>
            <a:off x="749808" y="285292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335024" y="2898648"/>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Volume</a:t>
            </a:r>
            <a:endParaRPr lang="en-US" sz="1900" dirty="0"/>
          </a:p>
        </p:txBody>
      </p:sp>
      <p:sp>
        <p:nvSpPr>
          <p:cNvPr id="9" name="Text 7"/>
          <p:cNvSpPr txBox="1"/>
          <p:nvPr/>
        </p:nvSpPr>
        <p:spPr>
          <a:xfrm>
            <a:off x="868680" y="338328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We are doing more jobs than the budget assumed.</a:t>
            </a:r>
            <a:endParaRPr lang="en-US" sz="1250" dirty="0"/>
          </a:p>
        </p:txBody>
      </p:sp>
      <p:sp>
        <p:nvSpPr>
          <p:cNvPr id="11" name="Text 9"/>
          <p:cNvSpPr txBox="1"/>
          <p:nvPr/>
        </p:nvSpPr>
        <p:spPr>
          <a:xfrm>
            <a:off x="868680" y="4370832"/>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Job numbers by type against budget and last year. Backlog, seasonality, and any change in demand.</a:t>
            </a:r>
            <a:endParaRPr lang="en-US" sz="1150" dirty="0"/>
          </a:p>
        </p:txBody>
      </p:sp>
      <p:sp>
        <p:nvSpPr>
          <p:cNvPr id="12" name="Shape 10"/>
          <p:cNvSpPr/>
          <p:nvPr/>
        </p:nvSpPr>
        <p:spPr>
          <a:xfrm>
            <a:off x="4352544" y="2798064"/>
            <a:ext cx="3483864" cy="2916936"/>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13" name="Shape 11"/>
          <p:cNvSpPr/>
          <p:nvPr/>
        </p:nvSpPr>
        <p:spPr>
          <a:xfrm>
            <a:off x="4553712" y="2852928"/>
            <a:ext cx="420624" cy="420624"/>
          </a:xfrm>
          <a:prstGeom prst="ellipse">
            <a:avLst/>
          </a:prstGeom>
          <a:solidFill>
            <a:srgbClr val="C8892F"/>
          </a:solidFill>
          <a:ln/>
        </p:spPr>
        <p:txBody>
          <a:bodyPr/>
          <a:lstStyle/>
          <a:p>
            <a:endParaRPr lang="en-GB"/>
          </a:p>
        </p:txBody>
      </p:sp>
      <p:sp>
        <p:nvSpPr>
          <p:cNvPr id="14" name="Text 12"/>
          <p:cNvSpPr txBox="1"/>
          <p:nvPr/>
        </p:nvSpPr>
        <p:spPr>
          <a:xfrm>
            <a:off x="4553712" y="285292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5138928" y="2898648"/>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Price</a:t>
            </a:r>
            <a:endParaRPr lang="en-US" sz="1900" dirty="0"/>
          </a:p>
        </p:txBody>
      </p:sp>
      <p:sp>
        <p:nvSpPr>
          <p:cNvPr id="16" name="Text 14"/>
          <p:cNvSpPr txBox="1"/>
          <p:nvPr/>
        </p:nvSpPr>
        <p:spPr>
          <a:xfrm>
            <a:off x="4672583" y="338328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Each job is costing more than we assumed.</a:t>
            </a:r>
            <a:endParaRPr lang="en-US" sz="1250" dirty="0"/>
          </a:p>
        </p:txBody>
      </p:sp>
      <p:sp>
        <p:nvSpPr>
          <p:cNvPr id="18" name="Text 16"/>
          <p:cNvSpPr txBox="1"/>
          <p:nvPr/>
        </p:nvSpPr>
        <p:spPr>
          <a:xfrm>
            <a:off x="4672583" y="4370832"/>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Cost per job on like-for-like work. Labour and material rates, and the split between in-house and contractor.</a:t>
            </a:r>
            <a:endParaRPr lang="en-US" sz="1150" dirty="0"/>
          </a:p>
        </p:txBody>
      </p:sp>
      <p:sp>
        <p:nvSpPr>
          <p:cNvPr id="19" name="Shape 17"/>
          <p:cNvSpPr/>
          <p:nvPr/>
        </p:nvSpPr>
        <p:spPr>
          <a:xfrm>
            <a:off x="8156448" y="2798064"/>
            <a:ext cx="3483864" cy="2916936"/>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20" name="Shape 18"/>
          <p:cNvSpPr/>
          <p:nvPr/>
        </p:nvSpPr>
        <p:spPr>
          <a:xfrm>
            <a:off x="8357616" y="2852928"/>
            <a:ext cx="420624" cy="420624"/>
          </a:xfrm>
          <a:prstGeom prst="ellipse">
            <a:avLst/>
          </a:prstGeom>
          <a:solidFill>
            <a:srgbClr val="13453B"/>
          </a:solidFill>
          <a:ln/>
        </p:spPr>
        <p:txBody>
          <a:bodyPr/>
          <a:lstStyle/>
          <a:p>
            <a:endParaRPr lang="en-GB"/>
          </a:p>
        </p:txBody>
      </p:sp>
      <p:sp>
        <p:nvSpPr>
          <p:cNvPr id="21" name="Text 19"/>
          <p:cNvSpPr txBox="1"/>
          <p:nvPr/>
        </p:nvSpPr>
        <p:spPr>
          <a:xfrm>
            <a:off x="8357616" y="285292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2" name="Text 20"/>
          <p:cNvSpPr txBox="1"/>
          <p:nvPr/>
        </p:nvSpPr>
        <p:spPr>
          <a:xfrm>
            <a:off x="8942832" y="2898648"/>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Mix</a:t>
            </a:r>
            <a:endParaRPr lang="en-US" sz="1900" dirty="0"/>
          </a:p>
        </p:txBody>
      </p:sp>
      <p:sp>
        <p:nvSpPr>
          <p:cNvPr id="23" name="Text 21"/>
          <p:cNvSpPr txBox="1"/>
          <p:nvPr/>
        </p:nvSpPr>
        <p:spPr>
          <a:xfrm>
            <a:off x="8476488" y="338328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The work is different, or more complicated, than planned. Productivity.</a:t>
            </a:r>
            <a:endParaRPr lang="en-US" sz="1250" dirty="0"/>
          </a:p>
        </p:txBody>
      </p:sp>
      <p:sp>
        <p:nvSpPr>
          <p:cNvPr id="25" name="Text 23"/>
          <p:cNvSpPr txBox="1"/>
          <p:nvPr/>
        </p:nvSpPr>
        <p:spPr>
          <a:xfrm>
            <a:off x="8476488" y="4370832"/>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Job types and complexity. Emergency against planned. Which properties or areas are driving it.</a:t>
            </a:r>
            <a:endParaRPr lang="en-US" sz="1150" dirty="0"/>
          </a:p>
        </p:txBody>
      </p:sp>
      <p:sp>
        <p:nvSpPr>
          <p:cNvPr id="26" name="Text 24"/>
          <p:cNvSpPr txBox="1"/>
          <p:nvPr/>
        </p:nvSpPr>
        <p:spPr>
          <a:xfrm>
            <a:off x="548640" y="5897880"/>
            <a:ext cx="11094415" cy="274320"/>
          </a:xfrm>
          <a:prstGeom prst="rect">
            <a:avLst/>
          </a:prstGeom>
          <a:noFill/>
          <a:ln/>
        </p:spPr>
        <p:txBody>
          <a:bodyPr wrap="square" lIns="0" tIns="0" rIns="0" bIns="0" rtlCol="0" anchor="ctr"/>
          <a:lstStyle/>
          <a:p>
            <a:pPr marL="0" indent="0">
              <a:buNone/>
            </a:pPr>
            <a:r>
              <a:rPr lang="en-US" sz="1100" i="1" dirty="0">
                <a:solidFill>
                  <a:srgbClr val="6E7D78"/>
                </a:solidFill>
                <a:latin typeface="Calibri" pitchFamily="34" charset="0"/>
                <a:ea typeface="Calibri" pitchFamily="34" charset="-122"/>
                <a:cs typeface="Calibri" pitchFamily="34" charset="-120"/>
              </a:rPr>
              <a:t>Then I'd walk through jobs with the operational team so the financial explanation matches what is happening on the ground.</a:t>
            </a:r>
            <a:endParaRPr lang="en-US" sz="1100" dirty="0"/>
          </a:p>
        </p:txBody>
      </p:sp>
      <p:sp>
        <p:nvSpPr>
          <p:cNvPr id="28" name="Text 25"/>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9" name="Text 26"/>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02  ·  FORECAST</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Rebuild the forecast with the people who own it</a:t>
            </a:r>
            <a:endParaRPr lang="en-US" sz="3000" dirty="0"/>
          </a:p>
        </p:txBody>
      </p:sp>
      <p:sp>
        <p:nvSpPr>
          <p:cNvPr id="4" name="Shape 2"/>
          <p:cNvSpPr/>
          <p:nvPr/>
        </p:nvSpPr>
        <p:spPr>
          <a:xfrm>
            <a:off x="548640" y="1572768"/>
            <a:ext cx="11094415" cy="713232"/>
          </a:xfrm>
          <a:prstGeom prst="roundRect">
            <a:avLst>
              <a:gd name="adj" fmla="val 7692"/>
            </a:avLst>
          </a:prstGeom>
          <a:solidFill>
            <a:srgbClr val="13453B"/>
          </a:solidFill>
          <a:ln w="12700">
            <a:solidFill>
              <a:srgbClr val="13453B"/>
            </a:solidFill>
            <a:prstDash val="solid"/>
          </a:ln>
        </p:spPr>
        <p:txBody>
          <a:bodyPr/>
          <a:lstStyle/>
          <a:p>
            <a:endParaRPr lang="en-GB"/>
          </a:p>
        </p:txBody>
      </p:sp>
      <p:sp>
        <p:nvSpPr>
          <p:cNvPr id="5" name="Text 3"/>
          <p:cNvSpPr txBox="1"/>
          <p:nvPr/>
        </p:nvSpPr>
        <p:spPr>
          <a:xfrm>
            <a:off x="548640" y="1572768"/>
            <a:ext cx="11094415" cy="713232"/>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Actuals  +  committed cost  +  ( remaining demand  ×  evidenced unit cost )  =  FYF</a:t>
            </a:r>
            <a:endParaRPr lang="en-US" sz="1600" dirty="0"/>
          </a:p>
        </p:txBody>
      </p:sp>
      <p:sp>
        <p:nvSpPr>
          <p:cNvPr id="6" name="Shape 4"/>
          <p:cNvSpPr/>
          <p:nvPr/>
        </p:nvSpPr>
        <p:spPr>
          <a:xfrm>
            <a:off x="548640" y="2578608"/>
            <a:ext cx="420624" cy="420624"/>
          </a:xfrm>
          <a:prstGeom prst="ellipse">
            <a:avLst/>
          </a:prstGeom>
          <a:solidFill>
            <a:srgbClr val="13453B"/>
          </a:solidFill>
          <a:ln/>
        </p:spPr>
        <p:txBody>
          <a:bodyPr/>
          <a:lstStyle/>
          <a:p>
            <a:endParaRPr lang="en-GB"/>
          </a:p>
        </p:txBody>
      </p:sp>
      <p:sp>
        <p:nvSpPr>
          <p:cNvPr id="7" name="Text 5"/>
          <p:cNvSpPr txBox="1"/>
          <p:nvPr/>
        </p:nvSpPr>
        <p:spPr>
          <a:xfrm>
            <a:off x="548640"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115568"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rPr>
              <a:t>Agree the plan</a:t>
            </a:r>
            <a:endParaRPr lang="en-US" sz="1700" dirty="0"/>
          </a:p>
        </p:txBody>
      </p:sp>
      <p:sp>
        <p:nvSpPr>
          <p:cNvPr id="9" name="Text 7"/>
          <p:cNvSpPr txBox="1"/>
          <p:nvPr/>
        </p:nvSpPr>
        <p:spPr>
          <a:xfrm>
            <a:off x="585216" y="3441801"/>
            <a:ext cx="3392424"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Realistic plan for the year with detailed timing</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Capacity and productivity – manpower available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Work mix and complexity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Contract rates and variations</a:t>
            </a:r>
            <a:endParaRPr lang="en-US" sz="1200" dirty="0"/>
          </a:p>
        </p:txBody>
      </p:sp>
      <p:sp>
        <p:nvSpPr>
          <p:cNvPr id="10" name="Shape 8"/>
          <p:cNvSpPr/>
          <p:nvPr/>
        </p:nvSpPr>
        <p:spPr>
          <a:xfrm>
            <a:off x="4353458" y="2578608"/>
            <a:ext cx="420624" cy="420624"/>
          </a:xfrm>
          <a:prstGeom prst="ellipse">
            <a:avLst/>
          </a:prstGeom>
          <a:solidFill>
            <a:srgbClr val="13453B"/>
          </a:solidFill>
          <a:ln/>
        </p:spPr>
        <p:txBody>
          <a:bodyPr/>
          <a:lstStyle/>
          <a:p>
            <a:endParaRPr lang="en-GB"/>
          </a:p>
        </p:txBody>
      </p:sp>
      <p:sp>
        <p:nvSpPr>
          <p:cNvPr id="11" name="Text 9"/>
          <p:cNvSpPr txBox="1"/>
          <p:nvPr/>
        </p:nvSpPr>
        <p:spPr>
          <a:xfrm>
            <a:off x="4353458"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2" name="Text 10"/>
          <p:cNvSpPr txBox="1"/>
          <p:nvPr/>
        </p:nvSpPr>
        <p:spPr>
          <a:xfrm>
            <a:off x="4920386"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Cost the work honestly</a:t>
            </a:r>
            <a:endParaRPr lang="en-US" sz="1700" dirty="0"/>
          </a:p>
        </p:txBody>
      </p:sp>
      <p:sp>
        <p:nvSpPr>
          <p:cNvPr id="13" name="Text 11"/>
          <p:cNvSpPr txBox="1"/>
          <p:nvPr/>
        </p:nvSpPr>
        <p:spPr>
          <a:xfrm>
            <a:off x="4390034" y="3441801"/>
            <a:ext cx="3392424"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Use run rate as a cost guide, agree an inflationary increase to be used across all finance areas.</a:t>
            </a:r>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Base case – before adjustments</a:t>
            </a:r>
          </a:p>
          <a:p>
            <a:pPr marL="342900" indent="-342900">
              <a:lnSpc>
                <a:spcPts val="1600"/>
              </a:lnSpc>
              <a:spcAft>
                <a:spcPts val="700"/>
              </a:spcAft>
              <a:buSzPct val="100000"/>
              <a:buChar char="•"/>
            </a:pPr>
            <a:r>
              <a:rPr lang="en-US" sz="1200" dirty="0">
                <a:solidFill>
                  <a:srgbClr val="33423D"/>
                </a:solidFill>
                <a:latin typeface="Calibri" pitchFamily="34" charset="0"/>
                <a:cs typeface="Calibri" pitchFamily="34" charset="-120"/>
              </a:rPr>
              <a:t>Overall picture – identify and embed tasks</a:t>
            </a:r>
            <a:endParaRPr lang="en-US" sz="1200" dirty="0"/>
          </a:p>
        </p:txBody>
      </p:sp>
      <p:sp>
        <p:nvSpPr>
          <p:cNvPr id="14" name="Shape 12"/>
          <p:cNvSpPr/>
          <p:nvPr/>
        </p:nvSpPr>
        <p:spPr>
          <a:xfrm>
            <a:off x="8158277" y="2578608"/>
            <a:ext cx="420624" cy="420624"/>
          </a:xfrm>
          <a:prstGeom prst="ellipse">
            <a:avLst/>
          </a:prstGeom>
          <a:solidFill>
            <a:srgbClr val="13453B"/>
          </a:solidFill>
          <a:ln/>
        </p:spPr>
        <p:txBody>
          <a:bodyPr/>
          <a:lstStyle/>
          <a:p>
            <a:endParaRPr lang="en-GB"/>
          </a:p>
        </p:txBody>
      </p:sp>
      <p:sp>
        <p:nvSpPr>
          <p:cNvPr id="15" name="Text 13"/>
          <p:cNvSpPr txBox="1"/>
          <p:nvPr/>
        </p:nvSpPr>
        <p:spPr>
          <a:xfrm>
            <a:off x="8158277"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8725205"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Operational buy-in</a:t>
            </a:r>
            <a:endParaRPr lang="en-US" sz="1700" dirty="0"/>
          </a:p>
        </p:txBody>
      </p:sp>
      <p:sp>
        <p:nvSpPr>
          <p:cNvPr id="17" name="Text 15"/>
          <p:cNvSpPr txBox="1"/>
          <p:nvPr/>
        </p:nvSpPr>
        <p:spPr>
          <a:xfrm>
            <a:off x="8194853" y="3441801"/>
            <a:ext cx="3392424"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Sign-off with the operations</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Quantify disagreements</a:t>
            </a:r>
            <a:endParaRPr lang="en-US" sz="1200" dirty="0"/>
          </a:p>
        </p:txBody>
      </p:sp>
      <p:sp>
        <p:nvSpPr>
          <p:cNvPr id="21" name="Text 18"/>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2" name="Text 19"/>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03  ·  MANAGE THE RISK</a:t>
            </a:r>
            <a:endParaRPr lang="en-US" sz="1000" dirty="0"/>
          </a:p>
        </p:txBody>
      </p:sp>
      <p:sp>
        <p:nvSpPr>
          <p:cNvPr id="3" name="Text 1"/>
          <p:cNvSpPr txBox="1"/>
          <p:nvPr/>
        </p:nvSpPr>
        <p:spPr>
          <a:xfrm>
            <a:off x="545897" y="658368"/>
            <a:ext cx="11094415" cy="566928"/>
          </a:xfrm>
          <a:prstGeom prst="rect">
            <a:avLst/>
          </a:prstGeom>
          <a:noFill/>
          <a:ln/>
        </p:spPr>
        <p:txBody>
          <a:bodyPr wrap="square" lIns="0" tIns="0" rIns="0" bIns="0" rtlCol="0" anchor="ctr"/>
          <a:lstStyle/>
          <a:p>
            <a:r>
              <a:rPr lang="en-US" sz="3000" b="1" dirty="0">
                <a:solidFill>
                  <a:srgbClr val="13453B"/>
                </a:solidFill>
                <a:latin typeface="Cambria" pitchFamily="34" charset="0"/>
                <a:ea typeface="Cambria" pitchFamily="34" charset="-122"/>
                <a:cs typeface="Cambria" pitchFamily="34" charset="-120"/>
              </a:rPr>
              <a:t>Identify the risk and opportunities – escalate early</a:t>
            </a:r>
            <a:endParaRPr lang="en-US" sz="3000" dirty="0"/>
          </a:p>
        </p:txBody>
      </p:sp>
      <p:sp>
        <p:nvSpPr>
          <p:cNvPr id="4" name="Shape 2"/>
          <p:cNvSpPr/>
          <p:nvPr/>
        </p:nvSpPr>
        <p:spPr>
          <a:xfrm>
            <a:off x="548640" y="1399032"/>
            <a:ext cx="420624" cy="420624"/>
          </a:xfrm>
          <a:prstGeom prst="ellipse">
            <a:avLst/>
          </a:prstGeom>
          <a:solidFill>
            <a:srgbClr val="13453B"/>
          </a:solidFill>
          <a:ln/>
        </p:spPr>
        <p:txBody>
          <a:bodyPr/>
          <a:lstStyle/>
          <a:p>
            <a:endParaRPr lang="en-GB"/>
          </a:p>
        </p:txBody>
      </p:sp>
      <p:sp>
        <p:nvSpPr>
          <p:cNvPr id="5" name="Text 3"/>
          <p:cNvSpPr txBox="1"/>
          <p:nvPr/>
        </p:nvSpPr>
        <p:spPr>
          <a:xfrm>
            <a:off x="548640" y="136245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115568" y="1381341"/>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rPr>
              <a:t>Planning</a:t>
            </a:r>
            <a:endParaRPr lang="en-US" sz="1700" dirty="0"/>
          </a:p>
        </p:txBody>
      </p:sp>
      <p:sp>
        <p:nvSpPr>
          <p:cNvPr id="7" name="Text 5"/>
          <p:cNvSpPr txBox="1"/>
          <p:nvPr/>
        </p:nvSpPr>
        <p:spPr>
          <a:xfrm>
            <a:off x="1115568" y="1692237"/>
            <a:ext cx="5212080" cy="566928"/>
          </a:xfrm>
          <a:prstGeom prst="rect">
            <a:avLst/>
          </a:prstGeom>
          <a:noFill/>
          <a:ln/>
        </p:spPr>
        <p:txBody>
          <a:bodyPr wrap="square" lIns="0" tIns="0" rIns="0" bIns="0" rtlCol="0" anchor="t"/>
          <a:lstStyle/>
          <a:p>
            <a:r>
              <a:rPr lang="en-GB" sz="1200" dirty="0"/>
              <a:t>Properly understand the nature, volume and complexity of the planned work</a:t>
            </a:r>
          </a:p>
          <a:p>
            <a:r>
              <a:rPr lang="en-GB" sz="1200" dirty="0"/>
              <a:t>Predefined rates
Monetary threshold for repairs vs capex</a:t>
            </a:r>
          </a:p>
        </p:txBody>
      </p:sp>
      <p:sp>
        <p:nvSpPr>
          <p:cNvPr id="9" name="Shape 7"/>
          <p:cNvSpPr/>
          <p:nvPr/>
        </p:nvSpPr>
        <p:spPr>
          <a:xfrm>
            <a:off x="548640" y="2505456"/>
            <a:ext cx="420624" cy="420624"/>
          </a:xfrm>
          <a:prstGeom prst="ellipse">
            <a:avLst/>
          </a:prstGeom>
          <a:solidFill>
            <a:srgbClr val="2E7D68"/>
          </a:solidFill>
          <a:ln/>
        </p:spPr>
        <p:txBody>
          <a:bodyPr/>
          <a:lstStyle/>
          <a:p>
            <a:endParaRPr lang="en-GB"/>
          </a:p>
        </p:txBody>
      </p:sp>
      <p:sp>
        <p:nvSpPr>
          <p:cNvPr id="10" name="Text 8"/>
          <p:cNvSpPr txBox="1"/>
          <p:nvPr/>
        </p:nvSpPr>
        <p:spPr>
          <a:xfrm>
            <a:off x="548640" y="250545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115568" y="2487168"/>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Use available capacity</a:t>
            </a:r>
            <a:endParaRPr lang="en-US" sz="1700" dirty="0"/>
          </a:p>
        </p:txBody>
      </p:sp>
      <p:sp>
        <p:nvSpPr>
          <p:cNvPr id="12" name="Text 10"/>
          <p:cNvSpPr txBox="1"/>
          <p:nvPr/>
        </p:nvSpPr>
        <p:spPr>
          <a:xfrm>
            <a:off x="1115568" y="2834639"/>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Productivity, first-time fix and scheduling across the in-house team.</a:t>
            </a:r>
          </a:p>
          <a:p>
            <a:pPr marL="0" indent="0">
              <a:buNone/>
            </a:pPr>
            <a:r>
              <a:rPr lang="en-US" sz="1200" dirty="0">
                <a:solidFill>
                  <a:srgbClr val="33423D"/>
                </a:solidFill>
                <a:latin typeface="Calibri" pitchFamily="34" charset="0"/>
                <a:cs typeface="Calibri" pitchFamily="34" charset="-120"/>
              </a:rPr>
              <a:t>Fixed scope of work – guard against scope creep</a:t>
            </a:r>
            <a:endParaRPr lang="en-US" sz="1200" dirty="0"/>
          </a:p>
        </p:txBody>
      </p:sp>
      <p:sp>
        <p:nvSpPr>
          <p:cNvPr id="14" name="Shape 12"/>
          <p:cNvSpPr/>
          <p:nvPr/>
        </p:nvSpPr>
        <p:spPr>
          <a:xfrm>
            <a:off x="548640" y="3438144"/>
            <a:ext cx="420624" cy="420624"/>
          </a:xfrm>
          <a:prstGeom prst="ellipse">
            <a:avLst/>
          </a:prstGeom>
          <a:solidFill>
            <a:srgbClr val="2E7D68"/>
          </a:solidFill>
          <a:ln/>
        </p:spPr>
        <p:txBody>
          <a:bodyPr/>
          <a:lstStyle/>
          <a:p>
            <a:endParaRPr lang="en-GB"/>
          </a:p>
        </p:txBody>
      </p:sp>
      <p:sp>
        <p:nvSpPr>
          <p:cNvPr id="15" name="Text 13"/>
          <p:cNvSpPr txBox="1"/>
          <p:nvPr/>
        </p:nvSpPr>
        <p:spPr>
          <a:xfrm>
            <a:off x="548640" y="3438144"/>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1115568" y="3419856"/>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Challenge additional spend not in budget</a:t>
            </a:r>
            <a:endParaRPr lang="en-US" sz="1700" dirty="0"/>
          </a:p>
        </p:txBody>
      </p:sp>
      <p:sp>
        <p:nvSpPr>
          <p:cNvPr id="17" name="Text 15"/>
          <p:cNvSpPr txBox="1"/>
          <p:nvPr/>
        </p:nvSpPr>
        <p:spPr>
          <a:xfrm>
            <a:off x="1115568" y="3767328"/>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Checking variations, rates on like-for-like work.</a:t>
            </a:r>
          </a:p>
          <a:p>
            <a:pPr marL="0" indent="0">
              <a:buNone/>
            </a:pPr>
            <a:r>
              <a:rPr lang="en-US" sz="1200" dirty="0">
                <a:solidFill>
                  <a:srgbClr val="33423D"/>
                </a:solidFill>
                <a:latin typeface="Calibri" pitchFamily="34" charset="0"/>
                <a:cs typeface="Calibri" pitchFamily="34" charset="-120"/>
              </a:rPr>
              <a:t>Variance to budget – causal</a:t>
            </a:r>
            <a:endParaRPr lang="en-US" sz="1200" dirty="0"/>
          </a:p>
        </p:txBody>
      </p:sp>
      <p:sp>
        <p:nvSpPr>
          <p:cNvPr id="19" name="Shape 17"/>
          <p:cNvSpPr/>
          <p:nvPr/>
        </p:nvSpPr>
        <p:spPr>
          <a:xfrm>
            <a:off x="548640" y="5303520"/>
            <a:ext cx="420624" cy="420624"/>
          </a:xfrm>
          <a:prstGeom prst="ellipse">
            <a:avLst/>
          </a:prstGeom>
          <a:solidFill>
            <a:srgbClr val="C8892F"/>
          </a:solidFill>
          <a:ln/>
        </p:spPr>
        <p:txBody>
          <a:bodyPr/>
          <a:lstStyle/>
          <a:p>
            <a:endParaRPr lang="en-GB"/>
          </a:p>
        </p:txBody>
      </p:sp>
      <p:sp>
        <p:nvSpPr>
          <p:cNvPr id="20" name="Text 18"/>
          <p:cNvSpPr txBox="1"/>
          <p:nvPr/>
        </p:nvSpPr>
        <p:spPr>
          <a:xfrm>
            <a:off x="548640" y="5303520"/>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115568" y="5285232"/>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Rephase selectively</a:t>
            </a:r>
            <a:endParaRPr lang="en-US" sz="1700" dirty="0"/>
          </a:p>
        </p:txBody>
      </p:sp>
      <p:sp>
        <p:nvSpPr>
          <p:cNvPr id="22" name="Text 20"/>
          <p:cNvSpPr txBox="1"/>
          <p:nvPr/>
        </p:nvSpPr>
        <p:spPr>
          <a:xfrm>
            <a:off x="1115568" y="5632704"/>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Discretionary planned work only.</a:t>
            </a:r>
            <a:endParaRPr lang="en-US" sz="1200" dirty="0"/>
          </a:p>
        </p:txBody>
      </p:sp>
      <p:sp>
        <p:nvSpPr>
          <p:cNvPr id="27" name="Text 24"/>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8" name="Text 25"/>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5</a:t>
            </a:r>
            <a:endParaRPr lang="en-US" sz="900" dirty="0"/>
          </a:p>
        </p:txBody>
      </p:sp>
      <p:sp>
        <p:nvSpPr>
          <p:cNvPr id="33" name="Comment Bubble 1"/>
          <p:cNvSpPr/>
          <p:nvPr/>
        </p:nvSpPr>
        <p:spPr>
          <a:xfrm>
            <a:off x="6400800" y="1609344"/>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5">
            <a:extLst>
              <a:ext uri="{FF2B5EF4-FFF2-40B4-BE49-F238E27FC236}">
                <a16:creationId xmlns:a16="http://schemas.microsoft.com/office/drawing/2014/main" id="{EF32A465-1C8A-8D70-6B0F-ED64922D3838}"/>
              </a:ext>
            </a:extLst>
          </p:cNvPr>
          <p:cNvSpPr txBox="1"/>
          <p:nvPr/>
        </p:nvSpPr>
        <p:spPr>
          <a:xfrm>
            <a:off x="6647688" y="1691639"/>
            <a:ext cx="4745736" cy="548640"/>
          </a:xfrm>
          <a:prstGeom prst="rect">
            <a:avLst/>
          </a:prstGeom>
          <a:noFill/>
          <a:ln/>
        </p:spPr>
        <p:txBody>
          <a:bodyPr wrap="square" lIns="0" tIns="0" rIns="0" bIns="0" rtlCol="0" anchor="ctr"/>
          <a:lstStyle/>
          <a:p>
            <a:pPr algn="ctr"/>
            <a:r>
              <a:rPr lang="en-US" sz="1200" dirty="0">
                <a:solidFill>
                  <a:srgbClr val="33423D"/>
                </a:solidFill>
                <a:latin typeface="Calibri" pitchFamily="34" charset="0"/>
                <a:ea typeface="Calibri" pitchFamily="34" charset="-122"/>
                <a:cs typeface="Calibri" pitchFamily="34" charset="-120"/>
              </a:rPr>
              <a:t>Safety issues, compliance and statutory response times and requirements – can't be cut</a:t>
            </a:r>
            <a:endParaRPr lang="en-US" sz="1200"/>
          </a:p>
        </p:txBody>
      </p:sp>
      <p:sp>
        <p:nvSpPr>
          <p:cNvPr id="34" name="Comment Bubble 2"/>
          <p:cNvSpPr/>
          <p:nvPr/>
        </p:nvSpPr>
        <p:spPr>
          <a:xfrm>
            <a:off x="6400800" y="2542032"/>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 5">
            <a:extLst>
              <a:ext uri="{FF2B5EF4-FFF2-40B4-BE49-F238E27FC236}">
                <a16:creationId xmlns:a16="http://schemas.microsoft.com/office/drawing/2014/main" id="{E8DA6E82-5F36-CBFB-72DA-9AF56D7CE702}"/>
              </a:ext>
            </a:extLst>
          </p:cNvPr>
          <p:cNvSpPr txBox="1"/>
          <p:nvPr/>
        </p:nvSpPr>
        <p:spPr>
          <a:xfrm>
            <a:off x="6647688" y="2624327"/>
            <a:ext cx="4745736" cy="548640"/>
          </a:xfrm>
          <a:prstGeom prst="rect">
            <a:avLst/>
          </a:prstGeom>
          <a:noFill/>
          <a:ln/>
        </p:spPr>
        <p:txBody>
          <a:bodyPr wrap="square" lIns="0" tIns="0" rIns="0" bIns="0" rtlCol="0" anchor="ctr"/>
          <a:lstStyle/>
          <a:p>
            <a:pPr algn="ctr"/>
            <a:r>
              <a:rPr lang="en-US" sz="1200" dirty="0"/>
              <a:t>Monitor safety stock to avoid overpaying for material shortages</a:t>
            </a:r>
            <a:endParaRPr lang="en-US" sz="1200"/>
          </a:p>
        </p:txBody>
      </p:sp>
      <p:sp>
        <p:nvSpPr>
          <p:cNvPr id="35" name="Comment Bubble 3"/>
          <p:cNvSpPr/>
          <p:nvPr/>
        </p:nvSpPr>
        <p:spPr>
          <a:xfrm>
            <a:off x="6400800" y="3474720"/>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 5">
            <a:extLst>
              <a:ext uri="{FF2B5EF4-FFF2-40B4-BE49-F238E27FC236}">
                <a16:creationId xmlns:a16="http://schemas.microsoft.com/office/drawing/2014/main" id="{8D340480-10AC-3D08-EEDE-45B658C34FAA}"/>
              </a:ext>
            </a:extLst>
          </p:cNvPr>
          <p:cNvSpPr txBox="1"/>
          <p:nvPr/>
        </p:nvSpPr>
        <p:spPr>
          <a:xfrm>
            <a:off x="6647688" y="3557016"/>
            <a:ext cx="4745736" cy="548640"/>
          </a:xfrm>
          <a:prstGeom prst="rect">
            <a:avLst/>
          </a:prstGeom>
          <a:noFill/>
          <a:ln/>
        </p:spPr>
        <p:txBody>
          <a:bodyPr wrap="square" lIns="0" tIns="0" rIns="0" bIns="0" rtlCol="0" anchor="ctr"/>
          <a:lstStyle/>
          <a:p>
            <a:pPr algn="ctr"/>
            <a:r>
              <a:rPr lang="en-US" sz="1200" dirty="0"/>
              <a:t>Identify changes to assumptions</a:t>
            </a:r>
            <a:endParaRPr lang="en-US" sz="1200"/>
          </a:p>
        </p:txBody>
      </p:sp>
      <p:sp>
        <p:nvSpPr>
          <p:cNvPr id="37" name="Text 19">
            <a:extLst>
              <a:ext uri="{FF2B5EF4-FFF2-40B4-BE49-F238E27FC236}">
                <a16:creationId xmlns:a16="http://schemas.microsoft.com/office/drawing/2014/main" id="{616BC498-AF70-DCF0-AF25-E4B4928A88BF}"/>
              </a:ext>
            </a:extLst>
          </p:cNvPr>
          <p:cNvSpPr txBox="1"/>
          <p:nvPr/>
        </p:nvSpPr>
        <p:spPr>
          <a:xfrm>
            <a:off x="1115568" y="4352544"/>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Highlight risks</a:t>
            </a:r>
            <a:endParaRPr lang="en-US" sz="1700" dirty="0"/>
          </a:p>
        </p:txBody>
      </p:sp>
      <p:sp>
        <p:nvSpPr>
          <p:cNvPr id="39" name="Text 20">
            <a:extLst>
              <a:ext uri="{FF2B5EF4-FFF2-40B4-BE49-F238E27FC236}">
                <a16:creationId xmlns:a16="http://schemas.microsoft.com/office/drawing/2014/main" id="{50A99556-2827-E62B-864B-990D343C96C0}"/>
              </a:ext>
            </a:extLst>
          </p:cNvPr>
          <p:cNvSpPr txBox="1"/>
          <p:nvPr/>
        </p:nvSpPr>
        <p:spPr>
          <a:xfrm>
            <a:off x="1115568" y="4700016"/>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Identify any offsetting opportunities</a:t>
            </a:r>
          </a:p>
          <a:p>
            <a:pPr marL="0" indent="0">
              <a:buNone/>
            </a:pPr>
            <a:r>
              <a:rPr lang="en-US" sz="1200" dirty="0">
                <a:solidFill>
                  <a:srgbClr val="33423D"/>
                </a:solidFill>
                <a:latin typeface="Calibri" pitchFamily="34" charset="0"/>
                <a:cs typeface="Calibri" pitchFamily="34" charset="-120"/>
              </a:rPr>
              <a:t>Raise early so actions can be agreed</a:t>
            </a:r>
            <a:endParaRPr lang="en-US" sz="1200" dirty="0"/>
          </a:p>
        </p:txBody>
      </p:sp>
      <p:sp>
        <p:nvSpPr>
          <p:cNvPr id="47" name="Shape 2">
            <a:extLst>
              <a:ext uri="{FF2B5EF4-FFF2-40B4-BE49-F238E27FC236}">
                <a16:creationId xmlns:a16="http://schemas.microsoft.com/office/drawing/2014/main" id="{067108A4-BC6A-05C2-C519-D6206B942016}"/>
              </a:ext>
            </a:extLst>
          </p:cNvPr>
          <p:cNvSpPr/>
          <p:nvPr/>
        </p:nvSpPr>
        <p:spPr>
          <a:xfrm>
            <a:off x="548640" y="4370831"/>
            <a:ext cx="420624" cy="420624"/>
          </a:xfrm>
          <a:prstGeom prst="ellipse">
            <a:avLst/>
          </a:prstGeom>
          <a:solidFill>
            <a:srgbClr val="13453B"/>
          </a:solidFill>
          <a:ln/>
        </p:spPr>
        <p:txBody>
          <a:bodyPr/>
          <a:lstStyle/>
          <a:p>
            <a:endParaRPr lang="en-GB"/>
          </a:p>
        </p:txBody>
      </p:sp>
      <p:sp>
        <p:nvSpPr>
          <p:cNvPr id="49" name="Text 3">
            <a:extLst>
              <a:ext uri="{FF2B5EF4-FFF2-40B4-BE49-F238E27FC236}">
                <a16:creationId xmlns:a16="http://schemas.microsoft.com/office/drawing/2014/main" id="{FEF99E9F-988E-60E1-75E0-0A62A2C9767B}"/>
              </a:ext>
            </a:extLst>
          </p:cNvPr>
          <p:cNvSpPr txBox="1"/>
          <p:nvPr/>
        </p:nvSpPr>
        <p:spPr>
          <a:xfrm>
            <a:off x="548640" y="4370831"/>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04  ·  COMMUNICATE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Partnering through trust</a:t>
            </a:r>
            <a:endParaRPr lang="en-US" sz="3000" dirty="0"/>
          </a:p>
        </p:txBody>
      </p:sp>
      <p:sp>
        <p:nvSpPr>
          <p:cNvPr id="4" name="Shape 2"/>
          <p:cNvSpPr/>
          <p:nvPr/>
        </p:nvSpPr>
        <p:spPr>
          <a:xfrm>
            <a:off x="548640"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5" name="Text 3"/>
          <p:cNvSpPr txBox="1"/>
          <p:nvPr/>
        </p:nvSpPr>
        <p:spPr>
          <a:xfrm>
            <a:off x="548640"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Approved</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budget</a:t>
            </a:r>
            <a:endParaRPr lang="en-US" sz="1350" dirty="0"/>
          </a:p>
        </p:txBody>
      </p:sp>
      <p:sp>
        <p:nvSpPr>
          <p:cNvPr id="6" name="Text 4"/>
          <p:cNvSpPr txBox="1"/>
          <p:nvPr/>
        </p:nvSpPr>
        <p:spPr>
          <a:xfrm>
            <a:off x="3063240"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410712"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8" name="Text 6"/>
          <p:cNvSpPr txBox="1"/>
          <p:nvPr/>
        </p:nvSpPr>
        <p:spPr>
          <a:xfrm>
            <a:off x="3410712"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Latest</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forecast</a:t>
            </a:r>
            <a:endParaRPr lang="en-US" sz="1350" dirty="0"/>
          </a:p>
        </p:txBody>
      </p:sp>
      <p:sp>
        <p:nvSpPr>
          <p:cNvPr id="9" name="Text 7"/>
          <p:cNvSpPr txBox="1"/>
          <p:nvPr/>
        </p:nvSpPr>
        <p:spPr>
          <a:xfrm>
            <a:off x="5925312"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272784"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11" name="Text 9"/>
          <p:cNvSpPr txBox="1"/>
          <p:nvPr/>
        </p:nvSpPr>
        <p:spPr>
          <a:xfrm>
            <a:off x="6272784"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Agreed</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mitigations</a:t>
            </a:r>
            <a:endParaRPr lang="en-US" sz="1350" dirty="0"/>
          </a:p>
        </p:txBody>
      </p:sp>
      <p:sp>
        <p:nvSpPr>
          <p:cNvPr id="12" name="Text 10"/>
          <p:cNvSpPr txBox="1"/>
          <p:nvPr/>
        </p:nvSpPr>
        <p:spPr>
          <a:xfrm>
            <a:off x="8787384"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9134856" y="1572768"/>
            <a:ext cx="2514600" cy="1051560"/>
          </a:xfrm>
          <a:prstGeom prst="roundRect">
            <a:avLst>
              <a:gd name="adj" fmla="val 5217"/>
            </a:avLst>
          </a:prstGeom>
          <a:solidFill>
            <a:srgbClr val="13453B"/>
          </a:solidFill>
          <a:ln w="12700">
            <a:solidFill>
              <a:srgbClr val="13453B"/>
            </a:solidFill>
            <a:prstDash val="solid"/>
          </a:ln>
        </p:spPr>
        <p:txBody>
          <a:bodyPr/>
          <a:lstStyle/>
          <a:p>
            <a:endParaRPr lang="en-GB"/>
          </a:p>
        </p:txBody>
      </p:sp>
      <p:sp>
        <p:nvSpPr>
          <p:cNvPr id="14" name="Text 12"/>
          <p:cNvSpPr txBox="1"/>
          <p:nvPr/>
        </p:nvSpPr>
        <p:spPr>
          <a:xfrm>
            <a:off x="9134856"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FFFFFF"/>
                </a:solidFill>
                <a:latin typeface="Calibri" pitchFamily="34" charset="0"/>
                <a:ea typeface="Calibri" pitchFamily="34" charset="-122"/>
                <a:cs typeface="Calibri" pitchFamily="34" charset="-120"/>
              </a:rPr>
              <a:t>Gap that</a:t>
            </a:r>
            <a:endParaRPr lang="en-US" sz="1350" dirty="0"/>
          </a:p>
          <a:p>
            <a:pPr marL="0" indent="0" algn="ctr">
              <a:lnSpc>
                <a:spcPts val="1700"/>
              </a:lnSpc>
              <a:buNone/>
            </a:pPr>
            <a:r>
              <a:rPr lang="en-US" sz="1350" b="1" dirty="0">
                <a:solidFill>
                  <a:srgbClr val="FFFFFF"/>
                </a:solidFill>
                <a:latin typeface="Calibri" pitchFamily="34" charset="0"/>
                <a:ea typeface="Calibri" pitchFamily="34" charset="-122"/>
                <a:cs typeface="Calibri" pitchFamily="34" charset="-120"/>
              </a:rPr>
              <a:t>remains</a:t>
            </a:r>
            <a:endParaRPr lang="en-US" sz="1350" dirty="0"/>
          </a:p>
        </p:txBody>
      </p:sp>
      <p:sp>
        <p:nvSpPr>
          <p:cNvPr id="15" name="Text 13"/>
          <p:cNvSpPr txBox="1"/>
          <p:nvPr/>
        </p:nvSpPr>
        <p:spPr>
          <a:xfrm>
            <a:off x="548640" y="2926080"/>
            <a:ext cx="11094415" cy="329184"/>
          </a:xfrm>
          <a:prstGeom prst="rect">
            <a:avLst/>
          </a:prstGeom>
          <a:noFill/>
          <a:ln/>
        </p:spPr>
        <p:txBody>
          <a:bodyPr wrap="square" lIns="0" tIns="0" rIns="0" bIns="0" rtlCol="0" anchor="ctr"/>
          <a:lstStyle/>
          <a:p>
            <a:pPr marL="0" indent="0">
              <a:buNone/>
            </a:pPr>
            <a:r>
              <a:rPr lang="en-US" sz="1400" b="1" dirty="0">
                <a:solidFill>
                  <a:srgbClr val="13453B"/>
                </a:solidFill>
                <a:latin typeface="Calibri" pitchFamily="34" charset="0"/>
                <a:ea typeface="Calibri" pitchFamily="34" charset="-122"/>
                <a:cs typeface="Calibri" pitchFamily="34" charset="-120"/>
              </a:rPr>
              <a:t>Why a repairs overspend is more than a budget variance</a:t>
            </a:r>
            <a:endParaRPr lang="en-US" sz="1400" dirty="0"/>
          </a:p>
        </p:txBody>
      </p:sp>
      <p:sp>
        <p:nvSpPr>
          <p:cNvPr id="17" name="Text 15"/>
          <p:cNvSpPr txBox="1"/>
          <p:nvPr/>
        </p:nvSpPr>
        <p:spPr>
          <a:xfrm>
            <a:off x="548640" y="3346704"/>
            <a:ext cx="11091672" cy="548640"/>
          </a:xfrm>
          <a:prstGeom prst="rect">
            <a:avLst/>
          </a:prstGeom>
          <a:noFill/>
          <a:ln/>
        </p:spPr>
        <p:txBody>
          <a:bodyPr wrap="square" lIns="0" tIns="0" rIns="0" bIns="0" rtlCol="0" anchor="ctr"/>
          <a:lstStyle/>
          <a:p>
            <a:r>
              <a:rPr lang="en-US" sz="1300" b="1" dirty="0">
                <a:solidFill>
                  <a:srgbClr val="C8892F"/>
                </a:solidFill>
                <a:latin typeface="Calibri" pitchFamily="34" charset="0"/>
                <a:ea typeface="Calibri" pitchFamily="34" charset="-122"/>
                <a:cs typeface="Calibri" pitchFamily="34" charset="-120"/>
              </a:rPr>
              <a:t>It affects the surplus – </a:t>
            </a:r>
            <a:r>
              <a:rPr lang="en-US" sz="1300" b="0" dirty="0">
                <a:solidFill>
                  <a:srgbClr val="33423D"/>
                </a:solidFill>
                <a:latin typeface="Calibri" pitchFamily="34" charset="0"/>
                <a:ea typeface="Calibri" pitchFamily="34" charset="-122"/>
                <a:cs typeface="Calibri" pitchFamily="34" charset="-120"/>
              </a:rPr>
              <a:t>Repairs is largely revenue spend, so an overspend comes off operating surplus – which feeds interest cover and covenant headroom.</a:t>
            </a:r>
            <a:endParaRPr lang="en-US" sz="1300" dirty="0"/>
          </a:p>
        </p:txBody>
      </p:sp>
      <p:sp>
        <p:nvSpPr>
          <p:cNvPr id="20" name="Text 18"/>
          <p:cNvSpPr txBox="1"/>
          <p:nvPr/>
        </p:nvSpPr>
        <p:spPr>
          <a:xfrm>
            <a:off x="548640" y="3950208"/>
            <a:ext cx="11091672" cy="548640"/>
          </a:xfrm>
          <a:prstGeom prst="rect">
            <a:avLst/>
          </a:prstGeom>
          <a:noFill/>
          <a:ln/>
        </p:spPr>
        <p:txBody>
          <a:bodyPr wrap="square" lIns="0" tIns="0" rIns="0" bIns="0" rtlCol="0" anchor="ctr"/>
          <a:lstStyle/>
          <a:p>
            <a:r>
              <a:rPr lang="en-US" sz="1300" b="1" dirty="0">
                <a:solidFill>
                  <a:srgbClr val="C8892F"/>
                </a:solidFill>
                <a:latin typeface="Calibri" pitchFamily="34" charset="0"/>
                <a:ea typeface="Calibri" pitchFamily="34" charset="-122"/>
                <a:cs typeface="Calibri" pitchFamily="34" charset="-120"/>
              </a:rPr>
              <a:t>It competes with the investment programme – </a:t>
            </a:r>
            <a:r>
              <a:rPr lang="en-US" sz="1300" b="0" dirty="0">
                <a:solidFill>
                  <a:srgbClr val="33423D"/>
                </a:solidFill>
                <a:latin typeface="Calibri" pitchFamily="34" charset="0"/>
                <a:ea typeface="Calibri" pitchFamily="34" charset="-122"/>
                <a:cs typeface="Calibri" pitchFamily="34" charset="-120"/>
              </a:rPr>
              <a:t>Money spent unplanned on reactive work is money not available for planned works and new homes.</a:t>
            </a:r>
            <a:endParaRPr lang="en-US" sz="1300" dirty="0"/>
          </a:p>
        </p:txBody>
      </p:sp>
      <p:sp>
        <p:nvSpPr>
          <p:cNvPr id="21" name="Text 19"/>
          <p:cNvSpPr txBox="1"/>
          <p:nvPr/>
        </p:nvSpPr>
        <p:spPr>
          <a:xfrm>
            <a:off x="548640" y="4617720"/>
            <a:ext cx="11091672" cy="868680"/>
          </a:xfrm>
          <a:prstGeom prst="rect">
            <a:avLst/>
          </a:prstGeom>
          <a:noFill/>
          <a:ln/>
        </p:spPr>
        <p:txBody>
          <a:bodyPr wrap="square" lIns="0" tIns="0" rIns="0" bIns="0" rtlCol="0" anchor="t"/>
          <a:lstStyle/>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timely in the communication – identifying risks late leaves little opportunity to correct course</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honest</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factual</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the partner</a:t>
            </a:r>
          </a:p>
        </p:txBody>
      </p:sp>
      <p:sp>
        <p:nvSpPr>
          <p:cNvPr id="22" name="Text 20"/>
          <p:cNvSpPr txBox="1"/>
          <p:nvPr/>
        </p:nvSpPr>
        <p:spPr>
          <a:xfrm>
            <a:off x="548640" y="5623560"/>
            <a:ext cx="11094415" cy="411480"/>
          </a:xfrm>
          <a:prstGeom prst="rect">
            <a:avLst/>
          </a:prstGeom>
          <a:noFill/>
          <a:ln/>
        </p:spPr>
        <p:txBody>
          <a:bodyPr wrap="square" lIns="0" tIns="0" rIns="0" bIns="0" rtlCol="0" anchor="ctr"/>
          <a:lstStyle/>
          <a:p>
            <a:pPr marL="0" indent="0">
              <a:buNone/>
            </a:pPr>
            <a:r>
              <a:rPr lang="en-US" sz="1350" b="1" dirty="0">
                <a:solidFill>
                  <a:srgbClr val="16211E"/>
                </a:solidFill>
                <a:latin typeface="Calibri" pitchFamily="34" charset="0"/>
                <a:cs typeface="Calibri" pitchFamily="34" charset="-120"/>
              </a:rPr>
              <a:t>Identify the gap, provide a recommendation and the alternative. Be clear on the consequence of doing nothing.</a:t>
            </a:r>
            <a:endParaRPr lang="en-US" sz="1350" dirty="0"/>
          </a:p>
        </p:txBody>
      </p:sp>
      <p:sp>
        <p:nvSpPr>
          <p:cNvPr id="24" name="Text 21"/>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5" name="Text 22"/>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453B"/>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05  ·  MEASURE</a:t>
            </a:r>
            <a:endParaRPr lang="en-US" sz="1000" dirty="0"/>
          </a:p>
        </p:txBody>
      </p:sp>
      <p:sp>
        <p:nvSpPr>
          <p:cNvPr id="3" name="Text 1"/>
          <p:cNvSpPr txBox="1"/>
          <p:nvPr/>
        </p:nvSpPr>
        <p:spPr>
          <a:xfrm>
            <a:off x="548640" y="777240"/>
            <a:ext cx="11094415"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Measure the money and the home</a:t>
            </a:r>
            <a:endParaRPr lang="en-US" sz="3000" dirty="0"/>
          </a:p>
        </p:txBody>
      </p:sp>
      <p:sp>
        <p:nvSpPr>
          <p:cNvPr id="4" name="Text 2"/>
          <p:cNvSpPr txBox="1"/>
          <p:nvPr/>
        </p:nvSpPr>
        <p:spPr>
          <a:xfrm>
            <a:off x="548640" y="1371600"/>
            <a:ext cx="11094415" cy="292608"/>
          </a:xfrm>
          <a:prstGeom prst="rect">
            <a:avLst/>
          </a:prstGeom>
          <a:noFill/>
          <a:ln/>
        </p:spPr>
        <p:txBody>
          <a:bodyPr wrap="square" lIns="0" tIns="0" rIns="0" bIns="0" rtlCol="0" anchor="ctr"/>
          <a:lstStyle/>
          <a:p>
            <a:pPr marL="0" indent="0">
              <a:buNone/>
            </a:pPr>
            <a:r>
              <a:rPr lang="en-US" sz="1350" i="1" dirty="0">
                <a:solidFill>
                  <a:srgbClr val="9CC7B8"/>
                </a:solidFill>
                <a:latin typeface="Calibri" pitchFamily="34" charset="0"/>
                <a:ea typeface="Calibri" pitchFamily="34" charset="-122"/>
                <a:cs typeface="Calibri" pitchFamily="34" charset="-120"/>
              </a:rPr>
              <a:t>A short set, each with a definition, a baseline, an owner and a trigger.</a:t>
            </a:r>
            <a:endParaRPr lang="en-US" sz="1350" dirty="0"/>
          </a:p>
        </p:txBody>
      </p:sp>
      <p:sp>
        <p:nvSpPr>
          <p:cNvPr id="5" name="Text 3"/>
          <p:cNvSpPr txBox="1"/>
          <p:nvPr/>
        </p:nvSpPr>
        <p:spPr>
          <a:xfrm>
            <a:off x="548640" y="1965960"/>
            <a:ext cx="5212080" cy="274320"/>
          </a:xfrm>
          <a:prstGeom prst="rect">
            <a:avLst/>
          </a:prstGeom>
          <a:noFill/>
          <a:ln/>
        </p:spPr>
        <p:txBody>
          <a:bodyPr wrap="square" lIns="0" tIns="0" rIns="0" bIns="0" rtlCol="0" anchor="ctr"/>
          <a:lstStyle/>
          <a:p>
            <a:pPr marL="0" indent="0">
              <a:buNone/>
            </a:pPr>
            <a:r>
              <a:rPr lang="en-US" sz="1100" b="1" kern="0" spc="180" dirty="0">
                <a:solidFill>
                  <a:srgbClr val="C8892F"/>
                </a:solidFill>
                <a:latin typeface="Calibri" pitchFamily="34" charset="0"/>
                <a:ea typeface="Calibri" pitchFamily="34" charset="-122"/>
                <a:cs typeface="Calibri" pitchFamily="34" charset="-120"/>
              </a:rPr>
              <a:t>FINANCIAL</a:t>
            </a:r>
            <a:endParaRPr lang="en-US" sz="1100" dirty="0"/>
          </a:p>
        </p:txBody>
      </p:sp>
      <p:sp>
        <p:nvSpPr>
          <p:cNvPr id="6" name="Text 4"/>
          <p:cNvSpPr txBox="1"/>
          <p:nvPr/>
        </p:nvSpPr>
        <p:spPr>
          <a:xfrm>
            <a:off x="585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The gap, and how it has moved since last time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Whether expected savings have actually landed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Split between capital and revenue spend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Cost per job, adjusted for the mix of work</a:t>
            </a:r>
          </a:p>
          <a:p>
            <a:pPr marL="342900" indent="-342900">
              <a:lnSpc>
                <a:spcPts val="1800"/>
              </a:lnSpc>
              <a:spcAft>
                <a:spcPts val="900"/>
              </a:spcAft>
              <a:buSzPct val="100000"/>
              <a:buChar char="•"/>
            </a:pPr>
            <a:r>
              <a:rPr lang="en-US" sz="1300" dirty="0">
                <a:solidFill>
                  <a:srgbClr val="DCEAE4"/>
                </a:solidFill>
                <a:latin typeface="Calibri" pitchFamily="34" charset="0"/>
                <a:cs typeface="Calibri" pitchFamily="34" charset="-120"/>
              </a:rPr>
              <a:t>Productivity</a:t>
            </a:r>
            <a:endParaRPr lang="en-US" sz="1300" dirty="0"/>
          </a:p>
        </p:txBody>
      </p:sp>
      <p:sp>
        <p:nvSpPr>
          <p:cNvPr id="7" name="Text 5"/>
          <p:cNvSpPr txBox="1"/>
          <p:nvPr/>
        </p:nvSpPr>
        <p:spPr>
          <a:xfrm>
            <a:off x="6263640" y="1965960"/>
            <a:ext cx="5212080" cy="274320"/>
          </a:xfrm>
          <a:prstGeom prst="rect">
            <a:avLst/>
          </a:prstGeom>
          <a:noFill/>
          <a:ln/>
        </p:spPr>
        <p:txBody>
          <a:bodyPr wrap="square" lIns="0" tIns="0" rIns="0" bIns="0" rtlCol="0" anchor="ctr"/>
          <a:lstStyle/>
          <a:p>
            <a:pPr marL="0" indent="0">
              <a:buNone/>
            </a:pPr>
            <a:r>
              <a:rPr lang="en-US" sz="1100" b="1" kern="0" spc="180" dirty="0">
                <a:solidFill>
                  <a:srgbClr val="C8892F"/>
                </a:solidFill>
                <a:latin typeface="Calibri" pitchFamily="34" charset="0"/>
                <a:ea typeface="Calibri" pitchFamily="34" charset="-122"/>
                <a:cs typeface="Calibri" pitchFamily="34" charset="-120"/>
              </a:rPr>
              <a:t>SERVICE AND RESIDENT</a:t>
            </a:r>
            <a:endParaRPr lang="en-US" sz="1100" dirty="0"/>
          </a:p>
        </p:txBody>
      </p:sp>
      <p:sp>
        <p:nvSpPr>
          <p:cNvPr id="8" name="Text 6"/>
          <p:cNvSpPr txBox="1"/>
          <p:nvPr/>
        </p:nvSpPr>
        <p:spPr>
          <a:xfrm>
            <a:off x="6300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Outstanding safety and compliance work</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First-time fix and repeat visits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Jobs per operative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Backlog, and how old it is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Satisfaction and repeat contact</a:t>
            </a:r>
            <a:endParaRPr lang="en-US" sz="1300" dirty="0"/>
          </a:p>
        </p:txBody>
      </p:sp>
      <p:sp>
        <p:nvSpPr>
          <p:cNvPr id="9" name="Shape 7"/>
          <p:cNvSpPr/>
          <p:nvPr/>
        </p:nvSpPr>
        <p:spPr>
          <a:xfrm>
            <a:off x="548640" y="4160520"/>
            <a:ext cx="11094415" cy="0"/>
          </a:xfrm>
          <a:prstGeom prst="line">
            <a:avLst/>
          </a:prstGeom>
          <a:noFill/>
          <a:ln w="12700">
            <a:solidFill>
              <a:srgbClr val="2E7D68"/>
            </a:solidFill>
            <a:prstDash val="solid"/>
          </a:ln>
        </p:spPr>
        <p:txBody>
          <a:bodyPr/>
          <a:lstStyle/>
          <a:p>
            <a:endParaRPr lang="en-GB"/>
          </a:p>
        </p:txBody>
      </p:sp>
      <p:sp>
        <p:nvSpPr>
          <p:cNvPr id="10" name="Text 8"/>
          <p:cNvSpPr txBox="1"/>
          <p:nvPr/>
        </p:nvSpPr>
        <p:spPr>
          <a:xfrm>
            <a:off x="548640" y="4736592"/>
            <a:ext cx="11091672" cy="292608"/>
          </a:xfrm>
          <a:prstGeom prst="rect">
            <a:avLst/>
          </a:prstGeom>
          <a:noFill/>
          <a:ln/>
        </p:spPr>
        <p:txBody>
          <a:bodyPr wrap="square" lIns="0" tIns="0" rIns="0" bIns="0" rtlCol="0" anchor="ctr"/>
          <a:lstStyle/>
          <a:p>
            <a:pPr marL="0" indent="0">
              <a:buNone/>
            </a:pPr>
            <a:r>
              <a:rPr lang="en-US" sz="1250" dirty="0">
                <a:solidFill>
                  <a:srgbClr val="9CC7B8"/>
                </a:solidFill>
                <a:latin typeface="Calibri" pitchFamily="34" charset="0"/>
                <a:ea typeface="Calibri" pitchFamily="34" charset="-122"/>
                <a:cs typeface="Calibri" pitchFamily="34" charset="-120"/>
              </a:rPr>
              <a:t>Weekly look at exceptions with the operational team. Monthly signed-off position. Anything safety-related goes straight up.</a:t>
            </a:r>
            <a:endParaRPr lang="en-US" sz="1250" dirty="0"/>
          </a:p>
        </p:txBody>
      </p:sp>
      <p:sp>
        <p:nvSpPr>
          <p:cNvPr id="13" name="Text 10"/>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14" name="Text 11"/>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e8712ce-4b1c-42f0-8103-696d10633cf9}" enabled="1" method="Privileged" siteId="{ddd66cce-ffe1-4029-967c-5e15ef73127f}" contentBits="3" removed="0"/>
</clbl:labelList>
</file>

<file path=docProps/app.xml><?xml version="1.0" encoding="utf-8"?>
<Properties xmlns="http://schemas.openxmlformats.org/officeDocument/2006/extended-properties" xmlns:vt="http://schemas.openxmlformats.org/officeDocument/2006/docPropsVTypes">
  <TotalTime>237</TotalTime>
  <Words>2430</Words>
  <Application>Microsoft Office PowerPoint</Application>
  <PresentationFormat>Widescreen</PresentationFormat>
  <Paragraphs>150</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Financial Performance Across Repairs &amp; Maintenance</dc:title>
  <dc:subject/>
  <dc:creator>Sandra Vermaak</dc:creator>
  <cp:lastModifiedBy>Sandra Vermaak</cp:lastModifiedBy>
  <cp:revision>22</cp:revision>
  <dcterms:created xsi:type="dcterms:W3CDTF">2026-09-09T10:44:24Z</dcterms:created>
  <dcterms:modified xsi:type="dcterms:W3CDTF">2026-09-11T15:52:14Z</dcterms:modified>
</cp:coreProperties>
</file>