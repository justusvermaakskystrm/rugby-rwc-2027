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0" d="100"/>
          <a:sy n="160" d="100"/>
        </p:scale>
        <p:origin x="29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9166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0:45  ·  Seven slides, ten minutes.
Thank you for seeing me. I've got ten minutes, so I'll take your five questions in order: how I'd work out what's driving the overspend, how I'd rebuild the forecast with the budget holders, what I'd actually do about it, how I'd tell senior leaders, and what I'd track afterwards.
One thing up front. I don't know your systems or your numbers yet, so this is how I'd approach it rather than a view on how things work here. Where I've used a figure it's illustrative, and I'll say so.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1:20  ·  Running total 2:05.
Before I can explain a variance I need to know what is actually in the budget. A hundred million across about twenty-five thousand homes is roughly four thousand pounds a home. That is more than responsive repairs alone would cost, so the budget must also be carrying cyclical work, compliance and planned or major works.
That matters for two reasons. These things behave differently. Responsive is demand-led and hard to predict, compliance is effectively fixed, planned work is programme-driven. An average across all of them hides what is going on. And they sit on different sides of the revenue and capital line, and only the revenue side hits the surplus.
So the first thing I would do is agree with the team exactly what sits in the number, and where that line is drawn. Reclassifying spend is not a saving, and I would want to be sure that none of the reported position depends on it.
[Note] The £100m is the scenario you gave me; the per-home figure is my own arithmetic. The categories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2:05  ·  Running total 4:10.
Before deciding anything I would want to know what is actually driving it, and I would work through it in a set order.
First, is it real? A lot of apparent overspends turn out to be timing. Work done but not yet invoiced, accruals in the wrong period, jobs coded to the wrong budget, or a programme simply running ahead of its phasing. I would rule that out before raising an alarm, because getting that wrong once costs you credibility for the rest of the year.
Once I am satisfied it is real, I would split it three ways. Volume: are we doing more jobs than we planned for? Price: is each job costing more than we assumed, and is that labour, materials, or more work going to contractors? Mix: is the work different – more emergencies, more complex jobs, or particular property types and areas driving it?
That split matters because each one leads somewhere different. A volume problem is a demand and capacity conversation. A price problem is a procurement and rates conversation. A mix problem usually means the assumptions in the budget were wrong, and that affects next year as well as this one.
And I would not do this from a spreadsheet on its own. I would go through real jobs with the supervisors and planners, so that whatever I end up telling the board matches what is actually happening on the ground.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1:35  ·  Running total 5:45.
The forecast has to be built with the budget holders, not sent to them. I bring the structure and the challenge; they own the assumptions about demand, capacity and what they can realistically deliver. If they have not helped shape it they will not stand behind it, and a forecast nobody stands behind gets ignored.
The mechanics are actuals, plus what we are already committed to, plus the remaining work at a realistic cost per job. For responsive that is expected job numbers by type against an evidenced unit cost, allowing for seasonality and backlog. For planned work it is what is left at contract rates, against dates the team actually believes. I would be careful with open commitments so nothing is counted twice – that is the easiest mistake to make.
I would write down who owns each significant assumption and how confident they are, and run a downside as well as a base case, so we can see the range and which two or three things really move the answer.
One thing I would hold firmly. Show the forecast before mitigation. Only actions that are owned, dated and realistic come off it, and everything else is listed separately as an opportunity. A savings target is not a forecast.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1:35  ·  Running total 7:20.
I would work through the options in a deliberate order.
First, protect. Safety, compliance and statutory response times are ring-fenced. Slowing those down is not a saving. It comes back as disrepair cost, and it is the wrong thing to do to somebody living in the home.
Second, get more out of the capacity we already have. Where there are in-house teams, the cheapest saving available is making them more productive: the right diagnosis, the right trade first time, materials on the van, appointments that stick. But I would only call that a cash saving if it actually reduces paid hours or takes work off a contractor. If it does not, it is spare capacity or cost avoided later, and I would report it that way.
Third, external spend. Working with procurement on call-off discipline, checking variations are valid, and testing rates on genuinely comparable work.
Fourth, and only then, rephasing discretionary planned work with the asset and service leads.
And I would be clear about the knock-on effect, because this is where in-year savings destroy value. Deferring planned work usually increases responsive demand later, and it moves spend that would have been capitalised into revenue, which hits the surplus rather than just moving between years. Every action needs an owner, a date, a cost to deliver it and a benefit we can evidence.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1:25  ·  Running total 8:45.
I would tell senior leaders as soon as there is a credible sign of a material problem, and be clear about what I know as against what I am still checking. I would not wait for a tidy month-end pack, because the information loses value faster than it gains accuracy.
The report itself is a bridge. Approved budget, to the latest forecast, to the mitigations we have actually agreed, to the gap that is left, with a downside case and the movement since last time. One page. The decision I need, what I recommend, the alternative, and what happens if we do nothing.
What I would avoid is presenting it as just a budget variance. Repairs is mostly revenue spend, so an overspend comes straight off the operating surplus, and that feeds interest cover and covenant headroom. And in practical terms, money spent unplanned on reactive work is money that is not available for planned works or for new homes. That is the trade-off leadership is really being asked to make, so that is how I would frame it – and it is why I would want treasury and corporate finance in the conversation early rather than at the end.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1:15  ·  Running total 10:00.
Last, measurement. I would agree a short set with the teams, each with a definition, a baseline, an owner and a point where we escalate. The test of a dashboard is whether it changes what somebody does on Monday morning.
On the money: the gap and how it has moved, whether the savings we agreed have actually landed, the capital and revenue split, and cost per job adjusted for the mix of work. That adjustment matters, because an average cost can fall simply because the team did easier jobs that month, and I would not let that be reported as efficiency.
On the service: outstanding safety and compliance work, first-time fix, jobs per operative, how old the backlog is, and repeat contact. Those tell you early if a saving is coming out of the resident rather than out of the cost.
What I would want a year in is a number the operation recognises as theirs, a forecast that stops moving, and a resident who does not have to ring twice.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453B"/>
        </a:solidFill>
        <a:effectLst/>
      </p:bgPr>
    </p:bg>
    <p:spTree>
      <p:nvGrpSpPr>
        <p:cNvPr id="1" name=""/>
        <p:cNvGrpSpPr/>
        <p:nvPr/>
      </p:nvGrpSpPr>
      <p:grpSpPr>
        <a:xfrm>
          <a:off x="0" y="0"/>
          <a:ext cx="0" cy="0"/>
          <a:chOff x="0" y="0"/>
          <a:chExt cx="0" cy="0"/>
        </a:xfrm>
      </p:grpSpPr>
      <p:sp>
        <p:nvSpPr>
          <p:cNvPr id="2" name="Text 0"/>
          <p:cNvSpPr txBox="1"/>
          <p:nvPr/>
        </p:nvSpPr>
        <p:spPr>
          <a:xfrm>
            <a:off x="548640" y="548640"/>
            <a:ext cx="11094415" cy="274320"/>
          </a:xfrm>
          <a:prstGeom prst="rect">
            <a:avLst/>
          </a:prstGeom>
          <a:noFill/>
          <a:ln/>
        </p:spPr>
        <p:txBody>
          <a:bodyPr wrap="square" lIns="0" tIns="0" rIns="0" bIns="0" rtlCol="0" anchor="ctr"/>
          <a:lstStyle/>
          <a:p>
            <a:pPr marL="0" indent="0">
              <a:buNone/>
            </a:pPr>
            <a:r>
              <a:rPr lang="en-US" sz="1100" b="1" kern="0" spc="240" dirty="0">
                <a:solidFill>
                  <a:srgbClr val="8FBFAE"/>
                </a:solidFill>
                <a:latin typeface="Calibri" pitchFamily="34" charset="0"/>
                <a:ea typeface="Calibri" pitchFamily="34" charset="-122"/>
                <a:cs typeface="Calibri" pitchFamily="34" charset="-120"/>
              </a:rPr>
              <a:t>CODI GROUP  ·  INTERVIEW PRESENTATION</a:t>
            </a:r>
            <a:endParaRPr lang="en-US" sz="1100" dirty="0"/>
          </a:p>
        </p:txBody>
      </p:sp>
      <p:sp>
        <p:nvSpPr>
          <p:cNvPr id="3" name="Text 1"/>
          <p:cNvSpPr txBox="1"/>
          <p:nvPr/>
        </p:nvSpPr>
        <p:spPr>
          <a:xfrm>
            <a:off x="548640" y="2194560"/>
            <a:ext cx="10607040" cy="173736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Managing Financial Performance</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Across Repairs &amp; Maintenance</a:t>
            </a:r>
            <a:endParaRPr lang="en-US" sz="4000" dirty="0"/>
          </a:p>
        </p:txBody>
      </p:sp>
      <p:sp>
        <p:nvSpPr>
          <p:cNvPr id="4" name="Shape 2"/>
          <p:cNvSpPr/>
          <p:nvPr/>
        </p:nvSpPr>
        <p:spPr>
          <a:xfrm>
            <a:off x="548640" y="4892040"/>
            <a:ext cx="2743200" cy="0"/>
          </a:xfrm>
          <a:prstGeom prst="line">
            <a:avLst/>
          </a:prstGeom>
          <a:noFill/>
          <a:ln w="19050">
            <a:solidFill>
              <a:srgbClr val="2E7D68"/>
            </a:solidFill>
            <a:prstDash val="solid"/>
          </a:ln>
        </p:spPr>
        <p:txBody>
          <a:bodyPr/>
          <a:lstStyle/>
          <a:p>
            <a:endParaRPr lang="en-GB"/>
          </a:p>
        </p:txBody>
      </p:sp>
      <p:sp>
        <p:nvSpPr>
          <p:cNvPr id="5" name="Text 3"/>
          <p:cNvSpPr txBox="1"/>
          <p:nvPr/>
        </p:nvSpPr>
        <p:spPr>
          <a:xfrm>
            <a:off x="548640" y="5120640"/>
            <a:ext cx="5486400" cy="31089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Sandra Vermaak</a:t>
            </a:r>
            <a:endParaRPr lang="en-US" sz="1500" dirty="0"/>
          </a:p>
        </p:txBody>
      </p:sp>
      <p:sp>
        <p:nvSpPr>
          <p:cNvPr id="6" name="Text 4"/>
          <p:cNvSpPr txBox="1"/>
          <p:nvPr/>
        </p:nvSpPr>
        <p:spPr>
          <a:xfrm>
            <a:off x="548640" y="5468112"/>
            <a:ext cx="8229600" cy="274320"/>
          </a:xfrm>
          <a:prstGeom prst="rect">
            <a:avLst/>
          </a:prstGeom>
          <a:noFill/>
          <a:ln/>
        </p:spPr>
        <p:txBody>
          <a:bodyPr wrap="square" lIns="0" tIns="0" rIns="0" bIns="0" rtlCol="0" anchor="ctr"/>
          <a:lstStyle/>
          <a:p>
            <a:pPr marL="0" indent="0">
              <a:buNone/>
            </a:pPr>
            <a:r>
              <a:rPr lang="en-US" sz="1150" dirty="0">
                <a:solidFill>
                  <a:srgbClr val="8FBFAE"/>
                </a:solidFill>
                <a:latin typeface="Calibri" pitchFamily="34" charset="0"/>
                <a:ea typeface="Calibri" pitchFamily="34" charset="-122"/>
                <a:cs typeface="Calibri" pitchFamily="34" charset="-120"/>
              </a:rPr>
              <a:t>Candidate  ·  Finance Business Partner, Repairs &amp; Maintenance  ·  September 2026</a:t>
            </a:r>
            <a:endParaRPr lang="en-US" sz="1150" dirty="0"/>
          </a:p>
        </p:txBody>
      </p:sp>
      <p:sp>
        <p:nvSpPr>
          <p:cNvPr id="8" name="Text 5"/>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9" name="Text 6"/>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01  ·  INVESTIGATE</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Scope the number</a:t>
            </a:r>
            <a:endParaRPr lang="en-US" sz="3000" dirty="0"/>
          </a:p>
        </p:txBody>
      </p:sp>
      <p:sp>
        <p:nvSpPr>
          <p:cNvPr id="4" name="Shape 2"/>
          <p:cNvSpPr/>
          <p:nvPr/>
        </p:nvSpPr>
        <p:spPr>
          <a:xfrm>
            <a:off x="548640" y="1600200"/>
            <a:ext cx="4114800" cy="2148840"/>
          </a:xfrm>
          <a:prstGeom prst="roundRect">
            <a:avLst>
              <a:gd name="adj" fmla="val 2553"/>
            </a:avLst>
          </a:prstGeom>
          <a:solidFill>
            <a:srgbClr val="13453B"/>
          </a:solidFill>
          <a:ln w="12700">
            <a:solidFill>
              <a:srgbClr val="13453B"/>
            </a:solidFill>
            <a:prstDash val="solid"/>
          </a:ln>
        </p:spPr>
        <p:txBody>
          <a:bodyPr/>
          <a:lstStyle/>
          <a:p>
            <a:endParaRPr lang="en-GB"/>
          </a:p>
        </p:txBody>
      </p:sp>
      <p:sp>
        <p:nvSpPr>
          <p:cNvPr id="5" name="Text 3"/>
          <p:cNvSpPr txBox="1"/>
          <p:nvPr/>
        </p:nvSpPr>
        <p:spPr>
          <a:xfrm>
            <a:off x="868680" y="1828800"/>
            <a:ext cx="3474720" cy="86868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£4,000</a:t>
            </a:r>
            <a:endParaRPr lang="en-US" sz="4600" dirty="0"/>
          </a:p>
        </p:txBody>
      </p:sp>
      <p:sp>
        <p:nvSpPr>
          <p:cNvPr id="6" name="Text 4"/>
          <p:cNvSpPr txBox="1"/>
          <p:nvPr/>
        </p:nvSpPr>
        <p:spPr>
          <a:xfrm>
            <a:off x="868680" y="2697480"/>
            <a:ext cx="3474720" cy="274320"/>
          </a:xfrm>
          <a:prstGeom prst="rect">
            <a:avLst/>
          </a:prstGeom>
          <a:noFill/>
          <a:ln/>
        </p:spPr>
        <p:txBody>
          <a:bodyPr wrap="square" lIns="0" tIns="0" rIns="0" bIns="0" rtlCol="0" anchor="ctr"/>
          <a:lstStyle/>
          <a:p>
            <a:pPr marL="0" indent="0">
              <a:buNone/>
            </a:pPr>
            <a:r>
              <a:rPr lang="en-US" sz="1300" dirty="0">
                <a:solidFill>
                  <a:srgbClr val="9CC7B8"/>
                </a:solidFill>
                <a:latin typeface="Calibri" pitchFamily="34" charset="0"/>
                <a:ea typeface="Calibri" pitchFamily="34" charset="-122"/>
                <a:cs typeface="Calibri" pitchFamily="34" charset="-120"/>
              </a:rPr>
              <a:t>per home, per year</a:t>
            </a:r>
            <a:endParaRPr lang="en-US" sz="1300" dirty="0"/>
          </a:p>
        </p:txBody>
      </p:sp>
      <p:sp>
        <p:nvSpPr>
          <p:cNvPr id="7" name="Text 5"/>
          <p:cNvSpPr txBox="1"/>
          <p:nvPr/>
        </p:nvSpPr>
        <p:spPr>
          <a:xfrm>
            <a:off x="868680" y="3127248"/>
            <a:ext cx="3474720" cy="274320"/>
          </a:xfrm>
          <a:prstGeom prst="rect">
            <a:avLst/>
          </a:prstGeom>
          <a:noFill/>
          <a:ln/>
        </p:spPr>
        <p:txBody>
          <a:bodyPr wrap="square" lIns="0" tIns="0" rIns="0" bIns="0" rtlCol="0" anchor="ctr"/>
          <a:lstStyle/>
          <a:p>
            <a:pPr marL="0" indent="0">
              <a:buNone/>
            </a:pPr>
            <a:r>
              <a:rPr lang="en-US" sz="1150" i="1" dirty="0">
                <a:solidFill>
                  <a:srgbClr val="8FBFAE"/>
                </a:solidFill>
                <a:latin typeface="Calibri" pitchFamily="34" charset="0"/>
                <a:ea typeface="Calibri" pitchFamily="34" charset="-122"/>
                <a:cs typeface="Calibri" pitchFamily="34" charset="-120"/>
              </a:rPr>
              <a:t>c.£100m across c.25,000 homes</a:t>
            </a:r>
            <a:endParaRPr lang="en-US" sz="1150" dirty="0"/>
          </a:p>
        </p:txBody>
      </p:sp>
      <p:sp>
        <p:nvSpPr>
          <p:cNvPr id="8" name="Text 6"/>
          <p:cNvSpPr txBox="1"/>
          <p:nvPr/>
        </p:nvSpPr>
        <p:spPr>
          <a:xfrm>
            <a:off x="548640" y="3931920"/>
            <a:ext cx="4114800" cy="1188720"/>
          </a:xfrm>
          <a:prstGeom prst="rect">
            <a:avLst/>
          </a:prstGeom>
          <a:noFill/>
          <a:ln/>
        </p:spPr>
        <p:txBody>
          <a:bodyPr wrap="square" lIns="0" tIns="0" rIns="0" bIns="0" rtlCol="0" anchor="t"/>
          <a:lstStyle/>
          <a:p>
            <a:pPr marL="0" indent="0">
              <a:lnSpc>
                <a:spcPts val="1900"/>
              </a:lnSpc>
              <a:buNone/>
            </a:pPr>
            <a:r>
              <a:rPr lang="en-US" sz="1300" dirty="0">
                <a:solidFill>
                  <a:srgbClr val="33423D"/>
                </a:solidFill>
                <a:latin typeface="Calibri" pitchFamily="34" charset="0"/>
                <a:ea typeface="Calibri" pitchFamily="34" charset="-122"/>
                <a:cs typeface="Calibri" pitchFamily="34" charset="-120"/>
              </a:rPr>
              <a:t>At that level this is not only a responsive repairs budget. It spans several services with different cost behaviours – and it straddles both Revenue (operational expenditure) and Capital.</a:t>
            </a:r>
            <a:endParaRPr lang="en-US" sz="1300" dirty="0"/>
          </a:p>
        </p:txBody>
      </p:sp>
      <p:sp>
        <p:nvSpPr>
          <p:cNvPr id="9" name="Shape 7"/>
          <p:cNvSpPr/>
          <p:nvPr/>
        </p:nvSpPr>
        <p:spPr>
          <a:xfrm>
            <a:off x="5029200" y="1600200"/>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10" name="Text 8"/>
          <p:cNvSpPr txBox="1"/>
          <p:nvPr/>
        </p:nvSpPr>
        <p:spPr>
          <a:xfrm>
            <a:off x="5303520" y="1746504"/>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Responsive / reactive repairs</a:t>
            </a:r>
            <a:endParaRPr lang="en-US" sz="1400" dirty="0"/>
          </a:p>
        </p:txBody>
      </p:sp>
      <p:sp>
        <p:nvSpPr>
          <p:cNvPr id="11" name="Text 9"/>
          <p:cNvSpPr txBox="1"/>
          <p:nvPr/>
        </p:nvSpPr>
        <p:spPr>
          <a:xfrm>
            <a:off x="5303520" y="2075688"/>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Demand-led, volatile, difficult to forecast</a:t>
            </a:r>
            <a:endParaRPr lang="en-US" sz="1150" dirty="0"/>
          </a:p>
        </p:txBody>
      </p:sp>
      <p:sp>
        <p:nvSpPr>
          <p:cNvPr id="12" name="Text 10"/>
          <p:cNvSpPr txBox="1"/>
          <p:nvPr/>
        </p:nvSpPr>
        <p:spPr>
          <a:xfrm>
            <a:off x="9966960" y="1746504"/>
            <a:ext cx="1463040" cy="274320"/>
          </a:xfrm>
          <a:prstGeom prst="rect">
            <a:avLst/>
          </a:prstGeom>
          <a:noFill/>
          <a:ln/>
        </p:spPr>
        <p:txBody>
          <a:bodyPr wrap="square" lIns="0" tIns="0" rIns="0" bIns="0" rtlCol="0" anchor="ctr"/>
          <a:lstStyle/>
          <a:p>
            <a:pPr marL="0" indent="0" algn="r">
              <a:buNone/>
            </a:pPr>
            <a:r>
              <a:rPr lang="en-US" sz="1050" b="1" dirty="0">
                <a:solidFill>
                  <a:srgbClr val="2E7D68"/>
                </a:solidFill>
                <a:latin typeface="Calibri" pitchFamily="34" charset="0"/>
                <a:ea typeface="Calibri" pitchFamily="34" charset="-122"/>
                <a:cs typeface="Calibri" pitchFamily="34" charset="-120"/>
              </a:rPr>
              <a:t>Revenue</a:t>
            </a:r>
            <a:endParaRPr lang="en-US" sz="1050" dirty="0"/>
          </a:p>
        </p:txBody>
      </p:sp>
      <p:sp>
        <p:nvSpPr>
          <p:cNvPr id="13" name="Shape 11"/>
          <p:cNvSpPr/>
          <p:nvPr/>
        </p:nvSpPr>
        <p:spPr>
          <a:xfrm>
            <a:off x="5029200" y="2770632"/>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14" name="Text 12"/>
          <p:cNvSpPr txBox="1"/>
          <p:nvPr/>
        </p:nvSpPr>
        <p:spPr>
          <a:xfrm>
            <a:off x="5303520" y="2916936"/>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Cyclical</a:t>
            </a:r>
            <a:endParaRPr lang="en-US" sz="1400" dirty="0"/>
          </a:p>
        </p:txBody>
      </p:sp>
      <p:sp>
        <p:nvSpPr>
          <p:cNvPr id="15" name="Text 13"/>
          <p:cNvSpPr txBox="1"/>
          <p:nvPr/>
        </p:nvSpPr>
        <p:spPr>
          <a:xfrm>
            <a:off x="5303520" y="3246120"/>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Servicing, decoration – predictable</a:t>
            </a:r>
            <a:endParaRPr lang="en-US" sz="1150" dirty="0"/>
          </a:p>
        </p:txBody>
      </p:sp>
      <p:sp>
        <p:nvSpPr>
          <p:cNvPr id="16" name="Text 14"/>
          <p:cNvSpPr txBox="1"/>
          <p:nvPr/>
        </p:nvSpPr>
        <p:spPr>
          <a:xfrm>
            <a:off x="9966960" y="2916936"/>
            <a:ext cx="1463040" cy="274320"/>
          </a:xfrm>
          <a:prstGeom prst="rect">
            <a:avLst/>
          </a:prstGeom>
          <a:noFill/>
          <a:ln/>
        </p:spPr>
        <p:txBody>
          <a:bodyPr wrap="square" lIns="0" tIns="0" rIns="0" bIns="0" rtlCol="0" anchor="ctr"/>
          <a:lstStyle/>
          <a:p>
            <a:pPr marL="0" indent="0" algn="r">
              <a:buNone/>
            </a:pPr>
            <a:r>
              <a:rPr lang="en-US" sz="1050" b="1" dirty="0">
                <a:solidFill>
                  <a:srgbClr val="2E7D68"/>
                </a:solidFill>
                <a:latin typeface="Calibri" pitchFamily="34" charset="0"/>
                <a:ea typeface="Calibri" pitchFamily="34" charset="-122"/>
                <a:cs typeface="Calibri" pitchFamily="34" charset="-120"/>
              </a:rPr>
              <a:t>Revenue</a:t>
            </a:r>
            <a:endParaRPr lang="en-US" sz="1050" dirty="0"/>
          </a:p>
        </p:txBody>
      </p:sp>
      <p:sp>
        <p:nvSpPr>
          <p:cNvPr id="17" name="Shape 15"/>
          <p:cNvSpPr/>
          <p:nvPr/>
        </p:nvSpPr>
        <p:spPr>
          <a:xfrm>
            <a:off x="5029200" y="3941064"/>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18" name="Text 16"/>
          <p:cNvSpPr txBox="1"/>
          <p:nvPr/>
        </p:nvSpPr>
        <p:spPr>
          <a:xfrm>
            <a:off x="5303520" y="4087368"/>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Compliance</a:t>
            </a:r>
            <a:endParaRPr lang="en-US" sz="1400" dirty="0"/>
          </a:p>
        </p:txBody>
      </p:sp>
      <p:sp>
        <p:nvSpPr>
          <p:cNvPr id="19" name="Text 17"/>
          <p:cNvSpPr txBox="1"/>
          <p:nvPr/>
        </p:nvSpPr>
        <p:spPr>
          <a:xfrm>
            <a:off x="5303520" y="4416552"/>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Non-negotiable spend</a:t>
            </a:r>
            <a:endParaRPr lang="en-US" sz="1150" dirty="0"/>
          </a:p>
        </p:txBody>
      </p:sp>
      <p:sp>
        <p:nvSpPr>
          <p:cNvPr id="20" name="Text 18"/>
          <p:cNvSpPr txBox="1"/>
          <p:nvPr/>
        </p:nvSpPr>
        <p:spPr>
          <a:xfrm>
            <a:off x="9966960" y="4087368"/>
            <a:ext cx="1463040" cy="274320"/>
          </a:xfrm>
          <a:prstGeom prst="rect">
            <a:avLst/>
          </a:prstGeom>
          <a:noFill/>
          <a:ln/>
        </p:spPr>
        <p:txBody>
          <a:bodyPr wrap="square" lIns="0" tIns="0" rIns="0" bIns="0" rtlCol="0" anchor="ctr"/>
          <a:lstStyle/>
          <a:p>
            <a:pPr marL="0" indent="0" algn="r">
              <a:buNone/>
            </a:pPr>
            <a:r>
              <a:rPr lang="en-US" sz="1050" b="1" dirty="0">
                <a:solidFill>
                  <a:srgbClr val="2E7D68"/>
                </a:solidFill>
                <a:latin typeface="Calibri" pitchFamily="34" charset="0"/>
                <a:ea typeface="Calibri" pitchFamily="34" charset="-122"/>
                <a:cs typeface="Calibri" pitchFamily="34" charset="-120"/>
              </a:rPr>
              <a:t>Revenue</a:t>
            </a:r>
            <a:endParaRPr lang="en-US" sz="1050" dirty="0"/>
          </a:p>
        </p:txBody>
      </p:sp>
      <p:sp>
        <p:nvSpPr>
          <p:cNvPr id="21" name="Shape 19"/>
          <p:cNvSpPr/>
          <p:nvPr/>
        </p:nvSpPr>
        <p:spPr>
          <a:xfrm>
            <a:off x="5029200" y="5111496"/>
            <a:ext cx="6611112" cy="1024128"/>
          </a:xfrm>
          <a:prstGeom prst="roundRect">
            <a:avLst>
              <a:gd name="adj" fmla="val 5357"/>
            </a:avLst>
          </a:prstGeom>
          <a:solidFill>
            <a:srgbClr val="F1F5F3"/>
          </a:solidFill>
          <a:ln w="12700">
            <a:solidFill>
              <a:srgbClr val="F1F5F3"/>
            </a:solidFill>
            <a:prstDash val="solid"/>
          </a:ln>
        </p:spPr>
        <p:txBody>
          <a:bodyPr/>
          <a:lstStyle/>
          <a:p>
            <a:endParaRPr lang="en-GB"/>
          </a:p>
        </p:txBody>
      </p:sp>
      <p:sp>
        <p:nvSpPr>
          <p:cNvPr id="22" name="Text 20"/>
          <p:cNvSpPr txBox="1"/>
          <p:nvPr/>
        </p:nvSpPr>
        <p:spPr>
          <a:xfrm>
            <a:off x="5303520" y="5257800"/>
            <a:ext cx="4206240" cy="292608"/>
          </a:xfrm>
          <a:prstGeom prst="rect">
            <a:avLst/>
          </a:prstGeom>
          <a:noFill/>
          <a:ln/>
        </p:spPr>
        <p:txBody>
          <a:bodyPr wrap="square" lIns="0" tIns="0" rIns="0" bIns="0" rtlCol="0" anchor="ctr"/>
          <a:lstStyle/>
          <a:p>
            <a:pPr marL="0" indent="0">
              <a:buNone/>
            </a:pPr>
            <a:r>
              <a:rPr lang="en-US" sz="1400" b="1" dirty="0">
                <a:solidFill>
                  <a:srgbClr val="16211E"/>
                </a:solidFill>
                <a:latin typeface="Calibri" pitchFamily="34" charset="0"/>
                <a:ea typeface="Calibri" pitchFamily="34" charset="-122"/>
                <a:cs typeface="Calibri" pitchFamily="34" charset="-120"/>
              </a:rPr>
              <a:t>Planned &amp; major works</a:t>
            </a:r>
            <a:endParaRPr lang="en-US" sz="1400" dirty="0"/>
          </a:p>
        </p:txBody>
      </p:sp>
      <p:sp>
        <p:nvSpPr>
          <p:cNvPr id="23" name="Text 21"/>
          <p:cNvSpPr txBox="1"/>
          <p:nvPr/>
        </p:nvSpPr>
        <p:spPr>
          <a:xfrm>
            <a:off x="5303520" y="5586984"/>
            <a:ext cx="4754880" cy="365760"/>
          </a:xfrm>
          <a:prstGeom prst="rect">
            <a:avLst/>
          </a:prstGeom>
          <a:noFill/>
          <a:ln/>
        </p:spPr>
        <p:txBody>
          <a:bodyPr wrap="square" lIns="0" tIns="0" rIns="0" bIns="0" rtlCol="0" anchor="ctr"/>
          <a:lstStyle/>
          <a:p>
            <a:pPr marL="0" indent="0">
              <a:buNone/>
            </a:pPr>
            <a:r>
              <a:rPr lang="en-US" sz="1150" dirty="0">
                <a:solidFill>
                  <a:srgbClr val="6E7D78"/>
                </a:solidFill>
                <a:latin typeface="Calibri" pitchFamily="34" charset="0"/>
                <a:ea typeface="Calibri" pitchFamily="34" charset="-122"/>
                <a:cs typeface="Calibri" pitchFamily="34" charset="-120"/>
              </a:rPr>
              <a:t>Component replacement, WHQS, retrofit</a:t>
            </a:r>
            <a:endParaRPr lang="en-US" sz="1150" dirty="0"/>
          </a:p>
        </p:txBody>
      </p:sp>
      <p:sp>
        <p:nvSpPr>
          <p:cNvPr id="24" name="Text 22"/>
          <p:cNvSpPr txBox="1"/>
          <p:nvPr/>
        </p:nvSpPr>
        <p:spPr>
          <a:xfrm>
            <a:off x="9966960" y="5257800"/>
            <a:ext cx="1463040" cy="274320"/>
          </a:xfrm>
          <a:prstGeom prst="rect">
            <a:avLst/>
          </a:prstGeom>
          <a:noFill/>
          <a:ln/>
        </p:spPr>
        <p:txBody>
          <a:bodyPr wrap="square" lIns="0" tIns="0" rIns="0" bIns="0" rtlCol="0" anchor="ctr"/>
          <a:lstStyle/>
          <a:p>
            <a:pPr marL="0" indent="0" algn="r">
              <a:buNone/>
            </a:pPr>
            <a:r>
              <a:rPr lang="en-US" sz="1050" b="1" dirty="0">
                <a:solidFill>
                  <a:srgbClr val="C8892F"/>
                </a:solidFill>
                <a:latin typeface="Calibri" pitchFamily="34" charset="0"/>
                <a:ea typeface="Calibri" pitchFamily="34" charset="-122"/>
                <a:cs typeface="Calibri" pitchFamily="34" charset="-120"/>
              </a:rPr>
              <a:t>Largely capital</a:t>
            </a:r>
            <a:endParaRPr lang="en-US" sz="1050" dirty="0"/>
          </a:p>
        </p:txBody>
      </p:sp>
      <p:sp>
        <p:nvSpPr>
          <p:cNvPr id="26" name="Text 23"/>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7" name="Text 24"/>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01  ·  INVESTIGATE</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What typically drives an overspend</a:t>
            </a:r>
            <a:endParaRPr lang="en-US" sz="3000" dirty="0"/>
          </a:p>
        </p:txBody>
      </p:sp>
      <p:sp>
        <p:nvSpPr>
          <p:cNvPr id="4" name="Text 2"/>
          <p:cNvSpPr txBox="1"/>
          <p:nvPr/>
        </p:nvSpPr>
        <p:spPr>
          <a:xfrm>
            <a:off x="548640" y="1315292"/>
            <a:ext cx="11094415" cy="1069848"/>
          </a:xfrm>
          <a:prstGeom prst="rect">
            <a:avLst/>
          </a:prstGeom>
          <a:noFill/>
          <a:ln/>
        </p:spPr>
        <p:txBody>
          <a:bodyPr wrap="square" lIns="0" tIns="0" rIns="0" bIns="0" rtlCol="0" anchor="ctr"/>
          <a:lstStyle/>
          <a:p>
            <a:pPr marL="342900" indent="-342900">
              <a:buAutoNum type="arabicPeriod"/>
            </a:pPr>
            <a:r>
              <a:rPr lang="en-US" sz="1350" i="1" dirty="0">
                <a:solidFill>
                  <a:srgbClr val="2E7D68"/>
                </a:solidFill>
                <a:latin typeface="Calibri" pitchFamily="34" charset="0"/>
                <a:ea typeface="Calibri" pitchFamily="34" charset="-122"/>
                <a:cs typeface="Calibri" pitchFamily="34" charset="-120"/>
              </a:rPr>
              <a:t>Is it real – errors, phasing, accruals and adjustments or allocations – GL deep dive.</a:t>
            </a:r>
          </a:p>
          <a:p>
            <a:pPr marL="342900" indent="-342900">
              <a:buAutoNum type="arabicPeriod"/>
            </a:pPr>
            <a:r>
              <a:rPr lang="en-US" sz="1350" i="1" dirty="0">
                <a:solidFill>
                  <a:srgbClr val="2E7D68"/>
                </a:solidFill>
                <a:latin typeface="Calibri" pitchFamily="34" charset="0"/>
                <a:ea typeface="Calibri" pitchFamily="34" charset="-122"/>
                <a:cs typeface="Calibri" pitchFamily="34" charset="-120"/>
              </a:rPr>
              <a:t>Is it once off or an emerging trend?</a:t>
            </a:r>
          </a:p>
          <a:p>
            <a:pPr marL="342900" indent="-342900">
              <a:buAutoNum type="arabicPeriod"/>
            </a:pPr>
            <a:r>
              <a:rPr lang="en-US" sz="1350" i="1" dirty="0">
                <a:solidFill>
                  <a:srgbClr val="2E7D68"/>
                </a:solidFill>
                <a:latin typeface="Calibri" pitchFamily="34" charset="0"/>
                <a:ea typeface="Calibri" pitchFamily="34" charset="-122"/>
                <a:cs typeface="Calibri" pitchFamily="34" charset="-120"/>
              </a:rPr>
              <a:t>Compare the actuals to PY as well as forecast – have the forecast assumptions changed?</a:t>
            </a:r>
          </a:p>
          <a:p>
            <a:endParaRPr lang="en-US" sz="1350" i="1" dirty="0">
              <a:solidFill>
                <a:srgbClr val="2E7D68"/>
              </a:solidFill>
              <a:latin typeface="Calibri" pitchFamily="34" charset="0"/>
              <a:ea typeface="Calibri" pitchFamily="34" charset="-122"/>
              <a:cs typeface="Calibri" pitchFamily="34" charset="-120"/>
            </a:endParaRPr>
          </a:p>
          <a:p>
            <a:pPr marL="0" indent="0">
              <a:buNone/>
            </a:pPr>
            <a:r>
              <a:rPr lang="en-US" sz="1350" i="1" dirty="0">
                <a:solidFill>
                  <a:srgbClr val="2E7D68"/>
                </a:solidFill>
                <a:latin typeface="Calibri" pitchFamily="34" charset="0"/>
                <a:ea typeface="Calibri" pitchFamily="34" charset="-122"/>
                <a:cs typeface="Calibri" pitchFamily="34" charset="-120"/>
              </a:rPr>
              <a:t>Then split the variance three ways.</a:t>
            </a:r>
            <a:endParaRPr lang="en-US" sz="1350" dirty="0"/>
          </a:p>
        </p:txBody>
      </p:sp>
      <p:sp>
        <p:nvSpPr>
          <p:cNvPr id="5" name="Shape 3"/>
          <p:cNvSpPr/>
          <p:nvPr/>
        </p:nvSpPr>
        <p:spPr>
          <a:xfrm>
            <a:off x="548640" y="2798064"/>
            <a:ext cx="3483864" cy="2916936"/>
          </a:xfrm>
          <a:prstGeom prst="roundRect">
            <a:avLst>
              <a:gd name="adj" fmla="val 1574"/>
            </a:avLst>
          </a:prstGeom>
          <a:solidFill>
            <a:srgbClr val="F1F5F3"/>
          </a:solidFill>
          <a:ln w="12700">
            <a:solidFill>
              <a:srgbClr val="F1F5F3"/>
            </a:solidFill>
            <a:prstDash val="solid"/>
          </a:ln>
        </p:spPr>
        <p:txBody>
          <a:bodyPr/>
          <a:lstStyle/>
          <a:p>
            <a:endParaRPr lang="en-GB"/>
          </a:p>
        </p:txBody>
      </p:sp>
      <p:sp>
        <p:nvSpPr>
          <p:cNvPr id="6" name="Shape 4"/>
          <p:cNvSpPr/>
          <p:nvPr/>
        </p:nvSpPr>
        <p:spPr>
          <a:xfrm>
            <a:off x="749808" y="2852928"/>
            <a:ext cx="420624" cy="420624"/>
          </a:xfrm>
          <a:prstGeom prst="ellipse">
            <a:avLst/>
          </a:prstGeom>
          <a:solidFill>
            <a:srgbClr val="13453B"/>
          </a:solidFill>
          <a:ln/>
        </p:spPr>
        <p:txBody>
          <a:bodyPr/>
          <a:lstStyle/>
          <a:p>
            <a:endParaRPr lang="en-GB"/>
          </a:p>
        </p:txBody>
      </p:sp>
      <p:sp>
        <p:nvSpPr>
          <p:cNvPr id="7" name="Text 5"/>
          <p:cNvSpPr txBox="1"/>
          <p:nvPr/>
        </p:nvSpPr>
        <p:spPr>
          <a:xfrm>
            <a:off x="749808" y="285292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335024" y="2898648"/>
            <a:ext cx="2468880" cy="329184"/>
          </a:xfrm>
          <a:prstGeom prst="rect">
            <a:avLst/>
          </a:prstGeom>
          <a:noFill/>
          <a:ln/>
        </p:spPr>
        <p:txBody>
          <a:bodyPr wrap="square" lIns="0" tIns="0" rIns="0" bIns="0" rtlCol="0" anchor="ctr"/>
          <a:lstStyle/>
          <a:p>
            <a:pPr marL="0" indent="0">
              <a:buNone/>
            </a:pPr>
            <a:r>
              <a:rPr lang="en-US" sz="1900" b="1" dirty="0">
                <a:solidFill>
                  <a:srgbClr val="13453B"/>
                </a:solidFill>
                <a:latin typeface="Cambria" pitchFamily="34" charset="0"/>
                <a:ea typeface="Cambria" pitchFamily="34" charset="-122"/>
                <a:cs typeface="Cambria" pitchFamily="34" charset="-120"/>
              </a:rPr>
              <a:t>Volume</a:t>
            </a:r>
            <a:endParaRPr lang="en-US" sz="1900" dirty="0"/>
          </a:p>
        </p:txBody>
      </p:sp>
      <p:sp>
        <p:nvSpPr>
          <p:cNvPr id="9" name="Text 7"/>
          <p:cNvSpPr txBox="1"/>
          <p:nvPr/>
        </p:nvSpPr>
        <p:spPr>
          <a:xfrm>
            <a:off x="868680" y="3383280"/>
            <a:ext cx="2843784" cy="868680"/>
          </a:xfrm>
          <a:prstGeom prst="rect">
            <a:avLst/>
          </a:prstGeom>
          <a:noFill/>
          <a:ln/>
        </p:spPr>
        <p:txBody>
          <a:bodyPr wrap="square" lIns="0" tIns="0" rIns="0" bIns="0" rtlCol="0" anchor="t"/>
          <a:lstStyle/>
          <a:p>
            <a:pPr marL="0" indent="0">
              <a:lnSpc>
                <a:spcPts val="1800"/>
              </a:lnSpc>
              <a:buNone/>
            </a:pPr>
            <a:r>
              <a:rPr lang="en-US" sz="1250" dirty="0">
                <a:solidFill>
                  <a:srgbClr val="33423D"/>
                </a:solidFill>
                <a:latin typeface="Calibri" pitchFamily="34" charset="0"/>
                <a:ea typeface="Calibri" pitchFamily="34" charset="-122"/>
                <a:cs typeface="Calibri" pitchFamily="34" charset="-120"/>
              </a:rPr>
              <a:t>We are doing more jobs than the budget assumed.</a:t>
            </a:r>
            <a:endParaRPr lang="en-US" sz="1250" dirty="0"/>
          </a:p>
        </p:txBody>
      </p:sp>
      <p:sp>
        <p:nvSpPr>
          <p:cNvPr id="11" name="Text 9"/>
          <p:cNvSpPr txBox="1"/>
          <p:nvPr/>
        </p:nvSpPr>
        <p:spPr>
          <a:xfrm>
            <a:off x="868680" y="4370832"/>
            <a:ext cx="2843784" cy="1005840"/>
          </a:xfrm>
          <a:prstGeom prst="rect">
            <a:avLst/>
          </a:prstGeom>
          <a:noFill/>
          <a:ln/>
        </p:spPr>
        <p:txBody>
          <a:bodyPr wrap="square" lIns="0" tIns="0" rIns="0" bIns="0" rtlCol="0" anchor="t"/>
          <a:lstStyle/>
          <a:p>
            <a:pPr marL="0" indent="0">
              <a:lnSpc>
                <a:spcPts val="1600"/>
              </a:lnSpc>
              <a:buNone/>
            </a:pPr>
            <a:r>
              <a:rPr lang="en-US" sz="1150" dirty="0">
                <a:solidFill>
                  <a:srgbClr val="16211E"/>
                </a:solidFill>
                <a:latin typeface="Calibri" pitchFamily="34" charset="0"/>
                <a:ea typeface="Calibri" pitchFamily="34" charset="-122"/>
                <a:cs typeface="Calibri" pitchFamily="34" charset="-120"/>
              </a:rPr>
              <a:t>Job numbers by type against budget and last year. Backlog, seasonality, and any change in demand.</a:t>
            </a:r>
            <a:endParaRPr lang="en-US" sz="1150" dirty="0"/>
          </a:p>
        </p:txBody>
      </p:sp>
      <p:sp>
        <p:nvSpPr>
          <p:cNvPr id="12" name="Shape 10"/>
          <p:cNvSpPr/>
          <p:nvPr/>
        </p:nvSpPr>
        <p:spPr>
          <a:xfrm>
            <a:off x="4352544" y="2798064"/>
            <a:ext cx="3483864" cy="2916936"/>
          </a:xfrm>
          <a:prstGeom prst="roundRect">
            <a:avLst>
              <a:gd name="adj" fmla="val 1574"/>
            </a:avLst>
          </a:prstGeom>
          <a:solidFill>
            <a:srgbClr val="F1F5F3"/>
          </a:solidFill>
          <a:ln w="12700">
            <a:solidFill>
              <a:srgbClr val="F1F5F3"/>
            </a:solidFill>
            <a:prstDash val="solid"/>
          </a:ln>
        </p:spPr>
        <p:txBody>
          <a:bodyPr/>
          <a:lstStyle/>
          <a:p>
            <a:endParaRPr lang="en-GB"/>
          </a:p>
        </p:txBody>
      </p:sp>
      <p:sp>
        <p:nvSpPr>
          <p:cNvPr id="13" name="Shape 11"/>
          <p:cNvSpPr/>
          <p:nvPr/>
        </p:nvSpPr>
        <p:spPr>
          <a:xfrm>
            <a:off x="4553712" y="2852928"/>
            <a:ext cx="420624" cy="420624"/>
          </a:xfrm>
          <a:prstGeom prst="ellipse">
            <a:avLst/>
          </a:prstGeom>
          <a:solidFill>
            <a:srgbClr val="C8892F"/>
          </a:solidFill>
          <a:ln/>
        </p:spPr>
        <p:txBody>
          <a:bodyPr/>
          <a:lstStyle/>
          <a:p>
            <a:endParaRPr lang="en-GB"/>
          </a:p>
        </p:txBody>
      </p:sp>
      <p:sp>
        <p:nvSpPr>
          <p:cNvPr id="14" name="Text 12"/>
          <p:cNvSpPr txBox="1"/>
          <p:nvPr/>
        </p:nvSpPr>
        <p:spPr>
          <a:xfrm>
            <a:off x="4553712" y="285292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txBox="1"/>
          <p:nvPr/>
        </p:nvSpPr>
        <p:spPr>
          <a:xfrm>
            <a:off x="5138928" y="2898648"/>
            <a:ext cx="2468880" cy="329184"/>
          </a:xfrm>
          <a:prstGeom prst="rect">
            <a:avLst/>
          </a:prstGeom>
          <a:noFill/>
          <a:ln/>
        </p:spPr>
        <p:txBody>
          <a:bodyPr wrap="square" lIns="0" tIns="0" rIns="0" bIns="0" rtlCol="0" anchor="ctr"/>
          <a:lstStyle/>
          <a:p>
            <a:pPr marL="0" indent="0">
              <a:buNone/>
            </a:pPr>
            <a:r>
              <a:rPr lang="en-US" sz="1900" b="1" dirty="0">
                <a:solidFill>
                  <a:srgbClr val="13453B"/>
                </a:solidFill>
                <a:latin typeface="Cambria" pitchFamily="34" charset="0"/>
                <a:ea typeface="Cambria" pitchFamily="34" charset="-122"/>
                <a:cs typeface="Cambria" pitchFamily="34" charset="-120"/>
              </a:rPr>
              <a:t>Price</a:t>
            </a:r>
            <a:endParaRPr lang="en-US" sz="1900" dirty="0"/>
          </a:p>
        </p:txBody>
      </p:sp>
      <p:sp>
        <p:nvSpPr>
          <p:cNvPr id="16" name="Text 14"/>
          <p:cNvSpPr txBox="1"/>
          <p:nvPr/>
        </p:nvSpPr>
        <p:spPr>
          <a:xfrm>
            <a:off x="4672583" y="3383280"/>
            <a:ext cx="2843784" cy="868680"/>
          </a:xfrm>
          <a:prstGeom prst="rect">
            <a:avLst/>
          </a:prstGeom>
          <a:noFill/>
          <a:ln/>
        </p:spPr>
        <p:txBody>
          <a:bodyPr wrap="square" lIns="0" tIns="0" rIns="0" bIns="0" rtlCol="0" anchor="t"/>
          <a:lstStyle/>
          <a:p>
            <a:pPr marL="0" indent="0">
              <a:lnSpc>
                <a:spcPts val="1800"/>
              </a:lnSpc>
              <a:buNone/>
            </a:pPr>
            <a:r>
              <a:rPr lang="en-US" sz="1250" dirty="0">
                <a:solidFill>
                  <a:srgbClr val="33423D"/>
                </a:solidFill>
                <a:latin typeface="Calibri" pitchFamily="34" charset="0"/>
                <a:ea typeface="Calibri" pitchFamily="34" charset="-122"/>
                <a:cs typeface="Calibri" pitchFamily="34" charset="-120"/>
              </a:rPr>
              <a:t>Each job is costing more than we assumed.</a:t>
            </a:r>
            <a:endParaRPr lang="en-US" sz="1250" dirty="0"/>
          </a:p>
        </p:txBody>
      </p:sp>
      <p:sp>
        <p:nvSpPr>
          <p:cNvPr id="18" name="Text 16"/>
          <p:cNvSpPr txBox="1"/>
          <p:nvPr/>
        </p:nvSpPr>
        <p:spPr>
          <a:xfrm>
            <a:off x="4672583" y="4370832"/>
            <a:ext cx="2843784" cy="1005840"/>
          </a:xfrm>
          <a:prstGeom prst="rect">
            <a:avLst/>
          </a:prstGeom>
          <a:noFill/>
          <a:ln/>
        </p:spPr>
        <p:txBody>
          <a:bodyPr wrap="square" lIns="0" tIns="0" rIns="0" bIns="0" rtlCol="0" anchor="t"/>
          <a:lstStyle/>
          <a:p>
            <a:pPr marL="0" indent="0">
              <a:lnSpc>
                <a:spcPts val="1600"/>
              </a:lnSpc>
              <a:buNone/>
            </a:pPr>
            <a:r>
              <a:rPr lang="en-US" sz="1150" dirty="0">
                <a:solidFill>
                  <a:srgbClr val="16211E"/>
                </a:solidFill>
                <a:latin typeface="Calibri" pitchFamily="34" charset="0"/>
                <a:ea typeface="Calibri" pitchFamily="34" charset="-122"/>
                <a:cs typeface="Calibri" pitchFamily="34" charset="-120"/>
              </a:rPr>
              <a:t>Cost per job on like-for-like work. Labour and material rates, and the split between in-house and contractor.</a:t>
            </a:r>
            <a:endParaRPr lang="en-US" sz="1150" dirty="0"/>
          </a:p>
        </p:txBody>
      </p:sp>
      <p:sp>
        <p:nvSpPr>
          <p:cNvPr id="19" name="Shape 17"/>
          <p:cNvSpPr/>
          <p:nvPr/>
        </p:nvSpPr>
        <p:spPr>
          <a:xfrm>
            <a:off x="8156448" y="2798064"/>
            <a:ext cx="3483864" cy="2916936"/>
          </a:xfrm>
          <a:prstGeom prst="roundRect">
            <a:avLst>
              <a:gd name="adj" fmla="val 1574"/>
            </a:avLst>
          </a:prstGeom>
          <a:solidFill>
            <a:srgbClr val="F1F5F3"/>
          </a:solidFill>
          <a:ln w="12700">
            <a:solidFill>
              <a:srgbClr val="F1F5F3"/>
            </a:solidFill>
            <a:prstDash val="solid"/>
          </a:ln>
        </p:spPr>
        <p:txBody>
          <a:bodyPr/>
          <a:lstStyle/>
          <a:p>
            <a:endParaRPr lang="en-GB"/>
          </a:p>
        </p:txBody>
      </p:sp>
      <p:sp>
        <p:nvSpPr>
          <p:cNvPr id="20" name="Shape 18"/>
          <p:cNvSpPr/>
          <p:nvPr/>
        </p:nvSpPr>
        <p:spPr>
          <a:xfrm>
            <a:off x="8357616" y="2852928"/>
            <a:ext cx="420624" cy="420624"/>
          </a:xfrm>
          <a:prstGeom prst="ellipse">
            <a:avLst/>
          </a:prstGeom>
          <a:solidFill>
            <a:srgbClr val="13453B"/>
          </a:solidFill>
          <a:ln/>
        </p:spPr>
        <p:txBody>
          <a:bodyPr/>
          <a:lstStyle/>
          <a:p>
            <a:endParaRPr lang="en-GB"/>
          </a:p>
        </p:txBody>
      </p:sp>
      <p:sp>
        <p:nvSpPr>
          <p:cNvPr id="21" name="Text 19"/>
          <p:cNvSpPr txBox="1"/>
          <p:nvPr/>
        </p:nvSpPr>
        <p:spPr>
          <a:xfrm>
            <a:off x="8357616" y="285292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2" name="Text 20"/>
          <p:cNvSpPr txBox="1"/>
          <p:nvPr/>
        </p:nvSpPr>
        <p:spPr>
          <a:xfrm>
            <a:off x="8942832" y="2898648"/>
            <a:ext cx="2468880" cy="329184"/>
          </a:xfrm>
          <a:prstGeom prst="rect">
            <a:avLst/>
          </a:prstGeom>
          <a:noFill/>
          <a:ln/>
        </p:spPr>
        <p:txBody>
          <a:bodyPr wrap="square" lIns="0" tIns="0" rIns="0" bIns="0" rtlCol="0" anchor="ctr"/>
          <a:lstStyle/>
          <a:p>
            <a:pPr marL="0" indent="0">
              <a:buNone/>
            </a:pPr>
            <a:r>
              <a:rPr lang="en-US" sz="1900" b="1" dirty="0">
                <a:solidFill>
                  <a:srgbClr val="13453B"/>
                </a:solidFill>
                <a:latin typeface="Cambria" pitchFamily="34" charset="0"/>
                <a:ea typeface="Cambria" pitchFamily="34" charset="-122"/>
                <a:cs typeface="Cambria" pitchFamily="34" charset="-120"/>
              </a:rPr>
              <a:t>Mix</a:t>
            </a:r>
            <a:endParaRPr lang="en-US" sz="1900" dirty="0"/>
          </a:p>
        </p:txBody>
      </p:sp>
      <p:sp>
        <p:nvSpPr>
          <p:cNvPr id="23" name="Text 21"/>
          <p:cNvSpPr txBox="1"/>
          <p:nvPr/>
        </p:nvSpPr>
        <p:spPr>
          <a:xfrm>
            <a:off x="8476488" y="3383280"/>
            <a:ext cx="2843784" cy="868680"/>
          </a:xfrm>
          <a:prstGeom prst="rect">
            <a:avLst/>
          </a:prstGeom>
          <a:noFill/>
          <a:ln/>
        </p:spPr>
        <p:txBody>
          <a:bodyPr wrap="square" lIns="0" tIns="0" rIns="0" bIns="0" rtlCol="0" anchor="t"/>
          <a:lstStyle/>
          <a:p>
            <a:pPr marL="0" indent="0">
              <a:lnSpc>
                <a:spcPts val="1800"/>
              </a:lnSpc>
              <a:buNone/>
            </a:pPr>
            <a:r>
              <a:rPr lang="en-US" sz="1250" dirty="0">
                <a:solidFill>
                  <a:srgbClr val="33423D"/>
                </a:solidFill>
                <a:latin typeface="Calibri" pitchFamily="34" charset="0"/>
                <a:ea typeface="Calibri" pitchFamily="34" charset="-122"/>
                <a:cs typeface="Calibri" pitchFamily="34" charset="-120"/>
              </a:rPr>
              <a:t>The work is different, or more complicated, than planned. Productivity.</a:t>
            </a:r>
            <a:endParaRPr lang="en-US" sz="1250" dirty="0"/>
          </a:p>
        </p:txBody>
      </p:sp>
      <p:sp>
        <p:nvSpPr>
          <p:cNvPr id="25" name="Text 23"/>
          <p:cNvSpPr txBox="1"/>
          <p:nvPr/>
        </p:nvSpPr>
        <p:spPr>
          <a:xfrm>
            <a:off x="8476488" y="4370832"/>
            <a:ext cx="2843784" cy="1005840"/>
          </a:xfrm>
          <a:prstGeom prst="rect">
            <a:avLst/>
          </a:prstGeom>
          <a:noFill/>
          <a:ln/>
        </p:spPr>
        <p:txBody>
          <a:bodyPr wrap="square" lIns="0" tIns="0" rIns="0" bIns="0" rtlCol="0" anchor="t"/>
          <a:lstStyle/>
          <a:p>
            <a:pPr marL="0" indent="0">
              <a:lnSpc>
                <a:spcPts val="1600"/>
              </a:lnSpc>
              <a:buNone/>
            </a:pPr>
            <a:r>
              <a:rPr lang="en-US" sz="1150" dirty="0">
                <a:solidFill>
                  <a:srgbClr val="16211E"/>
                </a:solidFill>
                <a:latin typeface="Calibri" pitchFamily="34" charset="0"/>
                <a:ea typeface="Calibri" pitchFamily="34" charset="-122"/>
                <a:cs typeface="Calibri" pitchFamily="34" charset="-120"/>
              </a:rPr>
              <a:t>Job types and complexity. Emergency against planned. Which properties or areas are driving it.</a:t>
            </a:r>
            <a:endParaRPr lang="en-US" sz="1150" dirty="0"/>
          </a:p>
        </p:txBody>
      </p:sp>
      <p:sp>
        <p:nvSpPr>
          <p:cNvPr id="26" name="Text 24"/>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rgbClr val="6E7D78"/>
                </a:solidFill>
                <a:latin typeface="Calibri" pitchFamily="34" charset="0"/>
                <a:ea typeface="Calibri" pitchFamily="34" charset="-122"/>
                <a:cs typeface="Calibri" pitchFamily="34" charset="-120"/>
              </a:rPr>
              <a:t>Then I'd walk through jobs with the operational team so the financial explanation matches what is happening on the ground.</a:t>
            </a:r>
            <a:endParaRPr lang="en-US" sz="1100" dirty="0"/>
          </a:p>
        </p:txBody>
      </p:sp>
      <p:sp>
        <p:nvSpPr>
          <p:cNvPr id="28" name="Text 25"/>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9" name="Text 26"/>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02  ·  FORECAST</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Rebuild the forecast with the people who own it</a:t>
            </a:r>
            <a:endParaRPr lang="en-US" sz="3000" dirty="0"/>
          </a:p>
        </p:txBody>
      </p:sp>
      <p:sp>
        <p:nvSpPr>
          <p:cNvPr id="4" name="Shape 2"/>
          <p:cNvSpPr/>
          <p:nvPr/>
        </p:nvSpPr>
        <p:spPr>
          <a:xfrm>
            <a:off x="548640" y="1572768"/>
            <a:ext cx="11094415" cy="713232"/>
          </a:xfrm>
          <a:prstGeom prst="roundRect">
            <a:avLst>
              <a:gd name="adj" fmla="val 7692"/>
            </a:avLst>
          </a:prstGeom>
          <a:solidFill>
            <a:srgbClr val="13453B"/>
          </a:solidFill>
          <a:ln w="12700">
            <a:solidFill>
              <a:srgbClr val="13453B"/>
            </a:solidFill>
            <a:prstDash val="solid"/>
          </a:ln>
        </p:spPr>
        <p:txBody>
          <a:bodyPr/>
          <a:lstStyle/>
          <a:p>
            <a:endParaRPr lang="en-GB"/>
          </a:p>
        </p:txBody>
      </p:sp>
      <p:sp>
        <p:nvSpPr>
          <p:cNvPr id="5" name="Text 3"/>
          <p:cNvSpPr txBox="1"/>
          <p:nvPr/>
        </p:nvSpPr>
        <p:spPr>
          <a:xfrm>
            <a:off x="548640" y="1572768"/>
            <a:ext cx="11094415" cy="71323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Actuals  +  committed cost  +  ( remaining demand  ×  evidenced unit cost )  =  FYF</a:t>
            </a:r>
            <a:endParaRPr lang="en-US" sz="1600" dirty="0"/>
          </a:p>
        </p:txBody>
      </p:sp>
      <p:sp>
        <p:nvSpPr>
          <p:cNvPr id="6" name="Shape 4"/>
          <p:cNvSpPr/>
          <p:nvPr/>
        </p:nvSpPr>
        <p:spPr>
          <a:xfrm>
            <a:off x="548640" y="2578608"/>
            <a:ext cx="420624" cy="420624"/>
          </a:xfrm>
          <a:prstGeom prst="ellipse">
            <a:avLst/>
          </a:prstGeom>
          <a:solidFill>
            <a:srgbClr val="13453B"/>
          </a:solidFill>
          <a:ln/>
        </p:spPr>
        <p:txBody>
          <a:bodyPr/>
          <a:lstStyle/>
          <a:p>
            <a:endParaRPr lang="en-GB"/>
          </a:p>
        </p:txBody>
      </p:sp>
      <p:sp>
        <p:nvSpPr>
          <p:cNvPr id="7" name="Text 5"/>
          <p:cNvSpPr txBox="1"/>
          <p:nvPr/>
        </p:nvSpPr>
        <p:spPr>
          <a:xfrm>
            <a:off x="548640" y="25786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115568" y="2615184"/>
            <a:ext cx="2917850" cy="365760"/>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rPr>
              <a:t>Agree the plan</a:t>
            </a:r>
            <a:endParaRPr lang="en-US" sz="1700" dirty="0"/>
          </a:p>
        </p:txBody>
      </p:sp>
      <p:sp>
        <p:nvSpPr>
          <p:cNvPr id="9" name="Text 7"/>
          <p:cNvSpPr txBox="1"/>
          <p:nvPr/>
        </p:nvSpPr>
        <p:spPr>
          <a:xfrm>
            <a:off x="585216" y="3441801"/>
            <a:ext cx="3392424" cy="1691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Realistic plan for the year with detailed timing</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Capacity and productivity – manpower available</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Work mix and complexity</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Contract rates and variations</a:t>
            </a:r>
            <a:endParaRPr lang="en-US" sz="1200" dirty="0"/>
          </a:p>
        </p:txBody>
      </p:sp>
      <p:sp>
        <p:nvSpPr>
          <p:cNvPr id="10" name="Shape 8"/>
          <p:cNvSpPr/>
          <p:nvPr/>
        </p:nvSpPr>
        <p:spPr>
          <a:xfrm>
            <a:off x="4353458" y="2578608"/>
            <a:ext cx="420624" cy="420624"/>
          </a:xfrm>
          <a:prstGeom prst="ellipse">
            <a:avLst/>
          </a:prstGeom>
          <a:solidFill>
            <a:srgbClr val="13453B"/>
          </a:solidFill>
          <a:ln/>
        </p:spPr>
        <p:txBody>
          <a:bodyPr/>
          <a:lstStyle/>
          <a:p>
            <a:endParaRPr lang="en-GB"/>
          </a:p>
        </p:txBody>
      </p:sp>
      <p:sp>
        <p:nvSpPr>
          <p:cNvPr id="11" name="Text 9"/>
          <p:cNvSpPr txBox="1"/>
          <p:nvPr/>
        </p:nvSpPr>
        <p:spPr>
          <a:xfrm>
            <a:off x="4353458" y="25786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4920386" y="2615184"/>
            <a:ext cx="2917850" cy="365760"/>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Cost the work honestly</a:t>
            </a:r>
            <a:endParaRPr lang="en-US" sz="1700" dirty="0"/>
          </a:p>
        </p:txBody>
      </p:sp>
      <p:sp>
        <p:nvSpPr>
          <p:cNvPr id="13" name="Text 11"/>
          <p:cNvSpPr txBox="1"/>
          <p:nvPr/>
        </p:nvSpPr>
        <p:spPr>
          <a:xfrm>
            <a:off x="4390034" y="3441801"/>
            <a:ext cx="3392424" cy="1691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Use run rate as a cost guide, agree an inflationary increase to be used across all finance areas.</a:t>
            </a:r>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Base case – before adjustments</a:t>
            </a:r>
          </a:p>
          <a:p>
            <a:pPr marL="342900" indent="-342900">
              <a:lnSpc>
                <a:spcPts val="1600"/>
              </a:lnSpc>
              <a:spcAft>
                <a:spcPts val="700"/>
              </a:spcAft>
              <a:buSzPct val="100000"/>
              <a:buChar char="•"/>
            </a:pPr>
            <a:r>
              <a:rPr lang="en-US" sz="1200" dirty="0">
                <a:solidFill>
                  <a:srgbClr val="33423D"/>
                </a:solidFill>
                <a:latin typeface="Calibri" pitchFamily="34" charset="0"/>
                <a:cs typeface="Calibri" pitchFamily="34" charset="-120"/>
              </a:rPr>
              <a:t>Overall picture – identify and embed tasks</a:t>
            </a:r>
            <a:endParaRPr lang="en-US" sz="1200" dirty="0"/>
          </a:p>
        </p:txBody>
      </p:sp>
      <p:sp>
        <p:nvSpPr>
          <p:cNvPr id="14" name="Shape 12"/>
          <p:cNvSpPr/>
          <p:nvPr/>
        </p:nvSpPr>
        <p:spPr>
          <a:xfrm>
            <a:off x="8158277" y="2578608"/>
            <a:ext cx="420624" cy="420624"/>
          </a:xfrm>
          <a:prstGeom prst="ellipse">
            <a:avLst/>
          </a:prstGeom>
          <a:solidFill>
            <a:srgbClr val="13453B"/>
          </a:solidFill>
          <a:ln/>
        </p:spPr>
        <p:txBody>
          <a:bodyPr/>
          <a:lstStyle/>
          <a:p>
            <a:endParaRPr lang="en-GB"/>
          </a:p>
        </p:txBody>
      </p:sp>
      <p:sp>
        <p:nvSpPr>
          <p:cNvPr id="15" name="Text 13"/>
          <p:cNvSpPr txBox="1"/>
          <p:nvPr/>
        </p:nvSpPr>
        <p:spPr>
          <a:xfrm>
            <a:off x="8158277" y="2578608"/>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8725205" y="2615184"/>
            <a:ext cx="2917850" cy="365760"/>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Operational buy-in</a:t>
            </a:r>
            <a:endParaRPr lang="en-US" sz="1700" dirty="0"/>
          </a:p>
        </p:txBody>
      </p:sp>
      <p:sp>
        <p:nvSpPr>
          <p:cNvPr id="17" name="Text 15"/>
          <p:cNvSpPr txBox="1"/>
          <p:nvPr/>
        </p:nvSpPr>
        <p:spPr>
          <a:xfrm>
            <a:off x="8194853" y="3441801"/>
            <a:ext cx="3392424" cy="1691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Sign-off with the operations</a:t>
            </a:r>
            <a:endParaRPr lang="en-US" sz="1200" dirty="0"/>
          </a:p>
          <a:p>
            <a:pPr marL="342900" indent="-342900">
              <a:lnSpc>
                <a:spcPts val="1600"/>
              </a:lnSpc>
              <a:spcAft>
                <a:spcPts val="700"/>
              </a:spcAft>
              <a:buSzPct val="100000"/>
              <a:buChar char="•"/>
            </a:pPr>
            <a:r>
              <a:rPr lang="en-US" sz="1200" dirty="0">
                <a:solidFill>
                  <a:srgbClr val="33423D"/>
                </a:solidFill>
                <a:latin typeface="Calibri" pitchFamily="34" charset="0"/>
                <a:ea typeface="Calibri" pitchFamily="34" charset="-122"/>
                <a:cs typeface="Calibri" pitchFamily="34" charset="-120"/>
              </a:rPr>
              <a:t>Quantify disagreements</a:t>
            </a:r>
            <a:endParaRPr lang="en-US" sz="1200" dirty="0"/>
          </a:p>
        </p:txBody>
      </p:sp>
      <p:sp>
        <p:nvSpPr>
          <p:cNvPr id="21" name="Text 18"/>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2" name="Text 19"/>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03  ·  MANAGE THE RISK</a:t>
            </a:r>
            <a:endParaRPr lang="en-US" sz="1000" dirty="0"/>
          </a:p>
        </p:txBody>
      </p:sp>
      <p:sp>
        <p:nvSpPr>
          <p:cNvPr id="3" name="Text 1"/>
          <p:cNvSpPr txBox="1"/>
          <p:nvPr/>
        </p:nvSpPr>
        <p:spPr>
          <a:xfrm>
            <a:off x="545897" y="658368"/>
            <a:ext cx="11094415" cy="566928"/>
          </a:xfrm>
          <a:prstGeom prst="rect">
            <a:avLst/>
          </a:prstGeom>
          <a:noFill/>
          <a:ln/>
        </p:spPr>
        <p:txBody>
          <a:bodyPr wrap="square" lIns="0" tIns="0" rIns="0" bIns="0" rtlCol="0" anchor="ctr"/>
          <a:lstStyle/>
          <a:p>
            <a:r>
              <a:rPr lang="en-US" sz="3000" b="1" dirty="0">
                <a:solidFill>
                  <a:srgbClr val="13453B"/>
                </a:solidFill>
                <a:latin typeface="Cambria" pitchFamily="34" charset="0"/>
                <a:ea typeface="Cambria" pitchFamily="34" charset="-122"/>
                <a:cs typeface="Cambria" pitchFamily="34" charset="-120"/>
              </a:rPr>
              <a:t>Identify the risk and opportunities – escalate early</a:t>
            </a:r>
            <a:endParaRPr lang="en-US" sz="3000" dirty="0"/>
          </a:p>
        </p:txBody>
      </p:sp>
      <p:sp>
        <p:nvSpPr>
          <p:cNvPr id="4" name="Shape 2"/>
          <p:cNvSpPr/>
          <p:nvPr/>
        </p:nvSpPr>
        <p:spPr>
          <a:xfrm>
            <a:off x="548640" y="1399032"/>
            <a:ext cx="420624" cy="420624"/>
          </a:xfrm>
          <a:prstGeom prst="ellipse">
            <a:avLst/>
          </a:prstGeom>
          <a:solidFill>
            <a:srgbClr val="13453B"/>
          </a:solidFill>
          <a:ln/>
        </p:spPr>
        <p:txBody>
          <a:bodyPr/>
          <a:lstStyle/>
          <a:p>
            <a:endParaRPr lang="en-GB"/>
          </a:p>
        </p:txBody>
      </p:sp>
      <p:sp>
        <p:nvSpPr>
          <p:cNvPr id="5" name="Text 3"/>
          <p:cNvSpPr txBox="1"/>
          <p:nvPr/>
        </p:nvSpPr>
        <p:spPr>
          <a:xfrm>
            <a:off x="548640" y="13624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115568" y="1381341"/>
            <a:ext cx="521208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rPr>
              <a:t>Planning</a:t>
            </a:r>
            <a:endParaRPr lang="en-US" sz="1700" dirty="0"/>
          </a:p>
        </p:txBody>
      </p:sp>
      <p:sp>
        <p:nvSpPr>
          <p:cNvPr id="7" name="Text 5"/>
          <p:cNvSpPr txBox="1"/>
          <p:nvPr/>
        </p:nvSpPr>
        <p:spPr>
          <a:xfrm>
            <a:off x="1115568" y="1692237"/>
            <a:ext cx="5212080" cy="566928"/>
          </a:xfrm>
          <a:prstGeom prst="rect">
            <a:avLst/>
          </a:prstGeom>
          <a:noFill/>
          <a:ln/>
        </p:spPr>
        <p:txBody>
          <a:bodyPr wrap="square" lIns="0" tIns="0" rIns="0" bIns="0" rtlCol="0" anchor="t"/>
          <a:lstStyle/>
          <a:p>
            <a:r>
              <a:rPr lang="en-GB" sz="1200" dirty="0"/>
              <a:t>Properly understand the nature, volume and complexity of the planned work</a:t>
            </a:r>
          </a:p>
          <a:p>
            <a:r>
              <a:rPr lang="en-GB" sz="1200" dirty="0"/>
              <a:t>Predefined rates
Monetary threshold for repairs vs capex</a:t>
            </a:r>
          </a:p>
        </p:txBody>
      </p:sp>
      <p:sp>
        <p:nvSpPr>
          <p:cNvPr id="9" name="Shape 7"/>
          <p:cNvSpPr/>
          <p:nvPr/>
        </p:nvSpPr>
        <p:spPr>
          <a:xfrm>
            <a:off x="548640" y="2505456"/>
            <a:ext cx="420624" cy="420624"/>
          </a:xfrm>
          <a:prstGeom prst="ellipse">
            <a:avLst/>
          </a:prstGeom>
          <a:solidFill>
            <a:srgbClr val="2E7D68"/>
          </a:solidFill>
          <a:ln/>
        </p:spPr>
        <p:txBody>
          <a:bodyPr/>
          <a:lstStyle/>
          <a:p>
            <a:endParaRPr lang="en-GB"/>
          </a:p>
        </p:txBody>
      </p:sp>
      <p:sp>
        <p:nvSpPr>
          <p:cNvPr id="10" name="Text 8"/>
          <p:cNvSpPr txBox="1"/>
          <p:nvPr/>
        </p:nvSpPr>
        <p:spPr>
          <a:xfrm>
            <a:off x="548640" y="25054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115568" y="2487168"/>
            <a:ext cx="521208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Use available capacity</a:t>
            </a:r>
            <a:endParaRPr lang="en-US" sz="1700" dirty="0"/>
          </a:p>
        </p:txBody>
      </p:sp>
      <p:sp>
        <p:nvSpPr>
          <p:cNvPr id="12" name="Text 10"/>
          <p:cNvSpPr txBox="1"/>
          <p:nvPr/>
        </p:nvSpPr>
        <p:spPr>
          <a:xfrm>
            <a:off x="1115568" y="2834639"/>
            <a:ext cx="5212080" cy="566928"/>
          </a:xfrm>
          <a:prstGeom prst="rect">
            <a:avLst/>
          </a:prstGeom>
          <a:noFill/>
          <a:ln/>
        </p:spPr>
        <p:txBody>
          <a:bodyPr wrap="square" lIns="0" tIns="0" rIns="0" bIns="0" rtlCol="0" anchor="t"/>
          <a:lstStyle/>
          <a:p>
            <a:pPr marL="0" indent="0">
              <a:buNone/>
            </a:pPr>
            <a:r>
              <a:rPr lang="en-US" sz="1200" dirty="0">
                <a:solidFill>
                  <a:srgbClr val="33423D"/>
                </a:solidFill>
                <a:latin typeface="Calibri" pitchFamily="34" charset="0"/>
                <a:ea typeface="Calibri" pitchFamily="34" charset="-122"/>
                <a:cs typeface="Calibri" pitchFamily="34" charset="-120"/>
              </a:rPr>
              <a:t>Productivity, first-time fix and scheduling across the in-house team.</a:t>
            </a:r>
          </a:p>
          <a:p>
            <a:pPr marL="0" indent="0">
              <a:buNone/>
            </a:pPr>
            <a:r>
              <a:rPr lang="en-US" sz="1200" dirty="0">
                <a:solidFill>
                  <a:srgbClr val="33423D"/>
                </a:solidFill>
                <a:latin typeface="Calibri" pitchFamily="34" charset="0"/>
                <a:cs typeface="Calibri" pitchFamily="34" charset="-120"/>
              </a:rPr>
              <a:t>Fixed scope of work – guard against scope creep</a:t>
            </a:r>
            <a:endParaRPr lang="en-US" sz="1200" dirty="0"/>
          </a:p>
        </p:txBody>
      </p:sp>
      <p:sp>
        <p:nvSpPr>
          <p:cNvPr id="14" name="Shape 12"/>
          <p:cNvSpPr/>
          <p:nvPr/>
        </p:nvSpPr>
        <p:spPr>
          <a:xfrm>
            <a:off x="548640" y="3438144"/>
            <a:ext cx="420624" cy="420624"/>
          </a:xfrm>
          <a:prstGeom prst="ellipse">
            <a:avLst/>
          </a:prstGeom>
          <a:solidFill>
            <a:srgbClr val="2E7D68"/>
          </a:solidFill>
          <a:ln/>
        </p:spPr>
        <p:txBody>
          <a:bodyPr/>
          <a:lstStyle/>
          <a:p>
            <a:endParaRPr lang="en-GB"/>
          </a:p>
        </p:txBody>
      </p:sp>
      <p:sp>
        <p:nvSpPr>
          <p:cNvPr id="15" name="Text 13"/>
          <p:cNvSpPr txBox="1"/>
          <p:nvPr/>
        </p:nvSpPr>
        <p:spPr>
          <a:xfrm>
            <a:off x="548640" y="3438144"/>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1115568" y="3419856"/>
            <a:ext cx="521208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Challenge additional spend not in budget</a:t>
            </a:r>
            <a:endParaRPr lang="en-US" sz="1700" dirty="0"/>
          </a:p>
        </p:txBody>
      </p:sp>
      <p:sp>
        <p:nvSpPr>
          <p:cNvPr id="17" name="Text 15"/>
          <p:cNvSpPr txBox="1"/>
          <p:nvPr/>
        </p:nvSpPr>
        <p:spPr>
          <a:xfrm>
            <a:off x="1115568" y="3767328"/>
            <a:ext cx="5212080" cy="566928"/>
          </a:xfrm>
          <a:prstGeom prst="rect">
            <a:avLst/>
          </a:prstGeom>
          <a:noFill/>
          <a:ln/>
        </p:spPr>
        <p:txBody>
          <a:bodyPr wrap="square" lIns="0" tIns="0" rIns="0" bIns="0" rtlCol="0" anchor="t"/>
          <a:lstStyle/>
          <a:p>
            <a:pPr marL="0" indent="0">
              <a:buNone/>
            </a:pPr>
            <a:r>
              <a:rPr lang="en-US" sz="1200" dirty="0">
                <a:solidFill>
                  <a:srgbClr val="33423D"/>
                </a:solidFill>
                <a:latin typeface="Calibri" pitchFamily="34" charset="0"/>
                <a:ea typeface="Calibri" pitchFamily="34" charset="-122"/>
                <a:cs typeface="Calibri" pitchFamily="34" charset="-120"/>
              </a:rPr>
              <a:t>Checking variations, rates on like-for-like work.</a:t>
            </a:r>
          </a:p>
          <a:p>
            <a:pPr marL="0" indent="0">
              <a:buNone/>
            </a:pPr>
            <a:r>
              <a:rPr lang="en-US" sz="1200" dirty="0">
                <a:solidFill>
                  <a:srgbClr val="33423D"/>
                </a:solidFill>
                <a:latin typeface="Calibri" pitchFamily="34" charset="0"/>
                <a:cs typeface="Calibri" pitchFamily="34" charset="-120"/>
              </a:rPr>
              <a:t>Variance to budget – causal</a:t>
            </a:r>
            <a:endParaRPr lang="en-US" sz="1200" dirty="0"/>
          </a:p>
        </p:txBody>
      </p:sp>
      <p:sp>
        <p:nvSpPr>
          <p:cNvPr id="19" name="Shape 17"/>
          <p:cNvSpPr/>
          <p:nvPr/>
        </p:nvSpPr>
        <p:spPr>
          <a:xfrm>
            <a:off x="548640" y="5303520"/>
            <a:ext cx="420624" cy="420624"/>
          </a:xfrm>
          <a:prstGeom prst="ellipse">
            <a:avLst/>
          </a:prstGeom>
          <a:solidFill>
            <a:srgbClr val="C8892F"/>
          </a:solidFill>
          <a:ln/>
        </p:spPr>
        <p:txBody>
          <a:bodyPr/>
          <a:lstStyle/>
          <a:p>
            <a:endParaRPr lang="en-GB"/>
          </a:p>
        </p:txBody>
      </p:sp>
      <p:sp>
        <p:nvSpPr>
          <p:cNvPr id="20" name="Text 18"/>
          <p:cNvSpPr txBox="1"/>
          <p:nvPr/>
        </p:nvSpPr>
        <p:spPr>
          <a:xfrm>
            <a:off x="548640" y="53035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115568" y="5285232"/>
            <a:ext cx="521208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Rephase selectively</a:t>
            </a:r>
            <a:endParaRPr lang="en-US" sz="1700" dirty="0"/>
          </a:p>
        </p:txBody>
      </p:sp>
      <p:sp>
        <p:nvSpPr>
          <p:cNvPr id="22" name="Text 20"/>
          <p:cNvSpPr txBox="1"/>
          <p:nvPr/>
        </p:nvSpPr>
        <p:spPr>
          <a:xfrm>
            <a:off x="1115568" y="5632704"/>
            <a:ext cx="5212080" cy="566928"/>
          </a:xfrm>
          <a:prstGeom prst="rect">
            <a:avLst/>
          </a:prstGeom>
          <a:noFill/>
          <a:ln/>
        </p:spPr>
        <p:txBody>
          <a:bodyPr wrap="square" lIns="0" tIns="0" rIns="0" bIns="0" rtlCol="0" anchor="t"/>
          <a:lstStyle/>
          <a:p>
            <a:pPr marL="0" indent="0">
              <a:buNone/>
            </a:pPr>
            <a:r>
              <a:rPr lang="en-US" sz="1200" dirty="0">
                <a:solidFill>
                  <a:srgbClr val="33423D"/>
                </a:solidFill>
                <a:latin typeface="Calibri" pitchFamily="34" charset="0"/>
                <a:ea typeface="Calibri" pitchFamily="34" charset="-122"/>
                <a:cs typeface="Calibri" pitchFamily="34" charset="-120"/>
              </a:rPr>
              <a:t>Discretionary planned work only.</a:t>
            </a:r>
            <a:endParaRPr lang="en-US" sz="1200" dirty="0"/>
          </a:p>
        </p:txBody>
      </p:sp>
      <p:sp>
        <p:nvSpPr>
          <p:cNvPr id="27" name="Text 24"/>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8" name="Text 25"/>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5</a:t>
            </a:r>
            <a:endParaRPr lang="en-US" sz="900" dirty="0"/>
          </a:p>
        </p:txBody>
      </p:sp>
      <p:sp>
        <p:nvSpPr>
          <p:cNvPr id="33" name="Comment Bubble 1"/>
          <p:cNvSpPr/>
          <p:nvPr/>
        </p:nvSpPr>
        <p:spPr>
          <a:xfrm>
            <a:off x="6400800" y="1609344"/>
            <a:ext cx="5239512" cy="713232"/>
          </a:xfrm>
          <a:prstGeom prst="ellipse">
            <a:avLst/>
          </a:prstGeom>
          <a:solidFill>
            <a:srgbClr val="EDF5F2"/>
          </a:solidFill>
          <a:ln w="15875">
            <a:solidFill>
              <a:srgbClr val="2E7D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5">
            <a:extLst>
              <a:ext uri="{FF2B5EF4-FFF2-40B4-BE49-F238E27FC236}">
                <a16:creationId xmlns:a16="http://schemas.microsoft.com/office/drawing/2014/main" id="{EF32A465-1C8A-8D70-6B0F-ED64922D3838}"/>
              </a:ext>
            </a:extLst>
          </p:cNvPr>
          <p:cNvSpPr txBox="1"/>
          <p:nvPr/>
        </p:nvSpPr>
        <p:spPr>
          <a:xfrm>
            <a:off x="6647688" y="1691639"/>
            <a:ext cx="4745736" cy="548640"/>
          </a:xfrm>
          <a:prstGeom prst="rect">
            <a:avLst/>
          </a:prstGeom>
          <a:noFill/>
          <a:ln/>
        </p:spPr>
        <p:txBody>
          <a:bodyPr wrap="square" lIns="0" tIns="0" rIns="0" bIns="0" rtlCol="0" anchor="ctr"/>
          <a:lstStyle/>
          <a:p>
            <a:pPr algn="ctr"/>
            <a:r>
              <a:rPr lang="en-US" sz="1200" dirty="0">
                <a:solidFill>
                  <a:srgbClr val="33423D"/>
                </a:solidFill>
                <a:latin typeface="Calibri" pitchFamily="34" charset="0"/>
                <a:ea typeface="Calibri" pitchFamily="34" charset="-122"/>
                <a:cs typeface="Calibri" pitchFamily="34" charset="-120"/>
              </a:rPr>
              <a:t>Safety issues, compliance and statutory response times and requirements – can't be cut</a:t>
            </a:r>
            <a:endParaRPr lang="en-US" sz="1200"/>
          </a:p>
        </p:txBody>
      </p:sp>
      <p:sp>
        <p:nvSpPr>
          <p:cNvPr id="34" name="Comment Bubble 2"/>
          <p:cNvSpPr/>
          <p:nvPr/>
        </p:nvSpPr>
        <p:spPr>
          <a:xfrm>
            <a:off x="6400800" y="2542032"/>
            <a:ext cx="5239512" cy="713232"/>
          </a:xfrm>
          <a:prstGeom prst="ellipse">
            <a:avLst/>
          </a:prstGeom>
          <a:solidFill>
            <a:srgbClr val="EDF5F2"/>
          </a:solidFill>
          <a:ln w="15875">
            <a:solidFill>
              <a:srgbClr val="2E7D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 5">
            <a:extLst>
              <a:ext uri="{FF2B5EF4-FFF2-40B4-BE49-F238E27FC236}">
                <a16:creationId xmlns:a16="http://schemas.microsoft.com/office/drawing/2014/main" id="{E8DA6E82-5F36-CBFB-72DA-9AF56D7CE702}"/>
              </a:ext>
            </a:extLst>
          </p:cNvPr>
          <p:cNvSpPr txBox="1"/>
          <p:nvPr/>
        </p:nvSpPr>
        <p:spPr>
          <a:xfrm>
            <a:off x="6647688" y="2624327"/>
            <a:ext cx="4745736" cy="548640"/>
          </a:xfrm>
          <a:prstGeom prst="rect">
            <a:avLst/>
          </a:prstGeom>
          <a:noFill/>
          <a:ln/>
        </p:spPr>
        <p:txBody>
          <a:bodyPr wrap="square" lIns="0" tIns="0" rIns="0" bIns="0" rtlCol="0" anchor="ctr"/>
          <a:lstStyle/>
          <a:p>
            <a:pPr algn="ctr"/>
            <a:r>
              <a:rPr lang="en-US" sz="1200" dirty="0"/>
              <a:t>Monitor safety stock to avoid overpaying for material shortages</a:t>
            </a:r>
            <a:endParaRPr lang="en-US" sz="1200"/>
          </a:p>
        </p:txBody>
      </p:sp>
      <p:sp>
        <p:nvSpPr>
          <p:cNvPr id="35" name="Comment Bubble 3"/>
          <p:cNvSpPr/>
          <p:nvPr/>
        </p:nvSpPr>
        <p:spPr>
          <a:xfrm>
            <a:off x="6400800" y="3474720"/>
            <a:ext cx="5239512" cy="713232"/>
          </a:xfrm>
          <a:prstGeom prst="ellipse">
            <a:avLst/>
          </a:prstGeom>
          <a:solidFill>
            <a:srgbClr val="EDF5F2"/>
          </a:solidFill>
          <a:ln w="15875">
            <a:solidFill>
              <a:srgbClr val="2E7D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 5">
            <a:extLst>
              <a:ext uri="{FF2B5EF4-FFF2-40B4-BE49-F238E27FC236}">
                <a16:creationId xmlns:a16="http://schemas.microsoft.com/office/drawing/2014/main" id="{8D340480-10AC-3D08-EEDE-45B658C34FAA}"/>
              </a:ext>
            </a:extLst>
          </p:cNvPr>
          <p:cNvSpPr txBox="1"/>
          <p:nvPr/>
        </p:nvSpPr>
        <p:spPr>
          <a:xfrm>
            <a:off x="6647688" y="3557016"/>
            <a:ext cx="4745736" cy="548640"/>
          </a:xfrm>
          <a:prstGeom prst="rect">
            <a:avLst/>
          </a:prstGeom>
          <a:noFill/>
          <a:ln/>
        </p:spPr>
        <p:txBody>
          <a:bodyPr wrap="square" lIns="0" tIns="0" rIns="0" bIns="0" rtlCol="0" anchor="ctr"/>
          <a:lstStyle/>
          <a:p>
            <a:pPr algn="ctr"/>
            <a:r>
              <a:rPr lang="en-US" sz="1200" dirty="0"/>
              <a:t>Identify changes to assumptions</a:t>
            </a:r>
            <a:endParaRPr lang="en-US" sz="1200"/>
          </a:p>
        </p:txBody>
      </p:sp>
      <p:sp>
        <p:nvSpPr>
          <p:cNvPr id="37" name="Text 19">
            <a:extLst>
              <a:ext uri="{FF2B5EF4-FFF2-40B4-BE49-F238E27FC236}">
                <a16:creationId xmlns:a16="http://schemas.microsoft.com/office/drawing/2014/main" id="{616BC498-AF70-DCF0-AF25-E4B4928A88BF}"/>
              </a:ext>
            </a:extLst>
          </p:cNvPr>
          <p:cNvSpPr txBox="1"/>
          <p:nvPr/>
        </p:nvSpPr>
        <p:spPr>
          <a:xfrm>
            <a:off x="1115568" y="4352544"/>
            <a:ext cx="5212080" cy="310896"/>
          </a:xfrm>
          <a:prstGeom prst="rect">
            <a:avLst/>
          </a:prstGeom>
          <a:noFill/>
          <a:ln/>
        </p:spPr>
        <p:txBody>
          <a:bodyPr wrap="square" lIns="0" tIns="0" rIns="0" bIns="0" rtlCol="0" anchor="ctr"/>
          <a:lstStyle/>
          <a:p>
            <a:pPr marL="0" indent="0">
              <a:buNone/>
            </a:pPr>
            <a:r>
              <a:rPr lang="en-US" sz="1700" b="1" dirty="0">
                <a:solidFill>
                  <a:srgbClr val="13453B"/>
                </a:solidFill>
                <a:latin typeface="Cambria" pitchFamily="34" charset="0"/>
                <a:ea typeface="Cambria" pitchFamily="34" charset="-122"/>
                <a:cs typeface="Cambria" pitchFamily="34" charset="-120"/>
              </a:rPr>
              <a:t>Highlight risks</a:t>
            </a:r>
            <a:endParaRPr lang="en-US" sz="1700" dirty="0"/>
          </a:p>
        </p:txBody>
      </p:sp>
      <p:sp>
        <p:nvSpPr>
          <p:cNvPr id="39" name="Text 20">
            <a:extLst>
              <a:ext uri="{FF2B5EF4-FFF2-40B4-BE49-F238E27FC236}">
                <a16:creationId xmlns:a16="http://schemas.microsoft.com/office/drawing/2014/main" id="{50A99556-2827-E62B-864B-990D343C96C0}"/>
              </a:ext>
            </a:extLst>
          </p:cNvPr>
          <p:cNvSpPr txBox="1"/>
          <p:nvPr/>
        </p:nvSpPr>
        <p:spPr>
          <a:xfrm>
            <a:off x="1115568" y="4700016"/>
            <a:ext cx="5212080" cy="566928"/>
          </a:xfrm>
          <a:prstGeom prst="rect">
            <a:avLst/>
          </a:prstGeom>
          <a:noFill/>
          <a:ln/>
        </p:spPr>
        <p:txBody>
          <a:bodyPr wrap="square" lIns="0" tIns="0" rIns="0" bIns="0" rtlCol="0" anchor="t"/>
          <a:lstStyle/>
          <a:p>
            <a:pPr marL="0" indent="0">
              <a:buNone/>
            </a:pPr>
            <a:r>
              <a:rPr lang="en-US" sz="1200" dirty="0">
                <a:solidFill>
                  <a:srgbClr val="33423D"/>
                </a:solidFill>
                <a:latin typeface="Calibri" pitchFamily="34" charset="0"/>
                <a:ea typeface="Calibri" pitchFamily="34" charset="-122"/>
                <a:cs typeface="Calibri" pitchFamily="34" charset="-120"/>
              </a:rPr>
              <a:t>Identify any offsetting opportunities</a:t>
            </a:r>
          </a:p>
          <a:p>
            <a:pPr marL="0" indent="0">
              <a:buNone/>
            </a:pPr>
            <a:r>
              <a:rPr lang="en-US" sz="1200" dirty="0">
                <a:solidFill>
                  <a:srgbClr val="33423D"/>
                </a:solidFill>
                <a:latin typeface="Calibri" pitchFamily="34" charset="0"/>
                <a:cs typeface="Calibri" pitchFamily="34" charset="-120"/>
              </a:rPr>
              <a:t>Raise early so actions can be agreed</a:t>
            </a:r>
            <a:endParaRPr lang="en-US" sz="1200" dirty="0"/>
          </a:p>
        </p:txBody>
      </p:sp>
      <p:sp>
        <p:nvSpPr>
          <p:cNvPr id="47" name="Shape 2">
            <a:extLst>
              <a:ext uri="{FF2B5EF4-FFF2-40B4-BE49-F238E27FC236}">
                <a16:creationId xmlns:a16="http://schemas.microsoft.com/office/drawing/2014/main" id="{067108A4-BC6A-05C2-C519-D6206B942016}"/>
              </a:ext>
            </a:extLst>
          </p:cNvPr>
          <p:cNvSpPr/>
          <p:nvPr/>
        </p:nvSpPr>
        <p:spPr>
          <a:xfrm>
            <a:off x="548640" y="4370831"/>
            <a:ext cx="420624" cy="420624"/>
          </a:xfrm>
          <a:prstGeom prst="ellipse">
            <a:avLst/>
          </a:prstGeom>
          <a:solidFill>
            <a:srgbClr val="13453B"/>
          </a:solidFill>
          <a:ln/>
        </p:spPr>
        <p:txBody>
          <a:bodyPr/>
          <a:lstStyle/>
          <a:p>
            <a:endParaRPr lang="en-GB"/>
          </a:p>
        </p:txBody>
      </p:sp>
      <p:sp>
        <p:nvSpPr>
          <p:cNvPr id="49" name="Text 3">
            <a:extLst>
              <a:ext uri="{FF2B5EF4-FFF2-40B4-BE49-F238E27FC236}">
                <a16:creationId xmlns:a16="http://schemas.microsoft.com/office/drawing/2014/main" id="{FEF99E9F-988E-60E1-75E0-0A62A2C9767B}"/>
              </a:ext>
            </a:extLst>
          </p:cNvPr>
          <p:cNvSpPr txBox="1"/>
          <p:nvPr/>
        </p:nvSpPr>
        <p:spPr>
          <a:xfrm>
            <a:off x="548640" y="4370831"/>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04  ·  COMMUNICATE</a:t>
            </a:r>
            <a:endParaRPr lang="en-US" sz="1000" dirty="0"/>
          </a:p>
        </p:txBody>
      </p:sp>
      <p:sp>
        <p:nvSpPr>
          <p:cNvPr id="3" name="Text 1"/>
          <p:cNvSpPr txBox="1"/>
          <p:nvPr/>
        </p:nvSpPr>
        <p:spPr>
          <a:xfrm>
            <a:off x="548640" y="658368"/>
            <a:ext cx="11094415" cy="566928"/>
          </a:xfrm>
          <a:prstGeom prst="rect">
            <a:avLst/>
          </a:prstGeom>
          <a:noFill/>
          <a:ln/>
        </p:spPr>
        <p:txBody>
          <a:bodyPr wrap="square" lIns="0" tIns="0" rIns="0" bIns="0" rtlCol="0" anchor="ctr"/>
          <a:lstStyle/>
          <a:p>
            <a:pPr marL="0" indent="0">
              <a:buNone/>
            </a:pPr>
            <a:r>
              <a:rPr lang="en-US" sz="3000" b="1" dirty="0">
                <a:solidFill>
                  <a:srgbClr val="13453B"/>
                </a:solidFill>
                <a:latin typeface="Cambria" pitchFamily="34" charset="0"/>
                <a:ea typeface="Cambria" pitchFamily="34" charset="-122"/>
                <a:cs typeface="Cambria" pitchFamily="34" charset="-120"/>
              </a:rPr>
              <a:t>Partnering through trust</a:t>
            </a:r>
            <a:endParaRPr lang="en-US" sz="3000" dirty="0"/>
          </a:p>
        </p:txBody>
      </p:sp>
      <p:sp>
        <p:nvSpPr>
          <p:cNvPr id="4" name="Shape 2"/>
          <p:cNvSpPr/>
          <p:nvPr/>
        </p:nvSpPr>
        <p:spPr>
          <a:xfrm>
            <a:off x="548640" y="1572768"/>
            <a:ext cx="2514600" cy="1051560"/>
          </a:xfrm>
          <a:prstGeom prst="roundRect">
            <a:avLst>
              <a:gd name="adj" fmla="val 5217"/>
            </a:avLst>
          </a:prstGeom>
          <a:solidFill>
            <a:srgbClr val="F1F5F3"/>
          </a:solidFill>
          <a:ln w="12700">
            <a:solidFill>
              <a:srgbClr val="F1F5F3"/>
            </a:solidFill>
            <a:prstDash val="solid"/>
          </a:ln>
        </p:spPr>
        <p:txBody>
          <a:bodyPr/>
          <a:lstStyle/>
          <a:p>
            <a:endParaRPr lang="en-GB"/>
          </a:p>
        </p:txBody>
      </p:sp>
      <p:sp>
        <p:nvSpPr>
          <p:cNvPr id="5" name="Text 3"/>
          <p:cNvSpPr txBox="1"/>
          <p:nvPr/>
        </p:nvSpPr>
        <p:spPr>
          <a:xfrm>
            <a:off x="548640"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Approved</a:t>
            </a:r>
            <a:endParaRPr lang="en-US" sz="1350" dirty="0"/>
          </a:p>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budget</a:t>
            </a:r>
            <a:endParaRPr lang="en-US" sz="1350" dirty="0"/>
          </a:p>
        </p:txBody>
      </p:sp>
      <p:sp>
        <p:nvSpPr>
          <p:cNvPr id="6" name="Text 4"/>
          <p:cNvSpPr txBox="1"/>
          <p:nvPr/>
        </p:nvSpPr>
        <p:spPr>
          <a:xfrm>
            <a:off x="3063240" y="1572768"/>
            <a:ext cx="347472" cy="1051560"/>
          </a:xfrm>
          <a:prstGeom prst="rect">
            <a:avLst/>
          </a:prstGeom>
          <a:noFill/>
          <a:ln/>
        </p:spPr>
        <p:txBody>
          <a:bodyPr wrap="square" lIns="0" tIns="0" rIns="0" bIns="0" rtlCol="0" anchor="ctr"/>
          <a:lstStyle/>
          <a:p>
            <a:pPr marL="0" indent="0" algn="ctr">
              <a:buNone/>
            </a:pPr>
            <a:r>
              <a:rPr lang="en-US" sz="1600" b="1" dirty="0">
                <a:solidFill>
                  <a:srgbClr val="2E7D68"/>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3410712" y="1572768"/>
            <a:ext cx="2514600" cy="1051560"/>
          </a:xfrm>
          <a:prstGeom prst="roundRect">
            <a:avLst>
              <a:gd name="adj" fmla="val 5217"/>
            </a:avLst>
          </a:prstGeom>
          <a:solidFill>
            <a:srgbClr val="F1F5F3"/>
          </a:solidFill>
          <a:ln w="12700">
            <a:solidFill>
              <a:srgbClr val="F1F5F3"/>
            </a:solidFill>
            <a:prstDash val="solid"/>
          </a:ln>
        </p:spPr>
        <p:txBody>
          <a:bodyPr/>
          <a:lstStyle/>
          <a:p>
            <a:endParaRPr lang="en-GB"/>
          </a:p>
        </p:txBody>
      </p:sp>
      <p:sp>
        <p:nvSpPr>
          <p:cNvPr id="8" name="Text 6"/>
          <p:cNvSpPr txBox="1"/>
          <p:nvPr/>
        </p:nvSpPr>
        <p:spPr>
          <a:xfrm>
            <a:off x="3410712"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Latest</a:t>
            </a:r>
            <a:endParaRPr lang="en-US" sz="1350" dirty="0"/>
          </a:p>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forecast</a:t>
            </a:r>
            <a:endParaRPr lang="en-US" sz="1350" dirty="0"/>
          </a:p>
        </p:txBody>
      </p:sp>
      <p:sp>
        <p:nvSpPr>
          <p:cNvPr id="9" name="Text 7"/>
          <p:cNvSpPr txBox="1"/>
          <p:nvPr/>
        </p:nvSpPr>
        <p:spPr>
          <a:xfrm>
            <a:off x="5925312" y="1572768"/>
            <a:ext cx="347472" cy="1051560"/>
          </a:xfrm>
          <a:prstGeom prst="rect">
            <a:avLst/>
          </a:prstGeom>
          <a:noFill/>
          <a:ln/>
        </p:spPr>
        <p:txBody>
          <a:bodyPr wrap="square" lIns="0" tIns="0" rIns="0" bIns="0" rtlCol="0" anchor="ctr"/>
          <a:lstStyle/>
          <a:p>
            <a:pPr marL="0" indent="0" algn="ctr">
              <a:buNone/>
            </a:pPr>
            <a:r>
              <a:rPr lang="en-US" sz="1600" b="1" dirty="0">
                <a:solidFill>
                  <a:srgbClr val="2E7D68"/>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6272784" y="1572768"/>
            <a:ext cx="2514600" cy="1051560"/>
          </a:xfrm>
          <a:prstGeom prst="roundRect">
            <a:avLst>
              <a:gd name="adj" fmla="val 5217"/>
            </a:avLst>
          </a:prstGeom>
          <a:solidFill>
            <a:srgbClr val="F1F5F3"/>
          </a:solidFill>
          <a:ln w="12700">
            <a:solidFill>
              <a:srgbClr val="F1F5F3"/>
            </a:solidFill>
            <a:prstDash val="solid"/>
          </a:ln>
        </p:spPr>
        <p:txBody>
          <a:bodyPr/>
          <a:lstStyle/>
          <a:p>
            <a:endParaRPr lang="en-GB"/>
          </a:p>
        </p:txBody>
      </p:sp>
      <p:sp>
        <p:nvSpPr>
          <p:cNvPr id="11" name="Text 9"/>
          <p:cNvSpPr txBox="1"/>
          <p:nvPr/>
        </p:nvSpPr>
        <p:spPr>
          <a:xfrm>
            <a:off x="6272784"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Agreed</a:t>
            </a:r>
            <a:endParaRPr lang="en-US" sz="1350" dirty="0"/>
          </a:p>
          <a:p>
            <a:pPr marL="0" indent="0" algn="ctr">
              <a:lnSpc>
                <a:spcPts val="1700"/>
              </a:lnSpc>
              <a:buNone/>
            </a:pPr>
            <a:r>
              <a:rPr lang="en-US" sz="1350" b="1" dirty="0">
                <a:solidFill>
                  <a:srgbClr val="13453B"/>
                </a:solidFill>
                <a:latin typeface="Calibri" pitchFamily="34" charset="0"/>
                <a:ea typeface="Calibri" pitchFamily="34" charset="-122"/>
                <a:cs typeface="Calibri" pitchFamily="34" charset="-120"/>
              </a:rPr>
              <a:t>mitigations</a:t>
            </a:r>
            <a:endParaRPr lang="en-US" sz="1350" dirty="0"/>
          </a:p>
        </p:txBody>
      </p:sp>
      <p:sp>
        <p:nvSpPr>
          <p:cNvPr id="12" name="Text 10"/>
          <p:cNvSpPr txBox="1"/>
          <p:nvPr/>
        </p:nvSpPr>
        <p:spPr>
          <a:xfrm>
            <a:off x="8787384" y="1572768"/>
            <a:ext cx="347472" cy="1051560"/>
          </a:xfrm>
          <a:prstGeom prst="rect">
            <a:avLst/>
          </a:prstGeom>
          <a:noFill/>
          <a:ln/>
        </p:spPr>
        <p:txBody>
          <a:bodyPr wrap="square" lIns="0" tIns="0" rIns="0" bIns="0" rtlCol="0" anchor="ctr"/>
          <a:lstStyle/>
          <a:p>
            <a:pPr marL="0" indent="0" algn="ctr">
              <a:buNone/>
            </a:pPr>
            <a:r>
              <a:rPr lang="en-US" sz="1600" b="1" dirty="0">
                <a:solidFill>
                  <a:srgbClr val="2E7D68"/>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9134856" y="1572768"/>
            <a:ext cx="2514600" cy="1051560"/>
          </a:xfrm>
          <a:prstGeom prst="roundRect">
            <a:avLst>
              <a:gd name="adj" fmla="val 5217"/>
            </a:avLst>
          </a:prstGeom>
          <a:solidFill>
            <a:srgbClr val="13453B"/>
          </a:solidFill>
          <a:ln w="12700">
            <a:solidFill>
              <a:srgbClr val="13453B"/>
            </a:solidFill>
            <a:prstDash val="solid"/>
          </a:ln>
        </p:spPr>
        <p:txBody>
          <a:bodyPr/>
          <a:lstStyle/>
          <a:p>
            <a:endParaRPr lang="en-GB"/>
          </a:p>
        </p:txBody>
      </p:sp>
      <p:sp>
        <p:nvSpPr>
          <p:cNvPr id="14" name="Text 12"/>
          <p:cNvSpPr txBox="1"/>
          <p:nvPr/>
        </p:nvSpPr>
        <p:spPr>
          <a:xfrm>
            <a:off x="9134856" y="1572768"/>
            <a:ext cx="2514600" cy="1051560"/>
          </a:xfrm>
          <a:prstGeom prst="rect">
            <a:avLst/>
          </a:prstGeom>
          <a:noFill/>
          <a:ln/>
        </p:spPr>
        <p:txBody>
          <a:bodyPr wrap="square" lIns="0" tIns="0" rIns="0" bIns="0" rtlCol="0" anchor="ctr"/>
          <a:lstStyle/>
          <a:p>
            <a:pPr marL="0" indent="0" algn="ctr">
              <a:lnSpc>
                <a:spcPts val="1700"/>
              </a:lnSpc>
              <a:buNone/>
            </a:pPr>
            <a:r>
              <a:rPr lang="en-US" sz="1350" b="1" dirty="0">
                <a:solidFill>
                  <a:srgbClr val="FFFFFF"/>
                </a:solidFill>
                <a:latin typeface="Calibri" pitchFamily="34" charset="0"/>
                <a:ea typeface="Calibri" pitchFamily="34" charset="-122"/>
                <a:cs typeface="Calibri" pitchFamily="34" charset="-120"/>
              </a:rPr>
              <a:t>Gap that</a:t>
            </a:r>
            <a:endParaRPr lang="en-US" sz="1350" dirty="0"/>
          </a:p>
          <a:p>
            <a:pPr marL="0" indent="0" algn="ctr">
              <a:lnSpc>
                <a:spcPts val="1700"/>
              </a:lnSpc>
              <a:buNone/>
            </a:pPr>
            <a:r>
              <a:rPr lang="en-US" sz="1350" b="1" dirty="0">
                <a:solidFill>
                  <a:srgbClr val="FFFFFF"/>
                </a:solidFill>
                <a:latin typeface="Calibri" pitchFamily="34" charset="0"/>
                <a:ea typeface="Calibri" pitchFamily="34" charset="-122"/>
                <a:cs typeface="Calibri" pitchFamily="34" charset="-120"/>
              </a:rPr>
              <a:t>remains</a:t>
            </a:r>
            <a:endParaRPr lang="en-US" sz="1350" dirty="0"/>
          </a:p>
        </p:txBody>
      </p:sp>
      <p:sp>
        <p:nvSpPr>
          <p:cNvPr id="15" name="Text 13"/>
          <p:cNvSpPr txBox="1"/>
          <p:nvPr/>
        </p:nvSpPr>
        <p:spPr>
          <a:xfrm>
            <a:off x="548640" y="2926080"/>
            <a:ext cx="11094415" cy="329184"/>
          </a:xfrm>
          <a:prstGeom prst="rect">
            <a:avLst/>
          </a:prstGeom>
          <a:noFill/>
          <a:ln/>
        </p:spPr>
        <p:txBody>
          <a:bodyPr wrap="square" lIns="0" tIns="0" rIns="0" bIns="0" rtlCol="0" anchor="ctr"/>
          <a:lstStyle/>
          <a:p>
            <a:pPr marL="0" indent="0">
              <a:buNone/>
            </a:pPr>
            <a:r>
              <a:rPr lang="en-US" sz="1400" b="1" dirty="0">
                <a:solidFill>
                  <a:srgbClr val="13453B"/>
                </a:solidFill>
                <a:latin typeface="Calibri" pitchFamily="34" charset="0"/>
                <a:ea typeface="Calibri" pitchFamily="34" charset="-122"/>
                <a:cs typeface="Calibri" pitchFamily="34" charset="-120"/>
              </a:rPr>
              <a:t>Why a repairs overspend is more than a budget variance</a:t>
            </a:r>
            <a:endParaRPr lang="en-US" sz="1400" dirty="0"/>
          </a:p>
        </p:txBody>
      </p:sp>
      <p:sp>
        <p:nvSpPr>
          <p:cNvPr id="17" name="Text 15"/>
          <p:cNvSpPr txBox="1"/>
          <p:nvPr/>
        </p:nvSpPr>
        <p:spPr>
          <a:xfrm>
            <a:off x="548640" y="3346704"/>
            <a:ext cx="11091672" cy="548640"/>
          </a:xfrm>
          <a:prstGeom prst="rect">
            <a:avLst/>
          </a:prstGeom>
          <a:noFill/>
          <a:ln/>
        </p:spPr>
        <p:txBody>
          <a:bodyPr wrap="square" lIns="0" tIns="0" rIns="0" bIns="0" rtlCol="0" anchor="ctr"/>
          <a:lstStyle/>
          <a:p>
            <a:r>
              <a:rPr lang="en-US" sz="1300" b="1" dirty="0">
                <a:solidFill>
                  <a:srgbClr val="C8892F"/>
                </a:solidFill>
                <a:latin typeface="Calibri" pitchFamily="34" charset="0"/>
                <a:ea typeface="Calibri" pitchFamily="34" charset="-122"/>
                <a:cs typeface="Calibri" pitchFamily="34" charset="-120"/>
              </a:rPr>
              <a:t>It affects the surplus – </a:t>
            </a:r>
            <a:r>
              <a:rPr lang="en-US" sz="1300" b="0" dirty="0">
                <a:solidFill>
                  <a:srgbClr val="33423D"/>
                </a:solidFill>
                <a:latin typeface="Calibri" pitchFamily="34" charset="0"/>
                <a:ea typeface="Calibri" pitchFamily="34" charset="-122"/>
                <a:cs typeface="Calibri" pitchFamily="34" charset="-120"/>
              </a:rPr>
              <a:t>Repairs is largely revenue spend, so an overspend comes off operating surplus – which feeds interest cover and covenant headroom.</a:t>
            </a:r>
            <a:endParaRPr lang="en-US" sz="1300" dirty="0"/>
          </a:p>
        </p:txBody>
      </p:sp>
      <p:sp>
        <p:nvSpPr>
          <p:cNvPr id="20" name="Text 18"/>
          <p:cNvSpPr txBox="1"/>
          <p:nvPr/>
        </p:nvSpPr>
        <p:spPr>
          <a:xfrm>
            <a:off x="548640" y="3950208"/>
            <a:ext cx="11091672" cy="548640"/>
          </a:xfrm>
          <a:prstGeom prst="rect">
            <a:avLst/>
          </a:prstGeom>
          <a:noFill/>
          <a:ln/>
        </p:spPr>
        <p:txBody>
          <a:bodyPr wrap="square" lIns="0" tIns="0" rIns="0" bIns="0" rtlCol="0" anchor="ctr"/>
          <a:lstStyle/>
          <a:p>
            <a:r>
              <a:rPr lang="en-US" sz="1300" b="1" dirty="0">
                <a:solidFill>
                  <a:srgbClr val="C8892F"/>
                </a:solidFill>
                <a:latin typeface="Calibri" pitchFamily="34" charset="0"/>
                <a:ea typeface="Calibri" pitchFamily="34" charset="-122"/>
                <a:cs typeface="Calibri" pitchFamily="34" charset="-120"/>
              </a:rPr>
              <a:t>It competes with the investment programme – </a:t>
            </a:r>
            <a:r>
              <a:rPr lang="en-US" sz="1300" b="0" dirty="0">
                <a:solidFill>
                  <a:srgbClr val="33423D"/>
                </a:solidFill>
                <a:latin typeface="Calibri" pitchFamily="34" charset="0"/>
                <a:ea typeface="Calibri" pitchFamily="34" charset="-122"/>
                <a:cs typeface="Calibri" pitchFamily="34" charset="-120"/>
              </a:rPr>
              <a:t>Money spent unplanned on reactive work is money not available for planned works and new homes.</a:t>
            </a:r>
            <a:endParaRPr lang="en-US" sz="1300" dirty="0"/>
          </a:p>
        </p:txBody>
      </p:sp>
      <p:sp>
        <p:nvSpPr>
          <p:cNvPr id="21" name="Text 19"/>
          <p:cNvSpPr txBox="1"/>
          <p:nvPr/>
        </p:nvSpPr>
        <p:spPr>
          <a:xfrm>
            <a:off x="548640" y="4617720"/>
            <a:ext cx="11091672" cy="86868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350" b="1" dirty="0">
                <a:solidFill>
                  <a:srgbClr val="16211E"/>
                </a:solidFill>
                <a:latin typeface="Calibri" pitchFamily="34" charset="0"/>
                <a:cs typeface="Calibri" pitchFamily="34" charset="-120"/>
              </a:rPr>
              <a:t>Be timely in the communication – identifying risks late leaves little opportunity to correct course</a:t>
            </a:r>
          </a:p>
          <a:p>
            <a:pPr marL="285750" indent="-285750">
              <a:buFont typeface="Arial" panose="020B0604020202020204" pitchFamily="34" charset="0"/>
              <a:buChar char="•"/>
            </a:pPr>
            <a:r>
              <a:rPr lang="en-US" sz="1350" b="1" dirty="0">
                <a:solidFill>
                  <a:srgbClr val="16211E"/>
                </a:solidFill>
                <a:latin typeface="Calibri" pitchFamily="34" charset="0"/>
                <a:cs typeface="Calibri" pitchFamily="34" charset="-120"/>
              </a:rPr>
              <a:t>Be honest</a:t>
            </a:r>
          </a:p>
          <a:p>
            <a:pPr marL="285750" indent="-285750">
              <a:buFont typeface="Arial" panose="020B0604020202020204" pitchFamily="34" charset="0"/>
              <a:buChar char="•"/>
            </a:pPr>
            <a:r>
              <a:rPr lang="en-US" sz="1350" b="1" dirty="0">
                <a:solidFill>
                  <a:srgbClr val="16211E"/>
                </a:solidFill>
                <a:latin typeface="Calibri" pitchFamily="34" charset="0"/>
                <a:cs typeface="Calibri" pitchFamily="34" charset="-120"/>
              </a:rPr>
              <a:t>Be factual</a:t>
            </a:r>
          </a:p>
          <a:p>
            <a:pPr marL="285750" indent="-285750">
              <a:buFont typeface="Arial" panose="020B0604020202020204" pitchFamily="34" charset="0"/>
              <a:buChar char="•"/>
            </a:pPr>
            <a:r>
              <a:rPr lang="en-US" sz="1350" b="1" dirty="0">
                <a:solidFill>
                  <a:srgbClr val="16211E"/>
                </a:solidFill>
                <a:latin typeface="Calibri" pitchFamily="34" charset="0"/>
                <a:cs typeface="Calibri" pitchFamily="34" charset="-120"/>
              </a:rPr>
              <a:t>Be the partner</a:t>
            </a:r>
          </a:p>
        </p:txBody>
      </p:sp>
      <p:sp>
        <p:nvSpPr>
          <p:cNvPr id="22" name="Text 20"/>
          <p:cNvSpPr txBox="1"/>
          <p:nvPr/>
        </p:nvSpPr>
        <p:spPr>
          <a:xfrm>
            <a:off x="548640" y="5623560"/>
            <a:ext cx="11094415" cy="411480"/>
          </a:xfrm>
          <a:prstGeom prst="rect">
            <a:avLst/>
          </a:prstGeom>
          <a:noFill/>
          <a:ln/>
        </p:spPr>
        <p:txBody>
          <a:bodyPr wrap="square" lIns="0" tIns="0" rIns="0" bIns="0" rtlCol="0" anchor="ctr"/>
          <a:lstStyle/>
          <a:p>
            <a:pPr marL="0" indent="0">
              <a:buNone/>
            </a:pPr>
            <a:r>
              <a:rPr lang="en-US" sz="1350" b="1" dirty="0">
                <a:solidFill>
                  <a:srgbClr val="16211E"/>
                </a:solidFill>
                <a:latin typeface="Calibri" pitchFamily="34" charset="0"/>
                <a:cs typeface="Calibri" pitchFamily="34" charset="-120"/>
              </a:rPr>
              <a:t>Identify the gap, provide a recommendation and the alternative. Be clear on the consequence of doing nothing.</a:t>
            </a:r>
            <a:endParaRPr lang="en-US" sz="1350" dirty="0"/>
          </a:p>
        </p:txBody>
      </p:sp>
      <p:sp>
        <p:nvSpPr>
          <p:cNvPr id="24" name="Text 21"/>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25" name="Text 22"/>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453B"/>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11094415" cy="237744"/>
          </a:xfrm>
          <a:prstGeom prst="rect">
            <a:avLst/>
          </a:prstGeom>
          <a:noFill/>
          <a:ln/>
        </p:spPr>
        <p:txBody>
          <a:bodyPr wrap="square" lIns="0" tIns="0" rIns="0" bIns="0" rtlCol="0" anchor="ctr"/>
          <a:lstStyle/>
          <a:p>
            <a:pPr marL="0" indent="0">
              <a:buNone/>
            </a:pPr>
            <a:r>
              <a:rPr lang="en-US" sz="1000" b="1" kern="0" spc="220" dirty="0">
                <a:solidFill>
                  <a:srgbClr val="C8892F"/>
                </a:solidFill>
                <a:latin typeface="Calibri" pitchFamily="34" charset="0"/>
                <a:ea typeface="Calibri" pitchFamily="34" charset="-122"/>
                <a:cs typeface="Calibri" pitchFamily="34" charset="-120"/>
              </a:rPr>
              <a:t>05  ·  MEASURE</a:t>
            </a:r>
            <a:endParaRPr lang="en-US" sz="1000" dirty="0"/>
          </a:p>
        </p:txBody>
      </p:sp>
      <p:sp>
        <p:nvSpPr>
          <p:cNvPr id="3" name="Text 1"/>
          <p:cNvSpPr txBox="1"/>
          <p:nvPr/>
        </p:nvSpPr>
        <p:spPr>
          <a:xfrm>
            <a:off x="548640" y="777240"/>
            <a:ext cx="11094415"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Measure the money and the home</a:t>
            </a:r>
            <a:endParaRPr lang="en-US" sz="3000" dirty="0"/>
          </a:p>
        </p:txBody>
      </p:sp>
      <p:sp>
        <p:nvSpPr>
          <p:cNvPr id="4" name="Text 2"/>
          <p:cNvSpPr txBox="1"/>
          <p:nvPr/>
        </p:nvSpPr>
        <p:spPr>
          <a:xfrm>
            <a:off x="548640" y="1371600"/>
            <a:ext cx="11094415" cy="292608"/>
          </a:xfrm>
          <a:prstGeom prst="rect">
            <a:avLst/>
          </a:prstGeom>
          <a:noFill/>
          <a:ln/>
        </p:spPr>
        <p:txBody>
          <a:bodyPr wrap="square" lIns="0" tIns="0" rIns="0" bIns="0" rtlCol="0" anchor="ctr"/>
          <a:lstStyle/>
          <a:p>
            <a:pPr marL="0" indent="0">
              <a:buNone/>
            </a:pPr>
            <a:r>
              <a:rPr lang="en-US" sz="1350" i="1" dirty="0">
                <a:solidFill>
                  <a:srgbClr val="9CC7B8"/>
                </a:solidFill>
                <a:latin typeface="Calibri" pitchFamily="34" charset="0"/>
                <a:ea typeface="Calibri" pitchFamily="34" charset="-122"/>
                <a:cs typeface="Calibri" pitchFamily="34" charset="-120"/>
              </a:rPr>
              <a:t>A short set, each with a definition, a baseline, an owner and a trigger.</a:t>
            </a:r>
            <a:endParaRPr lang="en-US" sz="1350" dirty="0"/>
          </a:p>
        </p:txBody>
      </p:sp>
      <p:sp>
        <p:nvSpPr>
          <p:cNvPr id="5" name="Text 3"/>
          <p:cNvSpPr txBox="1"/>
          <p:nvPr/>
        </p:nvSpPr>
        <p:spPr>
          <a:xfrm>
            <a:off x="548640" y="1965960"/>
            <a:ext cx="5212080" cy="274320"/>
          </a:xfrm>
          <a:prstGeom prst="rect">
            <a:avLst/>
          </a:prstGeom>
          <a:noFill/>
          <a:ln/>
        </p:spPr>
        <p:txBody>
          <a:bodyPr wrap="square" lIns="0" tIns="0" rIns="0" bIns="0" rtlCol="0" anchor="ctr"/>
          <a:lstStyle/>
          <a:p>
            <a:pPr marL="0" indent="0">
              <a:buNone/>
            </a:pPr>
            <a:r>
              <a:rPr lang="en-US" sz="1100" b="1" kern="0" spc="180" dirty="0">
                <a:solidFill>
                  <a:srgbClr val="C8892F"/>
                </a:solidFill>
                <a:latin typeface="Calibri" pitchFamily="34" charset="0"/>
                <a:ea typeface="Calibri" pitchFamily="34" charset="-122"/>
                <a:cs typeface="Calibri" pitchFamily="34" charset="-120"/>
              </a:rPr>
              <a:t>FINANCIAL</a:t>
            </a:r>
            <a:endParaRPr lang="en-US" sz="1100" dirty="0"/>
          </a:p>
        </p:txBody>
      </p:sp>
      <p:sp>
        <p:nvSpPr>
          <p:cNvPr id="6" name="Text 4"/>
          <p:cNvSpPr txBox="1"/>
          <p:nvPr/>
        </p:nvSpPr>
        <p:spPr>
          <a:xfrm>
            <a:off x="585216" y="2359152"/>
            <a:ext cx="5175504" cy="23774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The gap, and how it has moved since last time</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Whether expected savings have actually landed</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Split between capital and revenue spend</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Cost per job, adjusted for the mix of work</a:t>
            </a:r>
          </a:p>
          <a:p>
            <a:pPr marL="342900" indent="-342900">
              <a:lnSpc>
                <a:spcPts val="1800"/>
              </a:lnSpc>
              <a:spcAft>
                <a:spcPts val="900"/>
              </a:spcAft>
              <a:buSzPct val="100000"/>
              <a:buChar char="•"/>
            </a:pPr>
            <a:r>
              <a:rPr lang="en-US" sz="1300" dirty="0">
                <a:solidFill>
                  <a:srgbClr val="DCEAE4"/>
                </a:solidFill>
                <a:latin typeface="Calibri" pitchFamily="34" charset="0"/>
                <a:cs typeface="Calibri" pitchFamily="34" charset="-120"/>
              </a:rPr>
              <a:t>Productivity</a:t>
            </a:r>
            <a:endParaRPr lang="en-US" sz="1300" dirty="0"/>
          </a:p>
        </p:txBody>
      </p:sp>
      <p:sp>
        <p:nvSpPr>
          <p:cNvPr id="7" name="Text 5"/>
          <p:cNvSpPr txBox="1"/>
          <p:nvPr/>
        </p:nvSpPr>
        <p:spPr>
          <a:xfrm>
            <a:off x="6263640" y="1965960"/>
            <a:ext cx="5212080" cy="274320"/>
          </a:xfrm>
          <a:prstGeom prst="rect">
            <a:avLst/>
          </a:prstGeom>
          <a:noFill/>
          <a:ln/>
        </p:spPr>
        <p:txBody>
          <a:bodyPr wrap="square" lIns="0" tIns="0" rIns="0" bIns="0" rtlCol="0" anchor="ctr"/>
          <a:lstStyle/>
          <a:p>
            <a:pPr marL="0" indent="0">
              <a:buNone/>
            </a:pPr>
            <a:r>
              <a:rPr lang="en-US" sz="1100" b="1" kern="0" spc="180" dirty="0">
                <a:solidFill>
                  <a:srgbClr val="C8892F"/>
                </a:solidFill>
                <a:latin typeface="Calibri" pitchFamily="34" charset="0"/>
                <a:ea typeface="Calibri" pitchFamily="34" charset="-122"/>
                <a:cs typeface="Calibri" pitchFamily="34" charset="-120"/>
              </a:rPr>
              <a:t>SERVICE AND RESIDENT</a:t>
            </a:r>
            <a:endParaRPr lang="en-US" sz="1100" dirty="0"/>
          </a:p>
        </p:txBody>
      </p:sp>
      <p:sp>
        <p:nvSpPr>
          <p:cNvPr id="8" name="Text 6"/>
          <p:cNvSpPr txBox="1"/>
          <p:nvPr/>
        </p:nvSpPr>
        <p:spPr>
          <a:xfrm>
            <a:off x="6300216" y="2359152"/>
            <a:ext cx="5175504" cy="23774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Outstanding safety and compliance work</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First-time fix and repeat visits</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Jobs per operative</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Backlog, and how old it is</a:t>
            </a:r>
            <a:endParaRPr lang="en-US" sz="1300" dirty="0"/>
          </a:p>
          <a:p>
            <a:pPr marL="342900" indent="-342900">
              <a:lnSpc>
                <a:spcPts val="1800"/>
              </a:lnSpc>
              <a:spcAft>
                <a:spcPts val="900"/>
              </a:spcAft>
              <a:buSzPct val="100000"/>
              <a:buChar char="•"/>
            </a:pPr>
            <a:r>
              <a:rPr lang="en-US" sz="1300" dirty="0">
                <a:solidFill>
                  <a:srgbClr val="DCEAE4"/>
                </a:solidFill>
                <a:latin typeface="Calibri" pitchFamily="34" charset="0"/>
                <a:ea typeface="Calibri" pitchFamily="34" charset="-122"/>
                <a:cs typeface="Calibri" pitchFamily="34" charset="-120"/>
              </a:rPr>
              <a:t>Satisfaction and repeat contact</a:t>
            </a:r>
            <a:endParaRPr lang="en-US" sz="1300" dirty="0"/>
          </a:p>
        </p:txBody>
      </p:sp>
      <p:sp>
        <p:nvSpPr>
          <p:cNvPr id="9" name="Shape 7"/>
          <p:cNvSpPr/>
          <p:nvPr/>
        </p:nvSpPr>
        <p:spPr>
          <a:xfrm>
            <a:off x="548640" y="4160520"/>
            <a:ext cx="11094415" cy="0"/>
          </a:xfrm>
          <a:prstGeom prst="line">
            <a:avLst/>
          </a:prstGeom>
          <a:noFill/>
          <a:ln w="12700">
            <a:solidFill>
              <a:srgbClr val="2E7D68"/>
            </a:solidFill>
            <a:prstDash val="solid"/>
          </a:ln>
        </p:spPr>
        <p:txBody>
          <a:bodyPr/>
          <a:lstStyle/>
          <a:p>
            <a:endParaRPr lang="en-GB"/>
          </a:p>
        </p:txBody>
      </p:sp>
      <p:sp>
        <p:nvSpPr>
          <p:cNvPr id="10" name="Text 8"/>
          <p:cNvSpPr txBox="1"/>
          <p:nvPr/>
        </p:nvSpPr>
        <p:spPr>
          <a:xfrm>
            <a:off x="548640" y="4736592"/>
            <a:ext cx="11091672" cy="292608"/>
          </a:xfrm>
          <a:prstGeom prst="rect">
            <a:avLst/>
          </a:prstGeom>
          <a:noFill/>
          <a:ln/>
        </p:spPr>
        <p:txBody>
          <a:bodyPr wrap="square" lIns="0" tIns="0" rIns="0" bIns="0" rtlCol="0" anchor="ctr"/>
          <a:lstStyle/>
          <a:p>
            <a:pPr marL="0" indent="0">
              <a:buNone/>
            </a:pPr>
            <a:r>
              <a:rPr lang="en-US" sz="1250" dirty="0">
                <a:solidFill>
                  <a:srgbClr val="9CC7B8"/>
                </a:solidFill>
                <a:latin typeface="Calibri" pitchFamily="34" charset="0"/>
                <a:ea typeface="Calibri" pitchFamily="34" charset="-122"/>
                <a:cs typeface="Calibri" pitchFamily="34" charset="-120"/>
              </a:rPr>
              <a:t>Weekly look at exceptions with the operational team. Monthly signed-off position. Anything safety-related goes straight up.</a:t>
            </a:r>
            <a:endParaRPr lang="en-US" sz="1250" dirty="0"/>
          </a:p>
        </p:txBody>
      </p:sp>
      <p:sp>
        <p:nvSpPr>
          <p:cNvPr id="13" name="Text 10"/>
          <p:cNvSpPr txBox="1"/>
          <p:nvPr/>
        </p:nvSpPr>
        <p:spPr>
          <a:xfrm>
            <a:off x="548640" y="6355080"/>
            <a:ext cx="8229600" cy="274320"/>
          </a:xfrm>
          <a:prstGeom prst="rect">
            <a:avLst/>
          </a:prstGeom>
          <a:noFill/>
          <a:ln/>
        </p:spPr>
        <p:txBody>
          <a:bodyPr wrap="square" lIns="0" tIns="0" rIns="0" bIns="0" rtlCol="0" anchor="ctr"/>
          <a:lstStyle/>
          <a:p>
            <a:pPr marL="0" indent="0" algn="l">
              <a:buNone/>
            </a:pPr>
            <a:r>
              <a:rPr lang="en-US" sz="900" dirty="0">
                <a:solidFill>
                  <a:srgbClr val="6E7D78"/>
                </a:solidFill>
                <a:latin typeface="Calibri" pitchFamily="34" charset="0"/>
                <a:ea typeface="Calibri" pitchFamily="34" charset="-122"/>
                <a:cs typeface="Calibri" pitchFamily="34" charset="-120"/>
              </a:rPr>
              <a:t>Sandra Vermaak  ·  Codi Group  ·  Finance Business Partner interview</a:t>
            </a:r>
            <a:endParaRPr lang="en-US" sz="900" dirty="0"/>
          </a:p>
        </p:txBody>
      </p:sp>
      <p:sp>
        <p:nvSpPr>
          <p:cNvPr id="14" name="Text 11"/>
          <p:cNvSpPr txBox="1"/>
          <p:nvPr/>
        </p:nvSpPr>
        <p:spPr>
          <a:xfrm>
            <a:off x="11201400" y="6355080"/>
            <a:ext cx="457200" cy="274320"/>
          </a:xfrm>
          <a:prstGeom prst="rect">
            <a:avLst/>
          </a:prstGeom>
          <a:noFill/>
          <a:ln/>
        </p:spPr>
        <p:txBody>
          <a:bodyPr wrap="square" lIns="0" tIns="0" rIns="0" bIns="0" rtlCol="0" anchor="ctr"/>
          <a:lstStyle/>
          <a:p>
            <a:pPr marL="0" indent="0" algn="r">
              <a:buNone/>
            </a:pPr>
            <a:r>
              <a:rPr lang="en-US" sz="900" dirty="0">
                <a:solidFill>
                  <a:srgbClr val="6E7D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e8712ce-4b1c-42f0-8103-696d10633cf9}" enabled="1" method="Privileged" siteId="{ddd66cce-ffe1-4029-967c-5e15ef73127f}" contentBits="3" removed="0"/>
</clbl:labelList>
</file>

<file path=docProps/app.xml><?xml version="1.0" encoding="utf-8"?>
<Properties xmlns="http://schemas.openxmlformats.org/officeDocument/2006/extended-properties" xmlns:vt="http://schemas.openxmlformats.org/officeDocument/2006/docPropsVTypes">
  <TotalTime>237</TotalTime>
  <Words>2430</Words>
  <Application>Microsoft Office PowerPoint</Application>
  <PresentationFormat>Widescreen</PresentationFormat>
  <Paragraphs>150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Managing Financial Performance Across Repairs &amp; Maintenance</dc:title>
  <dc:subject/>
  <dc:creator>Sandra Vermaak</dc:creator>
  <cp:lastModifiedBy>Sandra Vermaak</cp:lastModifiedBy>
  <cp:revision>22</cp:revision>
  <dcterms:created xsi:type="dcterms:W3CDTF">2026-09-09T10:44:24Z</dcterms:created>
  <dcterms:modified xsi:type="dcterms:W3CDTF">2026-09-11T15:52:14Z</dcterms:modified>
</cp:coreProperties>
</file>